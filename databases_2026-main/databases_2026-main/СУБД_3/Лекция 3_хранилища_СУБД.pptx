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88825" cy="6858000"/>
  <p:notesSz cx="12188825" cy="6858000"/>
  <p:embeddedFontLst>
    <p:embeddedFont>
      <p:font typeface="JetBrains Mono" panose="020B0604020202020204" charset="0"/>
      <p:regular r:id="rId34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331720"/>
            <a:ext cx="1051560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4400" b="1" noProof="1">
                <a:solidFill>
                  <a:srgbClr val="1F4E79"/>
                </a:solidFill>
                <a:latin typeface="Calibri"/>
                <a:ea typeface="Calibri"/>
              </a:rPr>
              <a:t>Хранение в базах данных</a:t>
            </a:r>
            <a:endParaRPr lang="en-US" sz="4400" noProof="1"/>
          </a:p>
        </p:txBody>
      </p:sp>
      <p:sp>
        <p:nvSpPr>
          <p:cNvPr id="3" name="TextBox 2"/>
          <p:cNvSpPr txBox="1"/>
          <p:nvPr/>
        </p:nvSpPr>
        <p:spPr>
          <a:xfrm>
            <a:off x="822960" y="3886200"/>
            <a:ext cx="1051560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200" noProof="1">
                <a:solidFill>
                  <a:srgbClr val="5A5A5A"/>
                </a:solidFill>
                <a:latin typeface="Calibri"/>
                <a:ea typeface="Calibri"/>
              </a:rPr>
              <a:t>Лекция 3. Часть I — Диск-ориентированные СУБД</a:t>
            </a:r>
            <a:endParaRPr lang="en-US" sz="2200" noProof="1"/>
          </a:p>
        </p:txBody>
      </p:sp>
      <p:sp>
        <p:nvSpPr>
          <p:cNvPr id="4" name="Rectangle 3"/>
          <p:cNvSpPr/>
          <p:nvPr/>
        </p:nvSpPr>
        <p:spPr>
          <a:xfrm>
            <a:off x="731520" y="3703320"/>
            <a:ext cx="1371600" cy="508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>
                <a:solidFill>
                  <a:srgbClr val="1F4E79"/>
                </a:solidFill>
                <a:latin typeface="Calibri"/>
                <a:ea typeface="Calibri"/>
              </a:rPr>
              <a:t>Введение и архитектура системы</a:t>
            </a:r>
            <a:endParaRPr lang="en-US" sz="3000" noProof="1"/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6424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2329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 marL="28575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2400" noProof="1">
                <a:solidFill>
                  <a:srgbClr val="2B2B2B"/>
                </a:solidFill>
                <a:latin typeface="Times New Roman"/>
                <a:ea typeface="Times New Roman"/>
              </a:rPr>
              <a:t>Переход от логического уровня SQL к физической реализации СУБД</a:t>
            </a:r>
            <a:endParaRPr lang="en-US" sz="2400" noProof="1"/>
          </a:p>
          <a:p>
            <a:pPr marL="285750">
              <a:lnSpc>
                <a:spcPts val="3600"/>
              </a:lnSpc>
              <a:spcBef>
                <a:spcPts val="10"/>
              </a:spcBef>
              <a:buChar char="•"/>
            </a:pPr>
            <a:r>
              <a:rPr lang="en-US" sz="100" noProof="1">
                <a:solidFill>
                  <a:srgbClr val="2B2B2B"/>
                </a:solidFill>
                <a:latin typeface="Times New Roman"/>
                <a:ea typeface="Times New Roman"/>
              </a:rPr>
              <a:t> </a:t>
            </a:r>
            <a:endParaRPr lang="en-US" sz="2400" noProof="1"/>
          </a:p>
          <a:p>
            <a:pPr marL="28575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2400" noProof="1">
                <a:solidFill>
                  <a:srgbClr val="2B2B2B"/>
                </a:solidFill>
                <a:latin typeface="Times New Roman"/>
                <a:ea typeface="Times New Roman"/>
              </a:rPr>
              <a:t>Классическая архитектура 1970-х годов, ориентированная на построчное хранение</a:t>
            </a:r>
            <a:endParaRPr lang="en-US" sz="2400" noProof="1"/>
          </a:p>
          <a:p>
            <a:pPr marL="285750">
              <a:lnSpc>
                <a:spcPts val="3600"/>
              </a:lnSpc>
              <a:spcBef>
                <a:spcPts val="10"/>
              </a:spcBef>
              <a:buChar char="•"/>
            </a:pPr>
            <a:r>
              <a:rPr lang="en-US" sz="100" noProof="1">
                <a:solidFill>
                  <a:srgbClr val="2B2B2B"/>
                </a:solidFill>
                <a:latin typeface="Times New Roman"/>
                <a:ea typeface="Times New Roman"/>
              </a:rPr>
              <a:t> </a:t>
            </a:r>
            <a:endParaRPr lang="en-US" sz="2400" noProof="1"/>
          </a:p>
          <a:p>
            <a:pPr marL="28575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2400" noProof="1">
                <a:solidFill>
                  <a:srgbClr val="2B2B2B"/>
                </a:solidFill>
                <a:latin typeface="Times New Roman"/>
                <a:ea typeface="Times New Roman"/>
              </a:rPr>
              <a:t>Основное предположение — </a:t>
            </a:r>
            <a:r>
              <a:rPr lang="en-US" sz="2400" b="1" noProof="1">
                <a:solidFill>
                  <a:srgbClr val="2B2B2B"/>
                </a:solidFill>
                <a:latin typeface="Times New Roman"/>
                <a:ea typeface="Times New Roman"/>
              </a:rPr>
              <a:t>disk-oriented</a:t>
            </a:r>
            <a:r>
              <a:rPr lang="en-US" sz="2400" noProof="1">
                <a:solidFill>
                  <a:srgbClr val="2B2B2B"/>
                </a:solidFill>
                <a:latin typeface="Times New Roman"/>
                <a:ea typeface="Times New Roman"/>
              </a:rPr>
              <a:t> архитектура:</a:t>
            </a:r>
            <a:endParaRPr lang="en-US" sz="2400" noProof="1"/>
          </a:p>
          <a:p>
            <a:pPr marL="742950" lvl="1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2400" noProof="1">
                <a:solidFill>
                  <a:srgbClr val="2B2B2B"/>
                </a:solidFill>
                <a:latin typeface="Times New Roman"/>
                <a:ea typeface="Times New Roman"/>
              </a:rPr>
              <a:t>Первичное хранилище — энергонезависимый диск (SSD, HDD, S3)</a:t>
            </a:r>
            <a:endParaRPr lang="en-US" sz="2400" noProof="1"/>
          </a:p>
          <a:p>
            <a:pPr marL="742950" lvl="1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2400" noProof="1">
                <a:solidFill>
                  <a:srgbClr val="2B2B2B"/>
                </a:solidFill>
                <a:latin typeface="Times New Roman"/>
                <a:ea typeface="Times New Roman"/>
              </a:rPr>
              <a:t>Данные загружаются с диска в оперативную память (DRAM) для обработки</a:t>
            </a:r>
            <a:endParaRPr lang="en-US" sz="2400" noProof="1"/>
          </a:p>
          <a:p>
            <a:pPr marL="742950" lvl="1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2400" noProof="1">
                <a:solidFill>
                  <a:srgbClr val="2B2B2B"/>
                </a:solidFill>
                <a:latin typeface="Times New Roman"/>
                <a:ea typeface="Times New Roman"/>
              </a:rPr>
              <a:t>СУБД отвечает за обратную запись изменений на диск</a:t>
            </a:r>
            <a:endParaRPr lang="en-US" sz="24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>
                <a:solidFill>
                  <a:srgbClr val="1F4E79"/>
                </a:solidFill>
                <a:latin typeface="Calibri"/>
                <a:ea typeface="Calibri"/>
              </a:rPr>
              <a:t>Слои архитектуры СУБД (снизу вверх)</a:t>
            </a:r>
            <a:endParaRPr lang="en-US" sz="3000" noProof="1"/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6424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TextBox 3"/>
          <p:cNvSpPr txBox="1"/>
          <p:nvPr/>
        </p:nvSpPr>
        <p:spPr>
          <a:xfrm>
            <a:off x="749300" y="1297940"/>
            <a:ext cx="3545840" cy="53251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 marL="28575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1800" b="1" noProof="1">
                <a:solidFill>
                  <a:srgbClr val="2B2B2B"/>
                </a:solidFill>
                <a:latin typeface="Calibri"/>
                <a:ea typeface="Calibri"/>
              </a:rPr>
              <a:t>Disk Manager </a:t>
            </a: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— чтение и запись данных с диска</a:t>
            </a:r>
            <a:endParaRPr lang="en-US" sz="1800" noProof="1"/>
          </a:p>
          <a:p>
            <a:pPr marL="285750">
              <a:lnSpc>
                <a:spcPts val="2700"/>
              </a:lnSpc>
              <a:spcBef>
                <a:spcPts val="10"/>
              </a:spcBef>
              <a:buChar char="•"/>
            </a:pPr>
            <a:r>
              <a:rPr lang="en-US" sz="100" noProof="1">
                <a:solidFill>
                  <a:srgbClr val="2B2B2B"/>
                </a:solidFill>
                <a:latin typeface="Calibri"/>
                <a:ea typeface="Calibri"/>
              </a:rPr>
              <a:t> </a:t>
            </a:r>
            <a:endParaRPr lang="en-US" sz="1800" noProof="1"/>
          </a:p>
          <a:p>
            <a:pPr marL="28575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1800" b="1" noProof="1">
                <a:solidFill>
                  <a:srgbClr val="2B2B2B"/>
                </a:solidFill>
                <a:latin typeface="Calibri"/>
                <a:ea typeface="Calibri"/>
              </a:rPr>
              <a:t>Buffer Manager </a:t>
            </a: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— загрузка страниц с диска в память</a:t>
            </a:r>
            <a:endParaRPr lang="en-US" sz="1800" noProof="1"/>
          </a:p>
          <a:p>
            <a:pPr marL="285750">
              <a:lnSpc>
                <a:spcPts val="2700"/>
              </a:lnSpc>
              <a:spcBef>
                <a:spcPts val="10"/>
              </a:spcBef>
              <a:buChar char="•"/>
            </a:pPr>
            <a:r>
              <a:rPr lang="en-US" sz="100" noProof="1">
                <a:solidFill>
                  <a:srgbClr val="2B2B2B"/>
                </a:solidFill>
                <a:latin typeface="Calibri"/>
                <a:ea typeface="Calibri"/>
              </a:rPr>
              <a:t> </a:t>
            </a:r>
            <a:endParaRPr lang="en-US" sz="1800" noProof="1"/>
          </a:p>
          <a:p>
            <a:pPr marL="28575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1800" b="1" noProof="1">
                <a:solidFill>
                  <a:srgbClr val="2B2B2B"/>
                </a:solidFill>
                <a:latin typeface="Calibri"/>
                <a:ea typeface="Calibri"/>
              </a:rPr>
              <a:t>Access Methods </a:t>
            </a: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— доступ к данным для операторов выполнения запросов</a:t>
            </a:r>
            <a:endParaRPr lang="en-US" sz="1800" noProof="1"/>
          </a:p>
          <a:p>
            <a:pPr marL="285750">
              <a:lnSpc>
                <a:spcPts val="2700"/>
              </a:lnSpc>
              <a:spcBef>
                <a:spcPts val="10"/>
              </a:spcBef>
              <a:buChar char="•"/>
            </a:pPr>
            <a:r>
              <a:rPr lang="en-US" sz="100" noProof="1">
                <a:solidFill>
                  <a:srgbClr val="2B2B2B"/>
                </a:solidFill>
                <a:latin typeface="Calibri"/>
                <a:ea typeface="Calibri"/>
              </a:rPr>
              <a:t> </a:t>
            </a:r>
            <a:endParaRPr lang="en-US" sz="1800" noProof="1"/>
          </a:p>
          <a:p>
            <a:pPr marL="28575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1800" b="1" noProof="1">
                <a:solidFill>
                  <a:srgbClr val="2B2B2B"/>
                </a:solidFill>
                <a:latin typeface="Calibri"/>
                <a:ea typeface="Calibri"/>
              </a:rPr>
              <a:t>Query Planner / Optimizer </a:t>
            </a: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— преобразование SQL в физические планы</a:t>
            </a:r>
            <a:endParaRPr lang="en-US" sz="1800" noProof="1"/>
          </a:p>
          <a:p>
            <a:pPr marL="285750">
              <a:lnSpc>
                <a:spcPts val="2700"/>
              </a:lnSpc>
              <a:spcBef>
                <a:spcPts val="10"/>
              </a:spcBef>
              <a:buChar char="•"/>
            </a:pPr>
            <a:r>
              <a:rPr lang="en-US" sz="100" noProof="1">
                <a:solidFill>
                  <a:srgbClr val="2B2B2B"/>
                </a:solidFill>
                <a:latin typeface="Calibri"/>
                <a:ea typeface="Calibri"/>
              </a:rPr>
              <a:t> </a:t>
            </a:r>
            <a:endParaRPr lang="en-US" sz="1800" noProof="1"/>
          </a:p>
          <a:p>
            <a:pPr marL="28575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1800" b="1" noProof="1">
                <a:solidFill>
                  <a:srgbClr val="2B2B2B"/>
                </a:solidFill>
                <a:latin typeface="Calibri"/>
                <a:ea typeface="Calibri"/>
              </a:rPr>
              <a:t>Приложение</a:t>
            </a: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 — взаимодействие с фронтендом планирования запросов</a:t>
            </a:r>
            <a:endParaRPr lang="en-US" sz="1800" noProof="1"/>
          </a:p>
        </p:txBody>
      </p:sp>
      <p:pic>
        <p:nvPicPr>
          <p:cNvPr id="5" name="Рисунок 15"/>
          <p:cNvPicPr/>
          <p:nvPr/>
        </p:nvPicPr>
        <p:blipFill>
          <a:blip r:embed="rId2"/>
          <a:stretch>
            <a:fillRect/>
          </a:stretch>
        </p:blipFill>
        <p:spPr>
          <a:xfrm>
            <a:off x="6774180" y="1569720"/>
            <a:ext cx="3724910" cy="478155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3451860" cy="462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>
                <a:solidFill>
                  <a:srgbClr val="1F4E79"/>
                </a:solidFill>
                <a:latin typeface="Times New Roman"/>
                <a:ea typeface="Times New Roman"/>
              </a:rPr>
              <a:t>Иерархия хранения</a:t>
            </a:r>
            <a:endParaRPr lang="en-US" sz="3000" noProof="1"/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6424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TextBox 3"/>
          <p:cNvSpPr txBox="1"/>
          <p:nvPr/>
        </p:nvSpPr>
        <p:spPr>
          <a:xfrm>
            <a:off x="91440" y="1247140"/>
            <a:ext cx="3016250" cy="2494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 noProof="1">
                <a:solidFill>
                  <a:srgbClr val="1F4E79"/>
                </a:solidFill>
                <a:latin typeface="Times New Roman"/>
                <a:ea typeface="Times New Roman"/>
              </a:rPr>
              <a:t>Волатильные устройства (Volatile)</a:t>
            </a:r>
            <a:endParaRPr lang="en-US" sz="1600" noProof="1"/>
          </a:p>
          <a:p>
            <a:pPr>
              <a:lnSpc>
                <a:spcPct val="120000"/>
              </a:lnSpc>
            </a:pPr>
            <a:r>
              <a:rPr lang="en-US" sz="1600" noProof="1">
                <a:solidFill>
                  <a:srgbClr val="2B2B2B"/>
                </a:solidFill>
                <a:latin typeface="Times New Roman"/>
                <a:ea typeface="Times New Roman"/>
              </a:rPr>
              <a:t>• CPU регистры, кэши, DRAM</a:t>
            </a:r>
            <a:endParaRPr lang="en-US" sz="1600" noProof="1"/>
          </a:p>
          <a:p>
            <a:pPr>
              <a:lnSpc>
                <a:spcPct val="120000"/>
              </a:lnSpc>
            </a:pPr>
            <a:r>
              <a:rPr lang="en-US" sz="1600" noProof="1">
                <a:solidFill>
                  <a:srgbClr val="2B2B2B"/>
                </a:solidFill>
                <a:latin typeface="Times New Roman"/>
                <a:ea typeface="Times New Roman"/>
              </a:rPr>
              <a:t>• Теряют состояние при отключении питания</a:t>
            </a:r>
            <a:endParaRPr lang="en-US" sz="1600" noProof="1"/>
          </a:p>
          <a:p>
            <a:pPr>
              <a:lnSpc>
                <a:spcPct val="120000"/>
              </a:lnSpc>
            </a:pPr>
            <a:r>
              <a:rPr lang="en-US" sz="1600" noProof="1">
                <a:solidFill>
                  <a:srgbClr val="2B2B2B"/>
                </a:solidFill>
                <a:latin typeface="Times New Roman"/>
                <a:ea typeface="Times New Roman"/>
              </a:rPr>
              <a:t>• Произвольный доступ с байтовой адресацией</a:t>
            </a:r>
            <a:endParaRPr lang="en-US" sz="1600" noProof="1"/>
          </a:p>
          <a:p>
            <a:pPr>
              <a:lnSpc>
                <a:spcPct val="120000"/>
              </a:lnSpc>
            </a:pPr>
            <a:r>
              <a:rPr lang="en-US" sz="1600" noProof="1">
                <a:solidFill>
                  <a:srgbClr val="2B2B2B"/>
                </a:solidFill>
                <a:latin typeface="Times New Roman"/>
                <a:ea typeface="Times New Roman"/>
              </a:rPr>
              <a:t>• Можно обратиться к любому байту</a:t>
            </a:r>
            <a:endParaRPr lang="en-US" sz="1600" noProof="1"/>
          </a:p>
        </p:txBody>
      </p:sp>
      <p:sp>
        <p:nvSpPr>
          <p:cNvPr id="5" name="TextBox 4"/>
          <p:cNvSpPr txBox="1"/>
          <p:nvPr/>
        </p:nvSpPr>
        <p:spPr>
          <a:xfrm>
            <a:off x="9070340" y="4065270"/>
            <a:ext cx="3166110" cy="27406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 noProof="1">
                <a:solidFill>
                  <a:srgbClr val="1F4E79"/>
                </a:solidFill>
                <a:latin typeface="Times New Roman"/>
                <a:ea typeface="Times New Roman"/>
              </a:rPr>
              <a:t>Неволатильные устройства (Non-volatile)</a:t>
            </a:r>
            <a:endParaRPr lang="en-US" sz="1600" noProof="1"/>
          </a:p>
          <a:p>
            <a:pPr>
              <a:lnSpc>
                <a:spcPct val="120000"/>
              </a:lnSpc>
            </a:pPr>
            <a:r>
              <a:rPr lang="en-US" sz="1600" noProof="1">
                <a:solidFill>
                  <a:srgbClr val="2B2B2B"/>
                </a:solidFill>
                <a:latin typeface="Times New Roman"/>
                <a:ea typeface="Times New Roman"/>
              </a:rPr>
              <a:t>• SSD, HDD, сетевое хранилище (Amazon S3)</a:t>
            </a:r>
            <a:endParaRPr lang="en-US" sz="1600" noProof="1"/>
          </a:p>
          <a:p>
            <a:pPr>
              <a:lnSpc>
                <a:spcPct val="120000"/>
              </a:lnSpc>
            </a:pPr>
            <a:r>
              <a:rPr lang="en-US" sz="1600" noProof="1">
                <a:solidFill>
                  <a:srgbClr val="2B2B2B"/>
                </a:solidFill>
                <a:latin typeface="Times New Roman"/>
                <a:ea typeface="Times New Roman"/>
              </a:rPr>
              <a:t>• Сохраняют данные после потери питания</a:t>
            </a:r>
            <a:endParaRPr lang="en-US" sz="1600" noProof="1"/>
          </a:p>
          <a:p>
            <a:pPr>
              <a:lnSpc>
                <a:spcPct val="120000"/>
              </a:lnSpc>
            </a:pPr>
            <a:r>
              <a:rPr lang="en-US" sz="1600" noProof="1">
                <a:solidFill>
                  <a:srgbClr val="2B2B2B"/>
                </a:solidFill>
                <a:latin typeface="Times New Roman"/>
                <a:ea typeface="Times New Roman"/>
              </a:rPr>
              <a:t>• Блочно-адресуемые (block-addressable)</a:t>
            </a:r>
            <a:endParaRPr lang="en-US" sz="1600" noProof="1"/>
          </a:p>
          <a:p>
            <a:pPr>
              <a:lnSpc>
                <a:spcPct val="120000"/>
              </a:lnSpc>
            </a:pPr>
            <a:r>
              <a:rPr lang="en-US" sz="1600" noProof="1">
                <a:solidFill>
                  <a:srgbClr val="2B2B2B"/>
                </a:solidFill>
                <a:latin typeface="Times New Roman"/>
                <a:ea typeface="Times New Roman"/>
              </a:rPr>
              <a:t>• Минимальная единица доступа — блок (4 КБ)</a:t>
            </a:r>
            <a:endParaRPr lang="en-US" sz="1600" noProof="1"/>
          </a:p>
        </p:txBody>
      </p:sp>
      <p:pic>
        <p:nvPicPr>
          <p:cNvPr id="6" name="Рисунок 11"/>
          <p:cNvPicPr/>
          <p:nvPr/>
        </p:nvPicPr>
        <p:blipFill>
          <a:blip r:embed="rId2"/>
          <a:stretch>
            <a:fillRect/>
          </a:stretch>
        </p:blipFill>
        <p:spPr>
          <a:xfrm>
            <a:off x="2166620" y="1619250"/>
            <a:ext cx="7363460" cy="48006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>
                <a:solidFill>
                  <a:srgbClr val="1F4E79"/>
                </a:solidFill>
                <a:latin typeface="Calibri"/>
                <a:ea typeface="Calibri"/>
              </a:rPr>
              <a:t>Время доступа к хранилищам</a:t>
            </a:r>
            <a:endParaRPr lang="en-US" sz="3000" noProof="1"/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6424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graphicFrame>
        <p:nvGraphicFramePr>
          <p:cNvPr id="4" name="Таблица 4"/>
          <p:cNvGraphicFramePr>
            <a:graphicFrameLocks noGrp="1"/>
          </p:cNvGraphicFramePr>
          <p:nvPr/>
        </p:nvGraphicFramePr>
        <p:xfrm>
          <a:off x="1236980" y="1784350"/>
          <a:ext cx="9714230" cy="3892550"/>
        </p:xfrm>
        <a:graphic>
          <a:graphicData uri="http://schemas.openxmlformats.org/drawingml/2006/table">
            <a:tbl>
              <a:tblPr/>
              <a:tblGrid>
                <a:gridCol w="32380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80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80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9956">
                <a:tc>
                  <a:txBody>
                    <a:bodyPr/>
                    <a:lstStyle/>
                    <a:p>
                      <a:pPr algn="ctr"/>
                      <a:r>
                        <a:rPr lang="en-US" sz="2200" noProof="1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</a:rPr>
                        <a:t>Тип хранилища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noProof="1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</a:rPr>
                        <a:t>Реальное время доступа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noProof="1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</a:rPr>
                        <a:t>Время доступа для сравнения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085">
                <a:tc>
                  <a:txBody>
                    <a:bodyPr/>
                    <a:lstStyle/>
                    <a:p>
                      <a:pPr algn="ctr"/>
                      <a:r>
                        <a:rPr lang="en-US" sz="2200" noProof="1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</a:rPr>
                        <a:t>L1 Cache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noProof="1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</a:rPr>
                        <a:t>1 наносекунда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noProof="1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</a:rPr>
                        <a:t>1 секунда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6085">
                <a:tc>
                  <a:txBody>
                    <a:bodyPr/>
                    <a:lstStyle/>
                    <a:p>
                      <a:pPr algn="ctr"/>
                      <a:r>
                        <a:rPr lang="en-US" sz="2200" noProof="1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</a:rPr>
                        <a:t>L2 Cache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noProof="1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</a:rPr>
                        <a:t>4 наносекунды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noProof="1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</a:rPr>
                        <a:t>4 секунды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6085">
                <a:tc>
                  <a:txBody>
                    <a:bodyPr/>
                    <a:lstStyle/>
                    <a:p>
                      <a:pPr algn="ctr"/>
                      <a:r>
                        <a:rPr lang="en-US" sz="2200" noProof="1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</a:rPr>
                        <a:t>RAM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noProof="1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</a:rPr>
                        <a:t>100 наносекунд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noProof="1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</a:rPr>
                        <a:t> 100 секунд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6085">
                <a:tc>
                  <a:txBody>
                    <a:bodyPr/>
                    <a:lstStyle/>
                    <a:p>
                      <a:pPr algn="ctr"/>
                      <a:r>
                        <a:rPr lang="en-US" sz="2200" noProof="1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</a:rPr>
                        <a:t>SSD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noProof="1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</a:rPr>
                        <a:t>16 000 наносекунд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noProof="1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</a:rPr>
                        <a:t>4.4 часа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6085">
                <a:tc>
                  <a:txBody>
                    <a:bodyPr/>
                    <a:lstStyle/>
                    <a:p>
                      <a:pPr algn="ctr"/>
                      <a:r>
                        <a:rPr lang="en-US" sz="2200" noProof="1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</a:rPr>
                        <a:t>HDD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noProof="1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</a:rPr>
                        <a:t>2 000 000 наносекунд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noProof="1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</a:rPr>
                        <a:t>3.3 недели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6085">
                <a:tc>
                  <a:txBody>
                    <a:bodyPr/>
                    <a:lstStyle/>
                    <a:p>
                      <a:pPr algn="ctr"/>
                      <a:r>
                        <a:rPr lang="en-US" sz="2200" noProof="1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</a:rPr>
                        <a:t>Network Storage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noProof="1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</a:rPr>
                        <a:t>50 000 000 наносекунд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noProof="1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</a:rPr>
                        <a:t>1.5 года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6085">
                <a:tc>
                  <a:txBody>
                    <a:bodyPr/>
                    <a:lstStyle/>
                    <a:p>
                      <a:pPr algn="ctr"/>
                      <a:r>
                        <a:rPr lang="en-US" sz="2200" noProof="1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</a:rPr>
                        <a:t>Магнитная лента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noProof="1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</a:rPr>
                        <a:t>1 000 000 000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noProof="1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</a:rPr>
                        <a:t>31.7 года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>
                <a:solidFill>
                  <a:srgbClr val="1F4E79"/>
                </a:solidFill>
                <a:latin typeface="Calibri"/>
                <a:ea typeface="Calibri"/>
              </a:rPr>
              <a:t>Последовательный и случайный доступ</a:t>
            </a:r>
            <a:endParaRPr lang="en-US" sz="3000" noProof="1"/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6424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TextBox 3"/>
          <p:cNvSpPr txBox="1"/>
          <p:nvPr/>
        </p:nvSpPr>
        <p:spPr>
          <a:xfrm>
            <a:off x="640080" y="1508760"/>
            <a:ext cx="10515600" cy="37871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 noProof="1">
                <a:solidFill>
                  <a:srgbClr val="2B2B2B"/>
                </a:solidFill>
                <a:latin typeface="Times New Roman"/>
                <a:ea typeface="Times New Roman"/>
              </a:rPr>
              <a:t>На реальном оборудовании разница огромна</a:t>
            </a:r>
            <a:endParaRPr lang="en-US" sz="2400" noProof="1"/>
          </a:p>
          <a:p>
            <a:pPr marL="28575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2400" noProof="1">
                <a:solidFill>
                  <a:srgbClr val="2B2B2B"/>
                </a:solidFill>
                <a:latin typeface="Times New Roman"/>
                <a:ea typeface="Times New Roman"/>
              </a:rPr>
              <a:t>Random I/O на быстром SSD — около 80–100 микросекунд</a:t>
            </a:r>
            <a:endParaRPr lang="en-US" sz="2400" noProof="1"/>
          </a:p>
          <a:p>
            <a:pPr marL="28575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2400" noProof="1">
                <a:solidFill>
                  <a:srgbClr val="2B2B2B"/>
                </a:solidFill>
                <a:latin typeface="Times New Roman"/>
                <a:ea typeface="Times New Roman"/>
              </a:rPr>
              <a:t>Sequential I/O около 10-60 микросекунд</a:t>
            </a:r>
            <a:endParaRPr lang="en-US" sz="2400" noProof="1"/>
          </a:p>
          <a:p>
            <a:pPr marL="285750">
              <a:lnSpc>
                <a:spcPts val="3600"/>
              </a:lnSpc>
              <a:spcBef>
                <a:spcPts val="10"/>
              </a:spcBef>
              <a:buChar char="•"/>
            </a:pPr>
            <a:r>
              <a:rPr lang="en-US" sz="100" noProof="1">
                <a:solidFill>
                  <a:srgbClr val="2B2B2B"/>
                </a:solidFill>
                <a:latin typeface="Times New Roman"/>
                <a:ea typeface="Times New Roman"/>
              </a:rPr>
              <a:t> </a:t>
            </a:r>
            <a:endParaRPr lang="en-US" sz="2400" noProof="1"/>
          </a:p>
          <a:p>
            <a:pPr>
              <a:lnSpc>
                <a:spcPct val="120000"/>
              </a:lnSpc>
            </a:pPr>
            <a:r>
              <a:rPr lang="en-US" sz="2400" b="1" noProof="1">
                <a:solidFill>
                  <a:srgbClr val="2B2B2B"/>
                </a:solidFill>
                <a:latin typeface="Times New Roman"/>
                <a:ea typeface="Times New Roman"/>
              </a:rPr>
              <a:t>СУБД стремится максимизировать последовательный доступ</a:t>
            </a:r>
            <a:endParaRPr lang="en-US" sz="2400" noProof="1"/>
          </a:p>
          <a:p>
            <a:pPr marL="28575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2400" noProof="1">
                <a:solidFill>
                  <a:srgbClr val="2B2B2B"/>
                </a:solidFill>
                <a:latin typeface="Times New Roman"/>
                <a:ea typeface="Times New Roman"/>
              </a:rPr>
              <a:t>Алгоритмически, подбирая участки памяти достаточной длины и записывая данные группами</a:t>
            </a:r>
            <a:endParaRPr lang="en-US" sz="2400" noProof="1"/>
          </a:p>
          <a:p>
            <a:pPr marL="28575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2400" noProof="1">
                <a:solidFill>
                  <a:srgbClr val="2B2B2B"/>
                </a:solidFill>
                <a:latin typeface="Times New Roman"/>
                <a:ea typeface="Times New Roman"/>
              </a:rPr>
              <a:t>Резервируя на диске </a:t>
            </a:r>
            <a:r>
              <a:rPr lang="en-US" sz="2400" b="1" noProof="1">
                <a:solidFill>
                  <a:srgbClr val="2B2B2B"/>
                </a:solidFill>
                <a:latin typeface="Times New Roman"/>
                <a:ea typeface="Times New Roman"/>
              </a:rPr>
              <a:t>экстенты</a:t>
            </a:r>
            <a:r>
              <a:rPr lang="en-US" sz="2400" noProof="1">
                <a:solidFill>
                  <a:srgbClr val="2B2B2B"/>
                </a:solidFill>
                <a:latin typeface="Times New Roman"/>
                <a:ea typeface="Times New Roman"/>
              </a:rPr>
              <a:t> (</a:t>
            </a:r>
            <a:r>
              <a:rPr lang="en-US" sz="2400" b="1" noProof="1">
                <a:solidFill>
                  <a:srgbClr val="2B2B2B"/>
                </a:solidFill>
                <a:latin typeface="Times New Roman"/>
                <a:ea typeface="Times New Roman"/>
              </a:rPr>
              <a:t>extents</a:t>
            </a:r>
            <a:r>
              <a:rPr lang="en-US" sz="2400" noProof="1">
                <a:solidFill>
                  <a:srgbClr val="2B2B2B"/>
                </a:solidFill>
                <a:latin typeface="Times New Roman"/>
                <a:ea typeface="Times New Roman"/>
              </a:rPr>
              <a:t>) – наборы страниц фиксированного размера</a:t>
            </a:r>
            <a:endParaRPr lang="en-US" sz="24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8721090" cy="462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>
                <a:solidFill>
                  <a:srgbClr val="1F4E79"/>
                </a:solidFill>
                <a:latin typeface="Calibri"/>
                <a:ea typeface="Calibri"/>
              </a:rPr>
              <a:t>Цели проектирования диск-ориентированной СУБД</a:t>
            </a:r>
            <a:endParaRPr lang="en-US" sz="3000" noProof="1"/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6424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TextBox 3"/>
          <p:cNvSpPr txBox="1"/>
          <p:nvPr/>
        </p:nvSpPr>
        <p:spPr>
          <a:xfrm>
            <a:off x="435610" y="1529080"/>
            <a:ext cx="5013960" cy="47409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 marL="28575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2400" noProof="1">
                <a:solidFill>
                  <a:srgbClr val="2B2B2B"/>
                </a:solidFill>
                <a:latin typeface="Times New Roman"/>
                <a:ea typeface="Times New Roman"/>
              </a:rPr>
              <a:t>Позволить СУБД управлять данными, превышающими объём RAM</a:t>
            </a:r>
            <a:endParaRPr lang="en-US" sz="2400" noProof="1"/>
          </a:p>
          <a:p>
            <a:pPr marL="285750">
              <a:lnSpc>
                <a:spcPts val="3600"/>
              </a:lnSpc>
              <a:spcBef>
                <a:spcPts val="10"/>
              </a:spcBef>
              <a:buChar char="•"/>
            </a:pPr>
            <a:r>
              <a:rPr lang="en-US" sz="100" noProof="1">
                <a:solidFill>
                  <a:srgbClr val="2B2B2B"/>
                </a:solidFill>
                <a:latin typeface="Times New Roman"/>
                <a:ea typeface="Times New Roman"/>
              </a:rPr>
              <a:t> </a:t>
            </a:r>
            <a:endParaRPr lang="en-US" sz="2400" noProof="1"/>
          </a:p>
          <a:p>
            <a:pPr marL="28575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2400" noProof="1">
                <a:solidFill>
                  <a:srgbClr val="2B2B2B"/>
                </a:solidFill>
                <a:latin typeface="Times New Roman"/>
                <a:ea typeface="Times New Roman"/>
              </a:rPr>
              <a:t>Минимизировать число чтений/записей на диск, чтобы система не деградировала на больших данных</a:t>
            </a:r>
            <a:endParaRPr lang="en-US" sz="2400" noProof="1"/>
          </a:p>
          <a:p>
            <a:pPr marL="285750">
              <a:lnSpc>
                <a:spcPts val="3600"/>
              </a:lnSpc>
              <a:spcBef>
                <a:spcPts val="10"/>
              </a:spcBef>
              <a:buChar char="•"/>
            </a:pPr>
            <a:r>
              <a:rPr lang="en-US" sz="100" noProof="1">
                <a:solidFill>
                  <a:srgbClr val="2B2B2B"/>
                </a:solidFill>
                <a:latin typeface="Times New Roman"/>
                <a:ea typeface="Times New Roman"/>
              </a:rPr>
              <a:t> </a:t>
            </a:r>
            <a:endParaRPr lang="en-US" sz="2400" noProof="1"/>
          </a:p>
          <a:p>
            <a:pPr marL="28575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2400" noProof="1">
                <a:solidFill>
                  <a:srgbClr val="2B2B2B"/>
                </a:solidFill>
                <a:latin typeface="Times New Roman"/>
                <a:ea typeface="Times New Roman"/>
              </a:rPr>
              <a:t>Максимизировать последовательный доступ к данным на диске.</a:t>
            </a:r>
            <a:endParaRPr lang="en-US" sz="24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9748520" cy="462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>
                <a:solidFill>
                  <a:srgbClr val="1F4E79"/>
                </a:solidFill>
                <a:latin typeface="Calibri"/>
                <a:ea typeface="Calibri"/>
              </a:rPr>
              <a:t>Принцип устройства памяти диск-ориентированных СУБД</a:t>
            </a:r>
            <a:endParaRPr lang="en-US" sz="3000" noProof="1"/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6424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pic>
        <p:nvPicPr>
          <p:cNvPr id="4" name="Рисунок 7"/>
          <p:cNvPicPr/>
          <p:nvPr/>
        </p:nvPicPr>
        <p:blipFill>
          <a:blip r:embed="rId2"/>
          <a:stretch>
            <a:fillRect/>
          </a:stretch>
        </p:blipFill>
        <p:spPr>
          <a:xfrm>
            <a:off x="452120" y="1244600"/>
            <a:ext cx="10791190" cy="5588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3679190" cy="462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>
                <a:solidFill>
                  <a:srgbClr val="1F4E79"/>
                </a:solidFill>
                <a:latin typeface="Calibri"/>
                <a:ea typeface="Calibri"/>
              </a:rPr>
              <a:t>Файловое хранилище</a:t>
            </a:r>
            <a:endParaRPr lang="en-US" sz="3000" noProof="1"/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6424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TextBox 3"/>
          <p:cNvSpPr txBox="1"/>
          <p:nvPr/>
        </p:nvSpPr>
        <p:spPr>
          <a:xfrm>
            <a:off x="640080" y="2315210"/>
            <a:ext cx="10515600" cy="26784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2B2B2B"/>
                </a:solidFill>
                <a:latin typeface="Calibri"/>
                <a:ea typeface="Calibri"/>
              </a:rPr>
              <a:t>На низком уровне БД — это файлы на диске. Некоторые системы хранят БД в одном файле (SQLite, DuckDB). Большинство — в нескольких файлах</a:t>
            </a:r>
            <a:endParaRPr lang="en-US" sz="1800" noProof="1"/>
          </a:p>
          <a:p>
            <a:pPr marL="28575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С точки зрения ОС — обычные файлы (fwrite / fopen)</a:t>
            </a:r>
            <a:endParaRPr lang="en-US" sz="1800" noProof="1"/>
          </a:p>
          <a:p>
            <a:pPr marL="28575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ОС понятия не имеет о том, какие файлы нужны СУБД в данный момент.</a:t>
            </a:r>
            <a:endParaRPr lang="en-US" sz="1800" noProof="1"/>
          </a:p>
          <a:p>
            <a:pPr>
              <a:lnSpc>
                <a:spcPts val="2700"/>
              </a:lnSpc>
            </a:pPr>
            <a:r>
              <a:rPr lang="en-US" sz="100" noProof="1">
                <a:solidFill>
                  <a:srgbClr val="2B2B2B"/>
                </a:solidFill>
                <a:latin typeface="Calibri"/>
                <a:ea typeface="Calibri"/>
              </a:rPr>
              <a:t> </a:t>
            </a:r>
            <a:endParaRPr lang="en-US" sz="1800" noProof="1"/>
          </a:p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2B2B2B"/>
                </a:solidFill>
                <a:latin typeface="Calibri"/>
                <a:ea typeface="Calibri"/>
              </a:rPr>
              <a:t>Традиционно форматы файлов были проприетарными</a:t>
            </a:r>
            <a:endParaRPr lang="en-US" sz="1800" noProof="1"/>
          </a:p>
          <a:p>
            <a:pPr marL="28575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Файл Postgres нельзя открыть в MySQL или Oracle</a:t>
            </a:r>
            <a:endParaRPr lang="en-US" sz="1800" noProof="1"/>
          </a:p>
          <a:p>
            <a:pPr marL="28575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Более современный подход— переносимые форматы (например,Parquet) с открытой спецификацией</a:t>
            </a:r>
            <a:endParaRPr lang="en-US" sz="18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>
                <a:solidFill>
                  <a:srgbClr val="1F4E79"/>
                </a:solidFill>
                <a:latin typeface="Calibri"/>
                <a:ea typeface="Calibri"/>
              </a:rPr>
              <a:t>Файловые системы и Storage Manager</a:t>
            </a:r>
            <a:endParaRPr lang="en-US" sz="3000" noProof="1"/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6424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TextBox 3"/>
          <p:cNvSpPr txBox="1"/>
          <p:nvPr/>
        </p:nvSpPr>
        <p:spPr>
          <a:xfrm>
            <a:off x="640080" y="2250440"/>
            <a:ext cx="10515600" cy="275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2B2B2B"/>
                </a:solidFill>
                <a:latin typeface="Calibri"/>
                <a:ea typeface="Calibri"/>
              </a:rPr>
              <a:t>СУБД работают на стандартных форматах файловой системы (ext4, NTFS и т.п.)</a:t>
            </a:r>
            <a:endParaRPr lang="en-US" sz="1800" noProof="1"/>
          </a:p>
          <a:p>
            <a:pPr>
              <a:lnSpc>
                <a:spcPct val="120000"/>
              </a:lnSpc>
            </a:pP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В 1980-х некоторые системы создавали </a:t>
            </a:r>
            <a:r>
              <a:rPr lang="en-US" sz="1800" b="1" noProof="1">
                <a:solidFill>
                  <a:srgbClr val="2B2B2B"/>
                </a:solidFill>
                <a:latin typeface="Calibri"/>
                <a:ea typeface="Calibri"/>
              </a:rPr>
              <a:t>собственные</a:t>
            </a: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 ФС поверх блочных устройств</a:t>
            </a:r>
            <a:endParaRPr lang="en-US" sz="1800" noProof="1"/>
          </a:p>
          <a:p>
            <a:pPr>
              <a:lnSpc>
                <a:spcPct val="120000"/>
              </a:lnSpc>
            </a:pP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Сейчас это редкость (Oracle ASM) — выигрыш ~15% не оправдывает усилий</a:t>
            </a:r>
            <a:endParaRPr lang="en-US" sz="1800" noProof="1"/>
          </a:p>
          <a:p>
            <a:pPr>
              <a:lnSpc>
                <a:spcPts val="2700"/>
              </a:lnSpc>
            </a:pPr>
            <a:r>
              <a:rPr lang="en-US" sz="100" noProof="1">
                <a:solidFill>
                  <a:srgbClr val="2B2B2B"/>
                </a:solidFill>
                <a:latin typeface="Calibri"/>
                <a:ea typeface="Calibri"/>
              </a:rPr>
              <a:t> </a:t>
            </a:r>
            <a:endParaRPr lang="en-US" sz="1800" noProof="1"/>
          </a:p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2B2B2B"/>
                </a:solidFill>
                <a:latin typeface="Calibri"/>
                <a:ea typeface="Calibri"/>
              </a:rPr>
              <a:t>Storage Manager (Disk Manager) — компонент управления файлами БД</a:t>
            </a:r>
            <a:endParaRPr lang="en-US" sz="1800" noProof="1"/>
          </a:p>
          <a:p>
            <a:pPr marL="28575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Представляет файлы как набор страниц</a:t>
            </a:r>
            <a:endParaRPr lang="en-US" sz="1800" noProof="1"/>
          </a:p>
          <a:p>
            <a:pPr marL="28575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Отслеживает прочитанные/записанные данные и свободное место</a:t>
            </a:r>
            <a:endParaRPr lang="en-US" sz="1800" noProof="1"/>
          </a:p>
          <a:p>
            <a:pPr marL="28575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Может самостоятельно планировать чтение/запись, не полагаясь на ОС</a:t>
            </a:r>
            <a:endParaRPr lang="en-US" sz="180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>
                <a:solidFill>
                  <a:srgbClr val="1F4E79"/>
                </a:solidFill>
                <a:latin typeface="Calibri"/>
                <a:ea typeface="Calibri"/>
              </a:rPr>
              <a:t>Storage Manager</a:t>
            </a:r>
            <a:endParaRPr lang="en-US" sz="3000" noProof="1"/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6424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TextBox 3"/>
          <p:cNvSpPr txBox="1"/>
          <p:nvPr/>
        </p:nvSpPr>
        <p:spPr>
          <a:xfrm>
            <a:off x="836930" y="2165350"/>
            <a:ext cx="10515600" cy="275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 marL="28575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1800" b="1" noProof="1">
                <a:solidFill>
                  <a:srgbClr val="2B2B2B"/>
                </a:solidFill>
                <a:latin typeface="Calibri"/>
                <a:ea typeface="Calibri"/>
              </a:rPr>
              <a:t>Ответственен за поддержание валидного состояния файлов БД</a:t>
            </a:r>
            <a:endParaRPr lang="en-US" sz="1800" noProof="1"/>
          </a:p>
          <a:p>
            <a:pPr marL="742950" lvl="1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Может </a:t>
            </a:r>
            <a:r>
              <a:rPr lang="en-US" sz="1800" b="1" noProof="1">
                <a:solidFill>
                  <a:srgbClr val="2B2B2B"/>
                </a:solidFill>
                <a:latin typeface="Calibri"/>
                <a:ea typeface="Calibri"/>
              </a:rPr>
              <a:t>переопределять</a:t>
            </a: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 порядок чтения/записи для улучшения производительности</a:t>
            </a:r>
            <a:endParaRPr lang="en-US" sz="1800" noProof="1"/>
          </a:p>
          <a:p>
            <a:pPr marL="742950" lvl="1">
              <a:lnSpc>
                <a:spcPts val="2700"/>
              </a:lnSpc>
              <a:spcBef>
                <a:spcPts val="10"/>
              </a:spcBef>
              <a:buChar char="•"/>
            </a:pPr>
            <a:r>
              <a:rPr lang="en-US" sz="100" noProof="1">
                <a:solidFill>
                  <a:srgbClr val="2B2B2B"/>
                </a:solidFill>
                <a:latin typeface="Calibri"/>
                <a:ea typeface="Calibri"/>
              </a:rPr>
              <a:t> </a:t>
            </a:r>
            <a:endParaRPr lang="en-US" sz="1800" noProof="1"/>
          </a:p>
          <a:p>
            <a:pPr marL="28575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1800" b="1" noProof="1">
                <a:solidFill>
                  <a:srgbClr val="2B2B2B"/>
                </a:solidFill>
                <a:latin typeface="Calibri"/>
                <a:ea typeface="Calibri"/>
              </a:rPr>
              <a:t>Организует файлы как коллекцию страниц фиксированного размера</a:t>
            </a:r>
            <a:endParaRPr lang="en-US" sz="1800" noProof="1"/>
          </a:p>
          <a:p>
            <a:pPr marL="742950" lvl="1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Отслеживает данные в страницах и доступное место</a:t>
            </a:r>
            <a:endParaRPr lang="en-US" sz="1800" noProof="1"/>
          </a:p>
          <a:p>
            <a:pPr marL="742950" lvl="1">
              <a:lnSpc>
                <a:spcPts val="2700"/>
              </a:lnSpc>
              <a:spcBef>
                <a:spcPts val="10"/>
              </a:spcBef>
              <a:buChar char="•"/>
            </a:pPr>
            <a:r>
              <a:rPr lang="en-US" sz="100" noProof="1">
                <a:solidFill>
                  <a:srgbClr val="2B2B2B"/>
                </a:solidFill>
                <a:latin typeface="Calibri"/>
                <a:ea typeface="Calibri"/>
              </a:rPr>
              <a:t> </a:t>
            </a:r>
            <a:endParaRPr lang="en-US" sz="1800" noProof="1"/>
          </a:p>
          <a:p>
            <a:pPr marL="28575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1800" b="1" noProof="1">
                <a:solidFill>
                  <a:srgbClr val="2B2B2B"/>
                </a:solidFill>
                <a:latin typeface="Calibri"/>
                <a:ea typeface="Calibri"/>
              </a:rPr>
              <a:t>НЕ отвечает за управление копиями данных (репликация)</a:t>
            </a:r>
            <a:endParaRPr lang="en-US" sz="1800" noProof="1"/>
          </a:p>
          <a:p>
            <a:pPr marL="742950" lvl="1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Репликация осуществляется на уровне файловой системы (RAID)</a:t>
            </a:r>
            <a:endParaRPr lang="en-US" sz="180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>
                <a:solidFill>
                  <a:srgbClr val="1F4E79"/>
                </a:solidFill>
                <a:latin typeface="Calibri"/>
                <a:ea typeface="Calibri"/>
              </a:rPr>
              <a:t>Страницы базы данных</a:t>
            </a:r>
            <a:endParaRPr lang="en-US" sz="3000" noProof="1"/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6424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3108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СУБД организует БД в файлах как блоки фиксированного размера — </a:t>
            </a:r>
            <a:r>
              <a:rPr lang="en-US" sz="1800" b="1" noProof="1">
                <a:solidFill>
                  <a:srgbClr val="2B2B2B"/>
                </a:solidFill>
                <a:latin typeface="Calibri"/>
                <a:ea typeface="Calibri"/>
              </a:rPr>
              <a:t>pages</a:t>
            </a:r>
            <a:endParaRPr lang="en-US" sz="1800" noProof="1"/>
          </a:p>
          <a:p>
            <a:pPr>
              <a:lnSpc>
                <a:spcPct val="120000"/>
              </a:lnSpc>
            </a:pP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Страницы содержат:</a:t>
            </a:r>
            <a:endParaRPr lang="en-US" sz="1800" noProof="1"/>
          </a:p>
          <a:p>
            <a:pPr marL="28575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1800" b="1" noProof="1">
                <a:solidFill>
                  <a:srgbClr val="2B2B2B"/>
                </a:solidFill>
                <a:latin typeface="Calibri"/>
                <a:ea typeface="Calibri"/>
              </a:rPr>
              <a:t>кортежи – сами данные, </a:t>
            </a:r>
            <a:endParaRPr lang="en-US" sz="1800" noProof="1"/>
          </a:p>
          <a:p>
            <a:pPr marL="28575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1800" b="1" noProof="1">
                <a:solidFill>
                  <a:srgbClr val="2B2B2B"/>
                </a:solidFill>
                <a:latin typeface="Calibri"/>
                <a:ea typeface="Calibri"/>
              </a:rPr>
              <a:t>индексы – вспомогательная структура для быстрого доступа  кданным, </a:t>
            </a:r>
            <a:endParaRPr lang="en-US" sz="1800" noProof="1"/>
          </a:p>
          <a:p>
            <a:pPr marL="28575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1800" b="1" noProof="1">
                <a:solidFill>
                  <a:srgbClr val="2B2B2B"/>
                </a:solidFill>
                <a:latin typeface="Calibri"/>
                <a:ea typeface="Calibri"/>
              </a:rPr>
              <a:t>метаданные – вспомогательная информация для быстрого доступа к данным,</a:t>
            </a:r>
            <a:endParaRPr lang="en-US" sz="1800" noProof="1"/>
          </a:p>
          <a:p>
            <a:pPr marL="28575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1800" b="1" noProof="1">
                <a:solidFill>
                  <a:srgbClr val="2B2B2B"/>
                </a:solidFill>
                <a:latin typeface="Calibri"/>
                <a:ea typeface="Calibri"/>
              </a:rPr>
              <a:t>… </a:t>
            </a:r>
            <a:endParaRPr lang="en-US" sz="1800" noProof="1"/>
          </a:p>
          <a:p>
            <a:pPr>
              <a:lnSpc>
                <a:spcPct val="120000"/>
              </a:lnSpc>
            </a:pP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Каждая страница имеет уникальный идентификатор — </a:t>
            </a:r>
            <a:r>
              <a:rPr lang="en-US" sz="1800" b="1" noProof="1">
                <a:solidFill>
                  <a:srgbClr val="2B2B2B"/>
                </a:solidFill>
                <a:latin typeface="Calibri"/>
                <a:ea typeface="Calibri"/>
              </a:rPr>
              <a:t>Page ID</a:t>
            </a:r>
            <a:endParaRPr lang="en-US" sz="1800" noProof="1"/>
          </a:p>
          <a:p>
            <a:pPr marL="28575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Page ID может быть смещением в файле или отображением в путь+смещение</a:t>
            </a:r>
            <a:endParaRPr lang="en-US" sz="1800" noProof="1"/>
          </a:p>
          <a:p>
            <a:pPr marL="28575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1800" b="1" noProof="1">
                <a:solidFill>
                  <a:srgbClr val="2B2B2B"/>
                </a:solidFill>
                <a:latin typeface="Calibri"/>
                <a:ea typeface="Calibri"/>
              </a:rPr>
              <a:t>Page ID может быть уникальным в рамках экземпляра СУБД, БД или таблицы</a:t>
            </a:r>
            <a:endParaRPr lang="en-US" sz="1800" noProof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4735830" cy="462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>
                <a:solidFill>
                  <a:srgbClr val="1F4E79"/>
                </a:solidFill>
                <a:latin typeface="Calibri"/>
                <a:ea typeface="Calibri"/>
              </a:rPr>
              <a:t>Три понятия страниц в СУБД</a:t>
            </a:r>
            <a:endParaRPr lang="en-US" sz="3000" noProof="1"/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6424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39408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 marL="28575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1800" b="1" noProof="1">
                <a:solidFill>
                  <a:srgbClr val="2B2B2B"/>
                </a:solidFill>
                <a:latin typeface="Calibri"/>
                <a:ea typeface="Calibri"/>
              </a:rPr>
              <a:t>Аппаратная страница </a:t>
            </a: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(hardware page) — Максимальный размер </a:t>
            </a:r>
            <a:r>
              <a:rPr lang="en-US" sz="1800" b="1" noProof="1">
                <a:solidFill>
                  <a:srgbClr val="2B2B2B"/>
                </a:solidFill>
                <a:latin typeface="Calibri"/>
                <a:ea typeface="Calibri"/>
              </a:rPr>
              <a:t>атомарной</a:t>
            </a: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 записи, </a:t>
            </a:r>
            <a:r>
              <a:rPr lang="en-US" sz="1800" b="1" noProof="1">
                <a:solidFill>
                  <a:srgbClr val="2B2B2B"/>
                </a:solidFill>
                <a:latin typeface="Calibri"/>
                <a:ea typeface="Calibri"/>
              </a:rPr>
              <a:t>гарантируемый</a:t>
            </a: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 устройством, размер чаще всего 4Кб</a:t>
            </a:r>
            <a:endParaRPr lang="en-US" sz="1800" noProof="1"/>
          </a:p>
          <a:p>
            <a:pPr marL="28575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1800" b="1" noProof="1">
                <a:solidFill>
                  <a:srgbClr val="2B2B2B"/>
                </a:solidFill>
                <a:latin typeface="Calibri"/>
                <a:ea typeface="Calibri"/>
              </a:rPr>
              <a:t>Страница ОС </a:t>
            </a: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(OS page) — Единица выделения адресной памяти для процесса. В Linux по умолчанию 4 КБ, в x64 от 2Мб до 1Гб.</a:t>
            </a:r>
            <a:endParaRPr lang="en-US" sz="1800" noProof="1"/>
          </a:p>
          <a:p>
            <a:pPr marL="28575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1800" b="1" noProof="1">
                <a:solidFill>
                  <a:srgbClr val="2B2B2B"/>
                </a:solidFill>
                <a:latin typeface="Calibri"/>
                <a:ea typeface="Calibri"/>
              </a:rPr>
              <a:t>Страница БД </a:t>
            </a: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(database page) — Единица управления информацией в СУБД. От 512 байт до 32 КБ</a:t>
            </a:r>
            <a:endParaRPr lang="en-US" sz="1800" noProof="1"/>
          </a:p>
          <a:p>
            <a:pPr>
              <a:lnSpc>
                <a:spcPts val="2700"/>
              </a:lnSpc>
            </a:pPr>
            <a:r>
              <a:rPr lang="en-US" sz="100" noProof="1">
                <a:solidFill>
                  <a:srgbClr val="2B2B2B"/>
                </a:solidFill>
                <a:latin typeface="Calibri"/>
                <a:ea typeface="Calibri"/>
              </a:rPr>
              <a:t> </a:t>
            </a:r>
            <a:endParaRPr lang="en-US" sz="1800" noProof="1"/>
          </a:p>
          <a:p>
            <a:pPr>
              <a:lnSpc>
                <a:spcPct val="120000"/>
              </a:lnSpc>
            </a:pP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Бывают </a:t>
            </a:r>
            <a:r>
              <a:rPr lang="en-US" sz="1800" b="1" noProof="1">
                <a:solidFill>
                  <a:srgbClr val="2B2B2B"/>
                </a:solidFill>
                <a:latin typeface="Calibri"/>
                <a:ea typeface="Calibri"/>
              </a:rPr>
              <a:t>huge pages </a:t>
            </a: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(2 МБ – 1 ГБ в x64 системах) – куски памяти, предназначенные для хранения больших файлов</a:t>
            </a:r>
            <a:endParaRPr lang="en-US" sz="1800" noProof="1"/>
          </a:p>
          <a:p>
            <a:pPr>
              <a:lnSpc>
                <a:spcPct val="120000"/>
              </a:lnSpc>
            </a:pP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Размеры страниц СУБД по умолчанию:</a:t>
            </a:r>
            <a:endParaRPr lang="en-US" sz="1800" noProof="1"/>
          </a:p>
          <a:p>
            <a:pPr marL="28575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SQLite — 4 КБ,</a:t>
            </a:r>
            <a:endParaRPr lang="en-US" sz="1800" noProof="1"/>
          </a:p>
          <a:p>
            <a:pPr marL="28575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PostgreSQL / SQL Server — 8 КБ, </a:t>
            </a:r>
            <a:endParaRPr lang="en-US" sz="1800" noProof="1"/>
          </a:p>
          <a:p>
            <a:pPr marL="28575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MySQL InnoDB — до 16 КБ</a:t>
            </a:r>
            <a:endParaRPr lang="en-US" sz="1800" noProof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>
                <a:solidFill>
                  <a:srgbClr val="1F4E79"/>
                </a:solidFill>
                <a:latin typeface="Calibri"/>
                <a:ea typeface="Calibri"/>
              </a:rPr>
              <a:t>Выбор размера страницы БД</a:t>
            </a:r>
            <a:endParaRPr lang="en-US" sz="3000" noProof="1"/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6424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TextBox 3"/>
          <p:cNvSpPr txBox="1"/>
          <p:nvPr/>
        </p:nvSpPr>
        <p:spPr>
          <a:xfrm>
            <a:off x="220980" y="1518920"/>
            <a:ext cx="5464810" cy="44742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 noProof="1">
                <a:solidFill>
                  <a:srgbClr val="1F4E79"/>
                </a:solidFill>
                <a:latin typeface="Calibri"/>
                <a:ea typeface="Calibri"/>
              </a:rPr>
              <a:t>Read-heavy (много чтения)</a:t>
            </a:r>
            <a:endParaRPr lang="en-US" sz="2400" noProof="1"/>
          </a:p>
          <a:p>
            <a:pPr>
              <a:lnSpc>
                <a:spcPct val="120000"/>
              </a:lnSpc>
            </a:pPr>
            <a:r>
              <a:rPr lang="en-US" sz="2400" noProof="1">
                <a:solidFill>
                  <a:srgbClr val="2B2B2B"/>
                </a:solidFill>
                <a:latin typeface="Calibri"/>
                <a:ea typeface="Calibri"/>
              </a:rPr>
              <a:t>• Большие страницы (вплоть до 1 МБ)</a:t>
            </a:r>
            <a:endParaRPr lang="en-US" sz="2400" noProof="1"/>
          </a:p>
          <a:p>
            <a:pPr>
              <a:lnSpc>
                <a:spcPts val="3600"/>
              </a:lnSpc>
            </a:pPr>
            <a:r>
              <a:rPr lang="en-US" sz="100" noProof="1">
                <a:solidFill>
                  <a:srgbClr val="2B2B2B"/>
                </a:solidFill>
                <a:latin typeface="Calibri"/>
                <a:ea typeface="Calibri"/>
              </a:rPr>
              <a:t> </a:t>
            </a:r>
            <a:endParaRPr lang="en-US" sz="2400" noProof="1"/>
          </a:p>
          <a:p>
            <a:pPr>
              <a:lnSpc>
                <a:spcPct val="120000"/>
              </a:lnSpc>
            </a:pPr>
            <a:r>
              <a:rPr lang="en-US" sz="2400" noProof="1">
                <a:solidFill>
                  <a:srgbClr val="2B2B2B"/>
                </a:solidFill>
                <a:latin typeface="Calibri"/>
                <a:ea typeface="Calibri"/>
              </a:rPr>
              <a:t>• Последовательные сканирования читают</a:t>
            </a:r>
            <a:endParaRPr lang="en-US" sz="2400" noProof="1"/>
          </a:p>
          <a:p>
            <a:pPr>
              <a:lnSpc>
                <a:spcPct val="120000"/>
              </a:lnSpc>
            </a:pPr>
            <a:r>
              <a:rPr lang="en-US" sz="2400" noProof="1">
                <a:solidFill>
                  <a:srgbClr val="2B2B2B"/>
                </a:solidFill>
                <a:latin typeface="Calibri"/>
                <a:ea typeface="Calibri"/>
              </a:rPr>
              <a:t>  много непрерывных данных</a:t>
            </a:r>
            <a:endParaRPr lang="en-US" sz="2400" noProof="1"/>
          </a:p>
          <a:p>
            <a:pPr>
              <a:lnSpc>
                <a:spcPts val="3600"/>
              </a:lnSpc>
            </a:pPr>
            <a:r>
              <a:rPr lang="en-US" sz="100" noProof="1">
                <a:solidFill>
                  <a:srgbClr val="2B2B2B"/>
                </a:solidFill>
                <a:latin typeface="Calibri"/>
                <a:ea typeface="Calibri"/>
              </a:rPr>
              <a:t> </a:t>
            </a:r>
            <a:endParaRPr lang="en-US" sz="2400" noProof="1"/>
          </a:p>
          <a:p>
            <a:pPr>
              <a:lnSpc>
                <a:spcPct val="120000"/>
              </a:lnSpc>
            </a:pPr>
            <a:r>
              <a:rPr lang="en-US" sz="2400" noProof="1">
                <a:solidFill>
                  <a:srgbClr val="2B2B2B"/>
                </a:solidFill>
                <a:latin typeface="Calibri"/>
                <a:ea typeface="Calibri"/>
              </a:rPr>
              <a:t>• Каждая страница содержит больше</a:t>
            </a:r>
            <a:endParaRPr lang="en-US" sz="2400" noProof="1"/>
          </a:p>
          <a:p>
            <a:pPr>
              <a:lnSpc>
                <a:spcPct val="120000"/>
              </a:lnSpc>
            </a:pPr>
            <a:r>
              <a:rPr lang="en-US" sz="2400" noProof="1">
                <a:solidFill>
                  <a:srgbClr val="2B2B2B"/>
                </a:solidFill>
                <a:latin typeface="Calibri"/>
                <a:ea typeface="Calibri"/>
              </a:rPr>
              <a:t>  полезных кортежей</a:t>
            </a:r>
            <a:endParaRPr lang="en-US" sz="2400" noProof="1"/>
          </a:p>
          <a:p>
            <a:pPr>
              <a:lnSpc>
                <a:spcPts val="3600"/>
              </a:lnSpc>
            </a:pPr>
            <a:r>
              <a:rPr lang="en-US" sz="100" noProof="1">
                <a:solidFill>
                  <a:srgbClr val="2B2B2B"/>
                </a:solidFill>
                <a:latin typeface="Calibri"/>
                <a:ea typeface="Calibri"/>
              </a:rPr>
              <a:t> </a:t>
            </a:r>
            <a:endParaRPr lang="en-US" sz="2400" noProof="1"/>
          </a:p>
          <a:p>
            <a:pPr>
              <a:lnSpc>
                <a:spcPct val="120000"/>
              </a:lnSpc>
            </a:pPr>
            <a:r>
              <a:rPr lang="en-US" sz="2400" noProof="1">
                <a:solidFill>
                  <a:srgbClr val="2B2B2B"/>
                </a:solidFill>
                <a:latin typeface="Calibri"/>
                <a:ea typeface="Calibri"/>
              </a:rPr>
              <a:t>• Меньше обращений к диску</a:t>
            </a:r>
            <a:endParaRPr lang="en-US" sz="2400" noProof="1"/>
          </a:p>
        </p:txBody>
      </p:sp>
      <p:sp>
        <p:nvSpPr>
          <p:cNvPr id="5" name="TextBox 4"/>
          <p:cNvSpPr txBox="1"/>
          <p:nvPr/>
        </p:nvSpPr>
        <p:spPr>
          <a:xfrm>
            <a:off x="6319520" y="1508760"/>
            <a:ext cx="5548630" cy="48945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 noProof="1">
                <a:solidFill>
                  <a:srgbClr val="1F4E79"/>
                </a:solidFill>
                <a:latin typeface="Calibri"/>
                <a:ea typeface="Calibri"/>
              </a:rPr>
              <a:t>Write-heavy (много записи)</a:t>
            </a:r>
            <a:endParaRPr lang="en-US" sz="2400" noProof="1"/>
          </a:p>
          <a:p>
            <a:pPr>
              <a:lnSpc>
                <a:spcPct val="120000"/>
              </a:lnSpc>
            </a:pPr>
            <a:r>
              <a:rPr lang="en-US" sz="2400" noProof="1">
                <a:solidFill>
                  <a:srgbClr val="2B2B2B"/>
                </a:solidFill>
                <a:latin typeface="Calibri"/>
                <a:ea typeface="Calibri"/>
              </a:rPr>
              <a:t>• Небольшие страницы (4–16 КБ)</a:t>
            </a:r>
            <a:endParaRPr lang="en-US" sz="2400" noProof="1"/>
          </a:p>
          <a:p>
            <a:pPr>
              <a:lnSpc>
                <a:spcPts val="3600"/>
              </a:lnSpc>
            </a:pPr>
            <a:r>
              <a:rPr lang="en-US" sz="100" noProof="1">
                <a:solidFill>
                  <a:srgbClr val="2B2B2B"/>
                </a:solidFill>
                <a:latin typeface="Calibri"/>
                <a:ea typeface="Calibri"/>
              </a:rPr>
              <a:t> </a:t>
            </a:r>
            <a:endParaRPr lang="en-US" sz="2400" noProof="1"/>
          </a:p>
          <a:p>
            <a:pPr>
              <a:lnSpc>
                <a:spcPct val="120000"/>
              </a:lnSpc>
            </a:pPr>
            <a:r>
              <a:rPr lang="en-US" sz="2400" noProof="1">
                <a:solidFill>
                  <a:srgbClr val="2B2B2B"/>
                </a:solidFill>
                <a:latin typeface="Calibri"/>
                <a:ea typeface="Calibri"/>
              </a:rPr>
              <a:t>• При изменении даже одного поля переписывается</a:t>
            </a:r>
            <a:endParaRPr lang="en-US" sz="2400" noProof="1"/>
          </a:p>
          <a:p>
            <a:pPr>
              <a:lnSpc>
                <a:spcPct val="120000"/>
              </a:lnSpc>
            </a:pPr>
            <a:r>
              <a:rPr lang="en-US" sz="2400" noProof="1">
                <a:solidFill>
                  <a:srgbClr val="2B2B2B"/>
                </a:solidFill>
                <a:latin typeface="Calibri"/>
                <a:ea typeface="Calibri"/>
              </a:rPr>
              <a:t>  вся страница (атомарная запись)</a:t>
            </a:r>
            <a:endParaRPr lang="en-US" sz="2400" noProof="1"/>
          </a:p>
          <a:p>
            <a:pPr>
              <a:lnSpc>
                <a:spcPts val="3600"/>
              </a:lnSpc>
            </a:pPr>
            <a:r>
              <a:rPr lang="en-US" sz="100" noProof="1">
                <a:solidFill>
                  <a:srgbClr val="2B2B2B"/>
                </a:solidFill>
                <a:latin typeface="Calibri"/>
                <a:ea typeface="Calibri"/>
              </a:rPr>
              <a:t> </a:t>
            </a:r>
            <a:endParaRPr lang="en-US" sz="2400" noProof="1"/>
          </a:p>
          <a:p>
            <a:pPr>
              <a:lnSpc>
                <a:spcPct val="120000"/>
              </a:lnSpc>
            </a:pPr>
            <a:r>
              <a:rPr lang="en-US" sz="2400" noProof="1">
                <a:solidFill>
                  <a:srgbClr val="2B2B2B"/>
                </a:solidFill>
                <a:latin typeface="Calibri"/>
                <a:ea typeface="Calibri"/>
              </a:rPr>
              <a:t>• Большая страница = больший объём</a:t>
            </a:r>
            <a:endParaRPr lang="en-US" sz="2400" noProof="1"/>
          </a:p>
          <a:p>
            <a:pPr>
              <a:lnSpc>
                <a:spcPct val="120000"/>
              </a:lnSpc>
            </a:pPr>
            <a:r>
              <a:rPr lang="en-US" sz="2400" noProof="1">
                <a:solidFill>
                  <a:srgbClr val="2B2B2B"/>
                </a:solidFill>
                <a:latin typeface="Calibri"/>
                <a:ea typeface="Calibri"/>
              </a:rPr>
              <a:t>  записи на диск</a:t>
            </a:r>
            <a:endParaRPr lang="en-US" sz="2400" noProof="1"/>
          </a:p>
          <a:p>
            <a:pPr>
              <a:lnSpc>
                <a:spcPts val="3600"/>
              </a:lnSpc>
            </a:pPr>
            <a:r>
              <a:rPr lang="en-US" sz="100" noProof="1">
                <a:solidFill>
                  <a:srgbClr val="2B2B2B"/>
                </a:solidFill>
                <a:latin typeface="Calibri"/>
                <a:ea typeface="Calibri"/>
              </a:rPr>
              <a:t> </a:t>
            </a:r>
            <a:endParaRPr lang="en-US" sz="2400" noProof="1"/>
          </a:p>
          <a:p>
            <a:pPr>
              <a:lnSpc>
                <a:spcPct val="120000"/>
              </a:lnSpc>
            </a:pPr>
            <a:r>
              <a:rPr lang="en-US" sz="2400" noProof="1">
                <a:solidFill>
                  <a:srgbClr val="2B2B2B"/>
                </a:solidFill>
                <a:latin typeface="Calibri"/>
                <a:ea typeface="Calibri"/>
              </a:rPr>
              <a:t>• Если страница БД &gt; аппаратной —</a:t>
            </a:r>
            <a:endParaRPr lang="en-US" sz="2400" noProof="1"/>
          </a:p>
          <a:p>
            <a:pPr>
              <a:lnSpc>
                <a:spcPct val="120000"/>
              </a:lnSpc>
            </a:pPr>
            <a:r>
              <a:rPr lang="en-US" sz="2400" noProof="1">
                <a:solidFill>
                  <a:srgbClr val="2B2B2B"/>
                </a:solidFill>
                <a:latin typeface="Calibri"/>
                <a:ea typeface="Calibri"/>
              </a:rPr>
              <a:t>  нужны доп. меры безопасности</a:t>
            </a:r>
            <a:endParaRPr lang="en-US" sz="2400" noProof="1"/>
          </a:p>
        </p:txBody>
      </p:sp>
      <p:sp>
        <p:nvSpPr>
          <p:cNvPr id="6" name="Rectangle 5"/>
          <p:cNvSpPr/>
          <p:nvPr/>
        </p:nvSpPr>
        <p:spPr>
          <a:xfrm>
            <a:off x="6035040" y="1463040"/>
            <a:ext cx="19050" cy="5029200"/>
          </a:xfrm>
          <a:prstGeom prst="rect">
            <a:avLst/>
          </a:prstGeom>
          <a:solidFill>
            <a:srgbClr val="E8E8E8"/>
          </a:solidFill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>
                <a:solidFill>
                  <a:srgbClr val="1F4E79"/>
                </a:solidFill>
                <a:latin typeface="Calibri"/>
                <a:ea typeface="Calibri"/>
              </a:rPr>
              <a:t>Heap File (Куча)</a:t>
            </a:r>
            <a:endParaRPr lang="en-US" sz="3000" noProof="1"/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6424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3309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2B2B2B"/>
                </a:solidFill>
                <a:latin typeface="Calibri"/>
                <a:ea typeface="Calibri"/>
              </a:rPr>
              <a:t>Способы организации страниц в файле СУБД</a:t>
            </a: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: </a:t>
            </a:r>
            <a:endParaRPr lang="en-US" sz="1800" noProof="1"/>
          </a:p>
          <a:p>
            <a:pPr marL="28575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Heap File</a:t>
            </a:r>
            <a:endParaRPr lang="en-US" sz="1800" noProof="1"/>
          </a:p>
          <a:p>
            <a:pPr marL="28575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древовидная, </a:t>
            </a:r>
            <a:endParaRPr lang="en-US" sz="1800" noProof="1"/>
          </a:p>
          <a:p>
            <a:pPr marL="28575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Отсортированные фалы (ISAM), </a:t>
            </a:r>
            <a:endParaRPr lang="en-US" sz="1800" noProof="1"/>
          </a:p>
          <a:p>
            <a:pPr marL="28575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хешированная</a:t>
            </a:r>
            <a:endParaRPr lang="en-US" sz="1800" noProof="1"/>
          </a:p>
          <a:p>
            <a:pPr>
              <a:lnSpc>
                <a:spcPts val="2700"/>
              </a:lnSpc>
            </a:pPr>
            <a:r>
              <a:rPr lang="en-US" sz="100" noProof="1">
                <a:solidFill>
                  <a:srgbClr val="2B2B2B"/>
                </a:solidFill>
                <a:latin typeface="Calibri"/>
                <a:ea typeface="Calibri"/>
              </a:rPr>
              <a:t> </a:t>
            </a:r>
            <a:endParaRPr lang="en-US" sz="1800" noProof="1"/>
          </a:p>
          <a:p>
            <a:pPr>
              <a:lnSpc>
                <a:spcPts val="2700"/>
              </a:lnSpc>
            </a:pPr>
            <a:r>
              <a:rPr lang="en-US" sz="100" noProof="1">
                <a:solidFill>
                  <a:srgbClr val="2B2B2B"/>
                </a:solidFill>
                <a:latin typeface="Calibri"/>
                <a:ea typeface="Calibri"/>
              </a:rPr>
              <a:t> </a:t>
            </a:r>
            <a:endParaRPr lang="en-US" sz="1800" noProof="1"/>
          </a:p>
          <a:p>
            <a:pPr>
              <a:lnSpc>
                <a:spcPct val="120000"/>
              </a:lnSpc>
            </a:pP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Наиболее распространена организация в виде Heap File — неупорядоченный набор страниц, кортежи тоже хранятся в случайном порядке. Кортежи можно размещать где есть место. Нужны метаданные для отслеживания доступного места</a:t>
            </a:r>
            <a:endParaRPr lang="en-US" sz="1800" noProof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>
                <a:solidFill>
                  <a:srgbClr val="1F4E79"/>
                </a:solidFill>
                <a:latin typeface="Calibri"/>
                <a:ea typeface="Calibri"/>
              </a:rPr>
              <a:t>Heap File (Куча)</a:t>
            </a:r>
            <a:endParaRPr lang="en-US" sz="3000" noProof="1"/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6424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TextBox 3"/>
          <p:cNvSpPr txBox="1"/>
          <p:nvPr/>
        </p:nvSpPr>
        <p:spPr>
          <a:xfrm>
            <a:off x="416560" y="1337310"/>
            <a:ext cx="304165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2B2B2B"/>
                </a:solidFill>
                <a:latin typeface="Times New Roman"/>
                <a:ea typeface="Times New Roman"/>
              </a:rPr>
              <a:t>API heap-файла:</a:t>
            </a:r>
            <a:endParaRPr lang="en-US" sz="1400" noProof="1"/>
          </a:p>
          <a:p>
            <a:pPr marL="28575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1400" noProof="1">
                <a:solidFill>
                  <a:srgbClr val="2B2B2B"/>
                </a:solidFill>
                <a:latin typeface="Times New Roman"/>
                <a:ea typeface="Times New Roman"/>
              </a:rPr>
              <a:t>Создание страниц</a:t>
            </a:r>
            <a:endParaRPr lang="en-US" sz="1400" noProof="1"/>
          </a:p>
          <a:p>
            <a:pPr marL="28575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1400" noProof="1">
                <a:solidFill>
                  <a:srgbClr val="2B2B2B"/>
                </a:solidFill>
                <a:latin typeface="Times New Roman"/>
                <a:ea typeface="Times New Roman"/>
              </a:rPr>
              <a:t>Итерация по всем страницам (для последовательного сканирования)</a:t>
            </a:r>
            <a:endParaRPr lang="en-US" sz="1400" noProof="1"/>
          </a:p>
          <a:p>
            <a:pPr marL="28575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1400" noProof="1">
                <a:solidFill>
                  <a:srgbClr val="2B2B2B"/>
                </a:solidFill>
                <a:latin typeface="Times New Roman"/>
                <a:ea typeface="Times New Roman"/>
              </a:rPr>
              <a:t>Получение отдельной страницы по ID</a:t>
            </a:r>
            <a:endParaRPr lang="en-US" sz="1400" noProof="1"/>
          </a:p>
        </p:txBody>
      </p:sp>
      <p:sp>
        <p:nvSpPr>
          <p:cNvPr id="5" name="TextBox 7"/>
          <p:cNvSpPr txBox="1"/>
          <p:nvPr/>
        </p:nvSpPr>
        <p:spPr>
          <a:xfrm>
            <a:off x="5518150" y="1234440"/>
            <a:ext cx="5911850" cy="2185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2B2B2B"/>
                </a:solidFill>
                <a:latin typeface="Times New Roman"/>
                <a:ea typeface="Times New Roman"/>
              </a:rPr>
              <a:t>Директории страниц: </a:t>
            </a:r>
            <a:r>
              <a:rPr lang="en-US" sz="1400" noProof="1">
                <a:solidFill>
                  <a:srgbClr val="2B2B2B"/>
                </a:solidFill>
                <a:latin typeface="Times New Roman"/>
                <a:ea typeface="Times New Roman"/>
              </a:rPr>
              <a:t>специальные страницы с метаданными для поиска страниц по ID</a:t>
            </a:r>
            <a:endParaRPr lang="en-US" sz="1400" noProof="1"/>
          </a:p>
          <a:p>
            <a:pPr>
              <a:lnSpc>
                <a:spcPct val="120000"/>
              </a:lnSpc>
            </a:pPr>
            <a:r>
              <a:rPr lang="en-US" sz="1400" noProof="1">
                <a:solidFill>
                  <a:srgbClr val="2B2B2B"/>
                </a:solidFill>
                <a:latin typeface="Times New Roman"/>
                <a:ea typeface="Times New Roman"/>
              </a:rPr>
              <a:t>Содержат:</a:t>
            </a:r>
            <a:endParaRPr lang="en-US" sz="1400" noProof="1"/>
          </a:p>
          <a:p>
            <a:pPr marL="28575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1400" noProof="1">
                <a:solidFill>
                  <a:srgbClr val="2B2B2B"/>
                </a:solidFill>
                <a:latin typeface="Times New Roman"/>
                <a:ea typeface="Times New Roman"/>
              </a:rPr>
              <a:t> записи для каждого логического объекта БД</a:t>
            </a:r>
            <a:endParaRPr lang="en-US" sz="1400" noProof="1"/>
          </a:p>
          <a:p>
            <a:pPr marL="28575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1400" noProof="1">
                <a:solidFill>
                  <a:srgbClr val="2B2B2B"/>
                </a:solidFill>
                <a:latin typeface="Times New Roman"/>
                <a:ea typeface="Times New Roman"/>
              </a:rPr>
              <a:t>информацию о свободном месте на страницах</a:t>
            </a:r>
            <a:endParaRPr lang="en-US" sz="1400" noProof="1"/>
          </a:p>
          <a:p>
            <a:pPr marL="28575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1400" noProof="1">
                <a:solidFill>
                  <a:srgbClr val="2B2B2B"/>
                </a:solidFill>
                <a:latin typeface="Times New Roman"/>
                <a:ea typeface="Times New Roman"/>
              </a:rPr>
              <a:t>Список полностью пустых страниц</a:t>
            </a:r>
            <a:endParaRPr lang="en-US" sz="1400" noProof="1"/>
          </a:p>
          <a:p>
            <a:pPr marL="28575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1400" noProof="1">
                <a:solidFill>
                  <a:srgbClr val="2B2B2B"/>
                </a:solidFill>
                <a:latin typeface="Times New Roman"/>
                <a:ea typeface="Times New Roman"/>
              </a:rPr>
              <a:t>Типы страниц</a:t>
            </a:r>
            <a:endParaRPr lang="en-US" sz="1400" noProof="1"/>
          </a:p>
          <a:p>
            <a:pPr>
              <a:lnSpc>
                <a:spcPct val="120000"/>
              </a:lnSpc>
            </a:pPr>
            <a:r>
              <a:rPr lang="en-US" sz="1400" noProof="1">
                <a:solidFill>
                  <a:srgbClr val="2B2B2B"/>
                </a:solidFill>
                <a:latin typeface="Times New Roman"/>
                <a:ea typeface="Times New Roman"/>
              </a:rPr>
              <a:t>Директория </a:t>
            </a:r>
            <a:r>
              <a:rPr lang="en-US" sz="1400" b="1" noProof="1">
                <a:solidFill>
                  <a:srgbClr val="2B2B2B"/>
                </a:solidFill>
                <a:latin typeface="Times New Roman"/>
                <a:ea typeface="Times New Roman"/>
              </a:rPr>
              <a:t>должна</a:t>
            </a:r>
            <a:r>
              <a:rPr lang="en-US" sz="1400" noProof="1">
                <a:solidFill>
                  <a:srgbClr val="2B2B2B"/>
                </a:solidFill>
                <a:latin typeface="Times New Roman"/>
                <a:ea typeface="Times New Roman"/>
              </a:rPr>
              <a:t> синхронизироваться с актуальными страницами</a:t>
            </a:r>
            <a:endParaRPr lang="en-US" sz="1400" noProof="1"/>
          </a:p>
        </p:txBody>
      </p:sp>
      <p:pic>
        <p:nvPicPr>
          <p:cNvPr id="6" name="Рисунок 9"/>
          <p:cNvPicPr/>
          <p:nvPr/>
        </p:nvPicPr>
        <p:blipFill>
          <a:blip r:embed="rId2"/>
          <a:stretch>
            <a:fillRect/>
          </a:stretch>
        </p:blipFill>
        <p:spPr>
          <a:xfrm>
            <a:off x="347980" y="3644900"/>
            <a:ext cx="11672570" cy="29718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764790" cy="462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>
                <a:solidFill>
                  <a:srgbClr val="1F4E79"/>
                </a:solidFill>
                <a:latin typeface="Calibri"/>
                <a:ea typeface="Calibri"/>
              </a:rPr>
              <a:t>Макет страницы</a:t>
            </a:r>
            <a:endParaRPr lang="en-US" sz="3000" noProof="1"/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6424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TextBox 3"/>
          <p:cNvSpPr txBox="1"/>
          <p:nvPr/>
        </p:nvSpPr>
        <p:spPr>
          <a:xfrm>
            <a:off x="822960" y="1508760"/>
            <a:ext cx="5180330" cy="37871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2B2B2B"/>
                </a:solidFill>
                <a:latin typeface="Calibri"/>
                <a:ea typeface="Calibri"/>
              </a:rPr>
              <a:t>Заголовок содержит</a:t>
            </a: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:</a:t>
            </a:r>
            <a:endParaRPr lang="en-US" sz="1800" noProof="1"/>
          </a:p>
          <a:p>
            <a:pPr marL="28575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Размер страницы</a:t>
            </a:r>
            <a:endParaRPr lang="en-US" sz="1800" noProof="1"/>
          </a:p>
          <a:p>
            <a:pPr marL="28575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Контрольная сумма (</a:t>
            </a:r>
            <a:r>
              <a:rPr lang="en-US" sz="1800" b="1" noProof="1">
                <a:solidFill>
                  <a:srgbClr val="2B2B2B"/>
                </a:solidFill>
                <a:latin typeface="Calibri"/>
                <a:ea typeface="Calibri"/>
              </a:rPr>
              <a:t>checksum</a:t>
            </a: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)</a:t>
            </a:r>
            <a:endParaRPr lang="en-US" sz="1800" noProof="1"/>
          </a:p>
          <a:p>
            <a:pPr marL="28575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Версия СУБД (для совместимости при обновлениях)</a:t>
            </a:r>
            <a:endParaRPr lang="en-US" sz="1800" noProof="1"/>
          </a:p>
          <a:p>
            <a:pPr marL="28575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Информация о видимости транзакций (</a:t>
            </a:r>
            <a:r>
              <a:rPr lang="en-US" sz="1800" b="1" noProof="1">
                <a:solidFill>
                  <a:srgbClr val="2B2B2B"/>
                </a:solidFill>
                <a:latin typeface="Calibri"/>
                <a:ea typeface="Calibri"/>
              </a:rPr>
              <a:t>transaction visibility</a:t>
            </a: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)</a:t>
            </a:r>
            <a:endParaRPr lang="en-US" sz="1800" noProof="1"/>
          </a:p>
          <a:p>
            <a:pPr marL="28575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В некоторых системах — схема таблицы (для самодостаточности)</a:t>
            </a:r>
            <a:endParaRPr lang="en-US" sz="1800" noProof="1"/>
          </a:p>
          <a:p>
            <a:pPr marL="28575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Суммарная информация / эскизы (sketches) значений для ускорения поиска без сканирования всей страницы</a:t>
            </a:r>
            <a:endParaRPr lang="en-US" sz="1800" noProof="1"/>
          </a:p>
        </p:txBody>
      </p:sp>
      <p:pic>
        <p:nvPicPr>
          <p:cNvPr id="5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6710680" y="1974850"/>
            <a:ext cx="4564380" cy="29083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>
                <a:solidFill>
                  <a:srgbClr val="1F4E79"/>
                </a:solidFill>
                <a:latin typeface="Calibri"/>
                <a:ea typeface="Calibri"/>
              </a:rPr>
              <a:t>Три подхода к размещению данных внутри страниц</a:t>
            </a:r>
            <a:endParaRPr lang="en-US" sz="3000" noProof="1"/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6424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TextBox 3"/>
          <p:cNvSpPr txBox="1"/>
          <p:nvPr/>
        </p:nvSpPr>
        <p:spPr>
          <a:xfrm>
            <a:off x="166370" y="1347470"/>
            <a:ext cx="2872740" cy="275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 marL="28575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1400" b="1" noProof="1">
                <a:solidFill>
                  <a:srgbClr val="2B2B2B"/>
                </a:solidFill>
                <a:latin typeface="Calibri"/>
                <a:ea typeface="Calibri"/>
              </a:rPr>
              <a:t>Tuple-oriented </a:t>
            </a:r>
            <a:r>
              <a:rPr lang="en-US" sz="1400" noProof="1">
                <a:solidFill>
                  <a:srgbClr val="2B2B2B"/>
                </a:solidFill>
                <a:latin typeface="Calibri"/>
                <a:ea typeface="Calibri"/>
              </a:rPr>
              <a:t>(кортеж-ориентированное)</a:t>
            </a:r>
            <a:endParaRPr lang="en-US" sz="1400" noProof="1"/>
          </a:p>
          <a:p>
            <a:pPr>
              <a:lnSpc>
                <a:spcPct val="120000"/>
              </a:lnSpc>
            </a:pPr>
            <a:r>
              <a:rPr lang="en-US" sz="1400" noProof="1">
                <a:solidFill>
                  <a:srgbClr val="2B2B2B"/>
                </a:solidFill>
                <a:latin typeface="Calibri"/>
                <a:ea typeface="Calibri"/>
              </a:rPr>
              <a:t>Кортеж целиком хранится непрерывно в странице</a:t>
            </a:r>
            <a:endParaRPr lang="en-US" sz="1400" noProof="1"/>
          </a:p>
          <a:p>
            <a:pPr marL="28575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1400" b="1" noProof="1">
                <a:solidFill>
                  <a:srgbClr val="2B2B2B"/>
                </a:solidFill>
                <a:latin typeface="Calibri"/>
                <a:ea typeface="Calibri"/>
              </a:rPr>
              <a:t>Log-structured</a:t>
            </a:r>
            <a:r>
              <a:rPr lang="en-US" sz="1400" noProof="1">
                <a:solidFill>
                  <a:srgbClr val="2B2B2B"/>
                </a:solidFill>
                <a:latin typeface="Calibri"/>
                <a:ea typeface="Calibri"/>
              </a:rPr>
              <a:t> (лог-структурированное)</a:t>
            </a:r>
            <a:endParaRPr lang="en-US" sz="1400" noProof="1"/>
          </a:p>
          <a:p>
            <a:pPr>
              <a:lnSpc>
                <a:spcPct val="120000"/>
              </a:lnSpc>
            </a:pPr>
            <a:r>
              <a:rPr lang="en-US" sz="1400" noProof="1">
                <a:solidFill>
                  <a:srgbClr val="2B2B2B"/>
                </a:solidFill>
                <a:latin typeface="Calibri"/>
                <a:ea typeface="Calibri"/>
              </a:rPr>
              <a:t>Хранятся дельты изменений кортежа, а не сам кортеж</a:t>
            </a:r>
            <a:endParaRPr lang="en-US" sz="1400" noProof="1"/>
          </a:p>
          <a:p>
            <a:pPr marL="28575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1400" b="1" noProof="1">
                <a:solidFill>
                  <a:srgbClr val="2B2B2B"/>
                </a:solidFill>
                <a:latin typeface="Calibri"/>
                <a:ea typeface="Calibri"/>
              </a:rPr>
              <a:t>Index-organized</a:t>
            </a:r>
            <a:r>
              <a:rPr lang="en-US" sz="1400" noProof="1">
                <a:solidFill>
                  <a:srgbClr val="2B2B2B"/>
                </a:solidFill>
                <a:latin typeface="Calibri"/>
                <a:ea typeface="Calibri"/>
              </a:rPr>
              <a:t> (индекс-ориентированное)</a:t>
            </a:r>
            <a:endParaRPr lang="en-US" sz="1400" noProof="1"/>
          </a:p>
          <a:p>
            <a:pPr>
              <a:lnSpc>
                <a:spcPct val="120000"/>
              </a:lnSpc>
            </a:pPr>
            <a:r>
              <a:rPr lang="en-US" sz="1400" noProof="1">
                <a:solidFill>
                  <a:srgbClr val="2B2B2B"/>
                </a:solidFill>
                <a:latin typeface="Calibri"/>
                <a:ea typeface="Calibri"/>
              </a:rPr>
              <a:t>Данные хранятся в структуре дерева</a:t>
            </a:r>
            <a:endParaRPr lang="en-US" sz="1400" noProof="1"/>
          </a:p>
        </p:txBody>
      </p:sp>
      <p:pic>
        <p:nvPicPr>
          <p:cNvPr id="5" name="Рисунок 7"/>
          <p:cNvPicPr/>
          <p:nvPr/>
        </p:nvPicPr>
        <p:blipFill>
          <a:blip r:embed="rId2"/>
          <a:stretch>
            <a:fillRect/>
          </a:stretch>
        </p:blipFill>
        <p:spPr>
          <a:xfrm>
            <a:off x="814070" y="1804670"/>
            <a:ext cx="10607040" cy="4687570"/>
          </a:xfrm>
          <a:prstGeom prst="rect">
            <a:avLst/>
          </a:prstGeom>
          <a:ln>
            <a:noFill/>
          </a:ln>
        </p:spPr>
      </p:pic>
      <p:sp>
        <p:nvSpPr>
          <p:cNvPr id="6" name="TextBox 9"/>
          <p:cNvSpPr txBox="1"/>
          <p:nvPr/>
        </p:nvSpPr>
        <p:spPr>
          <a:xfrm>
            <a:off x="3221990" y="1435100"/>
            <a:ext cx="3482340" cy="39865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2B2B2B"/>
                </a:solidFill>
                <a:latin typeface="Times New Roman"/>
                <a:ea typeface="Times New Roman"/>
              </a:rPr>
              <a:t>Наивный подход </a:t>
            </a:r>
            <a:r>
              <a:rPr lang="en-US" sz="1600" noProof="1">
                <a:solidFill>
                  <a:srgbClr val="2B2B2B"/>
                </a:solidFill>
                <a:latin typeface="Times New Roman"/>
                <a:ea typeface="Times New Roman"/>
              </a:rPr>
              <a:t>— добавлять кортежи последовательно в конец</a:t>
            </a:r>
            <a:endParaRPr lang="en-US" sz="1600" noProof="1"/>
          </a:p>
          <a:p>
            <a:pPr>
              <a:lnSpc>
                <a:spcPct val="120000"/>
              </a:lnSpc>
            </a:pPr>
            <a:r>
              <a:rPr lang="en-US" sz="1600" noProof="1">
                <a:solidFill>
                  <a:srgbClr val="2B2B2B"/>
                </a:solidFill>
                <a:latin typeface="Times New Roman"/>
                <a:ea typeface="Times New Roman"/>
              </a:rPr>
              <a:t>Проблемы при удалении или атрибутах переменной длины</a:t>
            </a:r>
            <a:endParaRPr lang="en-US" sz="1600" noProof="1"/>
          </a:p>
          <a:p>
            <a:pPr>
              <a:lnSpc>
                <a:spcPct val="120000"/>
              </a:lnSpc>
            </a:pPr>
            <a:r>
              <a:rPr lang="en-US" sz="1600" noProof="1">
                <a:solidFill>
                  <a:srgbClr val="2B2B2B"/>
                </a:solidFill>
                <a:latin typeface="Times New Roman"/>
                <a:ea typeface="Times New Roman"/>
              </a:rPr>
              <a:t>Сложно утилизировать освободившееся место без изменения адресов</a:t>
            </a:r>
            <a:endParaRPr lang="en-US" sz="1600" noProof="1"/>
          </a:p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2B2B2B"/>
                </a:solidFill>
                <a:latin typeface="Times New Roman"/>
                <a:ea typeface="Times New Roman"/>
              </a:rPr>
              <a:t>Slotted Pages</a:t>
            </a:r>
            <a:r>
              <a:rPr lang="en-US" sz="1600" noProof="1">
                <a:solidFill>
                  <a:srgbClr val="2B2B2B"/>
                </a:solidFill>
                <a:latin typeface="Times New Roman"/>
                <a:ea typeface="Times New Roman"/>
              </a:rPr>
              <a:t>:</a:t>
            </a:r>
            <a:endParaRPr lang="en-US" sz="1600" noProof="1"/>
          </a:p>
          <a:p>
            <a:pPr>
              <a:lnSpc>
                <a:spcPct val="120000"/>
              </a:lnSpc>
            </a:pPr>
            <a:r>
              <a:rPr lang="en-US" sz="1600" noProof="1">
                <a:solidFill>
                  <a:srgbClr val="2B2B2B"/>
                </a:solidFill>
                <a:latin typeface="Times New Roman"/>
                <a:ea typeface="Times New Roman"/>
              </a:rPr>
              <a:t>В начале страницы — заголовок, затем </a:t>
            </a:r>
            <a:r>
              <a:rPr lang="en-US" sz="1600" b="1" noProof="1">
                <a:solidFill>
                  <a:srgbClr val="2B2B2B"/>
                </a:solidFill>
                <a:latin typeface="Times New Roman"/>
                <a:ea typeface="Times New Roman"/>
              </a:rPr>
              <a:t>slot array </a:t>
            </a:r>
            <a:r>
              <a:rPr lang="en-US" sz="1600" noProof="1">
                <a:solidFill>
                  <a:srgbClr val="2B2B2B"/>
                </a:solidFill>
                <a:latin typeface="Times New Roman"/>
                <a:ea typeface="Times New Roman"/>
              </a:rPr>
              <a:t>(массив слотов)</a:t>
            </a:r>
            <a:endParaRPr lang="en-US" sz="1600" noProof="1"/>
          </a:p>
          <a:p>
            <a:pPr>
              <a:lnSpc>
                <a:spcPct val="120000"/>
              </a:lnSpc>
            </a:pPr>
            <a:r>
              <a:rPr lang="en-US" sz="1600" noProof="1">
                <a:solidFill>
                  <a:srgbClr val="2B2B2B"/>
                </a:solidFill>
                <a:latin typeface="Times New Roman"/>
                <a:ea typeface="Times New Roman"/>
              </a:rPr>
              <a:t>Слоты хранят </a:t>
            </a:r>
            <a:r>
              <a:rPr lang="en-US" sz="1600" b="1" noProof="1">
                <a:solidFill>
                  <a:srgbClr val="2B2B2B"/>
                </a:solidFill>
                <a:latin typeface="Times New Roman"/>
                <a:ea typeface="Times New Roman"/>
              </a:rPr>
              <a:t>смещения</a:t>
            </a:r>
            <a:r>
              <a:rPr lang="en-US" sz="1600" noProof="1">
                <a:solidFill>
                  <a:srgbClr val="2B2B2B"/>
                </a:solidFill>
                <a:latin typeface="Times New Roman"/>
                <a:ea typeface="Times New Roman"/>
              </a:rPr>
              <a:t> кортежей </a:t>
            </a:r>
            <a:r>
              <a:rPr lang="en-US" sz="1600" b="1" noProof="1">
                <a:solidFill>
                  <a:srgbClr val="2B2B2B"/>
                </a:solidFill>
                <a:latin typeface="Times New Roman"/>
                <a:ea typeface="Times New Roman"/>
              </a:rPr>
              <a:t>внутри</a:t>
            </a:r>
            <a:r>
              <a:rPr lang="en-US" sz="1600" noProof="1">
                <a:solidFill>
                  <a:srgbClr val="2B2B2B"/>
                </a:solidFill>
                <a:latin typeface="Times New Roman"/>
                <a:ea typeface="Times New Roman"/>
              </a:rPr>
              <a:t> </a:t>
            </a:r>
            <a:r>
              <a:rPr lang="en-US" sz="1600" b="1" noProof="1">
                <a:solidFill>
                  <a:srgbClr val="2B2B2B"/>
                </a:solidFill>
                <a:latin typeface="Times New Roman"/>
                <a:ea typeface="Times New Roman"/>
              </a:rPr>
              <a:t>страницы</a:t>
            </a:r>
            <a:endParaRPr lang="en-US" sz="1600" noProof="1"/>
          </a:p>
          <a:p>
            <a:pPr>
              <a:lnSpc>
                <a:spcPct val="120000"/>
              </a:lnSpc>
            </a:pPr>
            <a:r>
              <a:rPr lang="en-US" sz="1600" noProof="1">
                <a:solidFill>
                  <a:srgbClr val="2B2B2B"/>
                </a:solidFill>
                <a:latin typeface="Times New Roman"/>
                <a:ea typeface="Times New Roman"/>
              </a:rPr>
              <a:t>Данные кортежей размещаются с </a:t>
            </a:r>
            <a:r>
              <a:rPr lang="en-US" sz="1600" b="1" noProof="1">
                <a:solidFill>
                  <a:srgbClr val="2B2B2B"/>
                </a:solidFill>
                <a:latin typeface="Times New Roman"/>
                <a:ea typeface="Times New Roman"/>
              </a:rPr>
              <a:t>конца</a:t>
            </a:r>
            <a:r>
              <a:rPr lang="en-US" sz="1600" noProof="1">
                <a:solidFill>
                  <a:srgbClr val="2B2B2B"/>
                </a:solidFill>
                <a:latin typeface="Times New Roman"/>
                <a:ea typeface="Times New Roman"/>
              </a:rPr>
              <a:t> страницы</a:t>
            </a:r>
            <a:endParaRPr lang="en-US" sz="1600" noProof="1"/>
          </a:p>
          <a:p>
            <a:pPr>
              <a:lnSpc>
                <a:spcPct val="120000"/>
              </a:lnSpc>
            </a:pPr>
            <a:r>
              <a:rPr lang="en-US" sz="1600" noProof="1">
                <a:solidFill>
                  <a:srgbClr val="2B2B2B"/>
                </a:solidFill>
                <a:latin typeface="Times New Roman"/>
                <a:ea typeface="Times New Roman"/>
              </a:rPr>
              <a:t>Растут </a:t>
            </a:r>
            <a:r>
              <a:rPr lang="en-US" sz="1600" b="1" noProof="1">
                <a:solidFill>
                  <a:srgbClr val="2B2B2B"/>
                </a:solidFill>
                <a:latin typeface="Times New Roman"/>
                <a:ea typeface="Times New Roman"/>
              </a:rPr>
              <a:t>навстречу</a:t>
            </a:r>
            <a:r>
              <a:rPr lang="en-US" sz="1600" noProof="1">
                <a:solidFill>
                  <a:srgbClr val="2B2B2B"/>
                </a:solidFill>
                <a:latin typeface="Times New Roman"/>
                <a:ea typeface="Times New Roman"/>
              </a:rPr>
              <a:t> массиву слотов</a:t>
            </a:r>
            <a:endParaRPr lang="en-US" sz="1600" noProof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>
                <a:solidFill>
                  <a:srgbClr val="1F4E79"/>
                </a:solidFill>
                <a:latin typeface="Calibri"/>
                <a:ea typeface="Calibri"/>
              </a:rPr>
              <a:t>Преимущества Slotted Pages</a:t>
            </a:r>
            <a:endParaRPr lang="en-US" sz="3000" noProof="1"/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6424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39408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 marL="28575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2400" noProof="1">
                <a:solidFill>
                  <a:srgbClr val="2B2B2B"/>
                </a:solidFill>
                <a:latin typeface="Times New Roman"/>
                <a:ea typeface="Times New Roman"/>
              </a:rPr>
              <a:t>При удалении кортежа и уплотнении достаточно обновить slot array</a:t>
            </a:r>
            <a:endParaRPr lang="en-US" sz="2400" noProof="1"/>
          </a:p>
          <a:p>
            <a:pPr marL="285750">
              <a:lnSpc>
                <a:spcPts val="3600"/>
              </a:lnSpc>
              <a:spcBef>
                <a:spcPts val="10"/>
              </a:spcBef>
              <a:buChar char="•"/>
            </a:pPr>
            <a:r>
              <a:rPr lang="en-US" sz="100" noProof="1">
                <a:solidFill>
                  <a:srgbClr val="2B2B2B"/>
                </a:solidFill>
                <a:latin typeface="Times New Roman"/>
                <a:ea typeface="Times New Roman"/>
              </a:rPr>
              <a:t> </a:t>
            </a:r>
            <a:endParaRPr lang="en-US" sz="2400" noProof="1"/>
          </a:p>
          <a:p>
            <a:pPr marL="28575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2400" noProof="1">
                <a:solidFill>
                  <a:srgbClr val="2B2B2B"/>
                </a:solidFill>
                <a:latin typeface="Times New Roman"/>
                <a:ea typeface="Times New Roman"/>
              </a:rPr>
              <a:t>Внешние индексы не изменяются</a:t>
            </a:r>
            <a:endParaRPr lang="en-US" sz="2400" noProof="1"/>
          </a:p>
          <a:p>
            <a:pPr marL="285750">
              <a:lnSpc>
                <a:spcPts val="3600"/>
              </a:lnSpc>
              <a:spcBef>
                <a:spcPts val="10"/>
              </a:spcBef>
              <a:buChar char="•"/>
            </a:pPr>
            <a:r>
              <a:rPr lang="en-US" sz="100" noProof="1">
                <a:solidFill>
                  <a:srgbClr val="2B2B2B"/>
                </a:solidFill>
                <a:latin typeface="Times New Roman"/>
                <a:ea typeface="Times New Roman"/>
              </a:rPr>
              <a:t> </a:t>
            </a:r>
            <a:endParaRPr lang="en-US" sz="2400" noProof="1"/>
          </a:p>
          <a:p>
            <a:pPr marL="28575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2400" noProof="1">
                <a:solidFill>
                  <a:srgbClr val="2B2B2B"/>
                </a:solidFill>
                <a:latin typeface="Times New Roman"/>
                <a:ea typeface="Times New Roman"/>
              </a:rPr>
              <a:t>Все изменения ограничены одной страницей</a:t>
            </a:r>
            <a:endParaRPr lang="en-US" sz="2400" noProof="1"/>
          </a:p>
          <a:p>
            <a:pPr marL="285750">
              <a:lnSpc>
                <a:spcPts val="3600"/>
              </a:lnSpc>
              <a:spcBef>
                <a:spcPts val="10"/>
              </a:spcBef>
              <a:buChar char="•"/>
            </a:pPr>
            <a:r>
              <a:rPr lang="en-US" sz="100" noProof="1">
                <a:solidFill>
                  <a:srgbClr val="2B2B2B"/>
                </a:solidFill>
                <a:latin typeface="Times New Roman"/>
                <a:ea typeface="Times New Roman"/>
              </a:rPr>
              <a:t> </a:t>
            </a:r>
            <a:endParaRPr lang="en-US" sz="2400" noProof="1"/>
          </a:p>
          <a:p>
            <a:pPr marL="28575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2400" noProof="1">
                <a:solidFill>
                  <a:srgbClr val="2B2B2B"/>
                </a:solidFill>
                <a:latin typeface="Times New Roman"/>
                <a:ea typeface="Times New Roman"/>
              </a:rPr>
              <a:t>Операции уплотнения в памяти дёшевы по сравнению с чтением с диска</a:t>
            </a:r>
            <a:endParaRPr lang="en-US" sz="2400" noProof="1"/>
          </a:p>
          <a:p>
            <a:pPr marL="285750">
              <a:lnSpc>
                <a:spcPts val="3600"/>
              </a:lnSpc>
              <a:spcBef>
                <a:spcPts val="10"/>
              </a:spcBef>
              <a:buChar char="•"/>
            </a:pPr>
            <a:r>
              <a:rPr lang="en-US" sz="100" noProof="1">
                <a:solidFill>
                  <a:srgbClr val="2B2B2B"/>
                </a:solidFill>
                <a:latin typeface="Times New Roman"/>
                <a:ea typeface="Times New Roman"/>
              </a:rPr>
              <a:t> </a:t>
            </a:r>
            <a:endParaRPr lang="en-US" sz="2400" noProof="1"/>
          </a:p>
          <a:p>
            <a:pPr marL="28575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2400" noProof="1">
                <a:solidFill>
                  <a:srgbClr val="2B2B2B"/>
                </a:solidFill>
                <a:latin typeface="Times New Roman"/>
                <a:ea typeface="Times New Roman"/>
              </a:rPr>
              <a:t>Страница заполнена, когда массив слотов и данные встречаются</a:t>
            </a:r>
            <a:endParaRPr lang="en-US" sz="2400" noProof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>
                <a:solidFill>
                  <a:srgbClr val="1F4E79"/>
                </a:solidFill>
                <a:latin typeface="Calibri"/>
                <a:ea typeface="Calibri"/>
              </a:rPr>
              <a:t>Идентификаторы записей (Record ID / Tuple ID)</a:t>
            </a:r>
            <a:endParaRPr lang="en-US" sz="3000" noProof="1"/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6424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38633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noProof="1">
                <a:solidFill>
                  <a:srgbClr val="2B2B2B"/>
                </a:solidFill>
                <a:latin typeface="Times New Roman"/>
                <a:ea typeface="Times New Roman"/>
              </a:rPr>
              <a:t>Уникальный идентификатор </a:t>
            </a:r>
            <a:r>
              <a:rPr lang="en-US" sz="2400" b="1" noProof="1">
                <a:solidFill>
                  <a:srgbClr val="2B2B2B"/>
                </a:solidFill>
                <a:latin typeface="Times New Roman"/>
                <a:ea typeface="Times New Roman"/>
              </a:rPr>
              <a:t>физического</a:t>
            </a:r>
            <a:r>
              <a:rPr lang="en-US" sz="2400" noProof="1">
                <a:solidFill>
                  <a:srgbClr val="2B2B2B"/>
                </a:solidFill>
                <a:latin typeface="Times New Roman"/>
                <a:ea typeface="Times New Roman"/>
              </a:rPr>
              <a:t> местоположения кортежа</a:t>
            </a:r>
            <a:endParaRPr lang="en-US" sz="2400" noProof="1"/>
          </a:p>
          <a:p>
            <a:pPr>
              <a:lnSpc>
                <a:spcPct val="120000"/>
              </a:lnSpc>
            </a:pPr>
            <a:r>
              <a:rPr lang="en-US" sz="2400" noProof="1">
                <a:solidFill>
                  <a:srgbClr val="2B2B2B"/>
                </a:solidFill>
                <a:latin typeface="Times New Roman"/>
                <a:ea typeface="Times New Roman"/>
              </a:rPr>
              <a:t>Примеры: </a:t>
            </a:r>
            <a:r>
              <a:rPr lang="en-US" sz="2400" b="1" noProof="1">
                <a:solidFill>
                  <a:srgbClr val="2B2B2B"/>
                </a:solidFill>
                <a:latin typeface="Times New Roman"/>
                <a:ea typeface="Times New Roman"/>
              </a:rPr>
              <a:t>str.concat(file ID, page ID, номер слота (slot number))</a:t>
            </a:r>
            <a:endParaRPr lang="en-US" sz="2400" noProof="1"/>
          </a:p>
          <a:p>
            <a:pPr>
              <a:lnSpc>
                <a:spcPts val="3600"/>
              </a:lnSpc>
            </a:pPr>
            <a:r>
              <a:rPr lang="en-US" sz="100" b="1" noProof="1">
                <a:solidFill>
                  <a:srgbClr val="2B2B2B"/>
                </a:solidFill>
                <a:latin typeface="Times New Roman"/>
                <a:ea typeface="Times New Roman"/>
              </a:rPr>
              <a:t> </a:t>
            </a:r>
            <a:endParaRPr lang="en-US" sz="2400" noProof="1"/>
          </a:p>
          <a:p>
            <a:pPr marL="28575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2400" noProof="1">
                <a:solidFill>
                  <a:srgbClr val="2B2B2B"/>
                </a:solidFill>
                <a:latin typeface="Times New Roman"/>
                <a:ea typeface="Times New Roman"/>
              </a:rPr>
              <a:t>Большинство СУБД не хранят Record ID внутри кортежа</a:t>
            </a:r>
            <a:endParaRPr lang="en-US" sz="2400" noProof="1"/>
          </a:p>
          <a:p>
            <a:pPr marL="28575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2400" noProof="1">
                <a:solidFill>
                  <a:srgbClr val="2B2B2B"/>
                </a:solidFill>
                <a:latin typeface="Times New Roman"/>
                <a:ea typeface="Times New Roman"/>
              </a:rPr>
              <a:t>Record ID вычисляется во время выполнения</a:t>
            </a:r>
            <a:endParaRPr lang="en-US" sz="2400" noProof="1"/>
          </a:p>
          <a:p>
            <a:pPr marL="285750">
              <a:lnSpc>
                <a:spcPts val="3600"/>
              </a:lnSpc>
              <a:spcBef>
                <a:spcPts val="10"/>
              </a:spcBef>
              <a:buChar char="•"/>
            </a:pPr>
            <a:r>
              <a:rPr lang="en-US" sz="100" noProof="1">
                <a:solidFill>
                  <a:srgbClr val="2B2B2B"/>
                </a:solidFill>
                <a:latin typeface="Times New Roman"/>
                <a:ea typeface="Times New Roman"/>
              </a:rPr>
              <a:t> </a:t>
            </a:r>
            <a:endParaRPr lang="en-US" sz="2400" noProof="1"/>
          </a:p>
          <a:p>
            <a:pPr>
              <a:lnSpc>
                <a:spcPct val="120000"/>
              </a:lnSpc>
            </a:pPr>
            <a:r>
              <a:rPr lang="en-US" sz="2400" noProof="1">
                <a:solidFill>
                  <a:srgbClr val="2B2B2B"/>
                </a:solidFill>
                <a:latin typeface="Times New Roman"/>
                <a:ea typeface="Times New Roman"/>
              </a:rPr>
              <a:t>Размер: 4 байта в Ingres, 6 байт в PostgreSQL (</a:t>
            </a:r>
            <a:r>
              <a:rPr lang="en-US" sz="2400" b="1" noProof="1">
                <a:solidFill>
                  <a:srgbClr val="2B2B2B"/>
                </a:solidFill>
                <a:latin typeface="Times New Roman"/>
                <a:ea typeface="Times New Roman"/>
              </a:rPr>
              <a:t>ctid</a:t>
            </a:r>
            <a:r>
              <a:rPr lang="en-US" sz="2400" noProof="1">
                <a:solidFill>
                  <a:srgbClr val="2B2B2B"/>
                </a:solidFill>
                <a:latin typeface="Times New Roman"/>
                <a:ea typeface="Times New Roman"/>
              </a:rPr>
              <a:t>)</a:t>
            </a:r>
            <a:endParaRPr lang="en-US" sz="2400" noProof="1"/>
          </a:p>
          <a:p>
            <a:pPr>
              <a:lnSpc>
                <a:spcPct val="120000"/>
              </a:lnSpc>
            </a:pPr>
            <a:r>
              <a:rPr lang="en-US" sz="2400" noProof="1">
                <a:solidFill>
                  <a:srgbClr val="2B2B2B"/>
                </a:solidFill>
                <a:latin typeface="Times New Roman"/>
                <a:ea typeface="Times New Roman"/>
              </a:rPr>
              <a:t>Приложение НЕ должно полагаться на Record ID. Они могут меняться при перемещении данных (</a:t>
            </a:r>
            <a:r>
              <a:rPr lang="en-US" sz="2400" b="1" noProof="1">
                <a:solidFill>
                  <a:srgbClr val="2B2B2B"/>
                </a:solidFill>
                <a:latin typeface="Times New Roman"/>
                <a:ea typeface="Times New Roman"/>
              </a:rPr>
              <a:t>compaction</a:t>
            </a:r>
            <a:r>
              <a:rPr lang="en-US" sz="2400" noProof="1">
                <a:solidFill>
                  <a:srgbClr val="2B2B2B"/>
                </a:solidFill>
                <a:latin typeface="Times New Roman"/>
                <a:ea typeface="Times New Roman"/>
              </a:rPr>
              <a:t>)</a:t>
            </a:r>
            <a:endParaRPr lang="en-US" sz="2400" noProof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>
                <a:solidFill>
                  <a:srgbClr val="1F4E79"/>
                </a:solidFill>
                <a:latin typeface="Calibri"/>
                <a:ea typeface="Calibri"/>
              </a:rPr>
              <a:t>Макет кортежа</a:t>
            </a:r>
            <a:endParaRPr lang="en-US" sz="3000" noProof="1"/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6424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TextBox 3"/>
          <p:cNvSpPr txBox="1"/>
          <p:nvPr/>
        </p:nvSpPr>
        <p:spPr>
          <a:xfrm>
            <a:off x="105410" y="1631950"/>
            <a:ext cx="6958330" cy="26784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2B2B2B"/>
                </a:solidFill>
                <a:latin typeface="Times New Roman"/>
                <a:ea typeface="Times New Roman"/>
              </a:rPr>
              <a:t>Кортеж</a:t>
            </a:r>
            <a:r>
              <a:rPr lang="en-US" sz="1800" noProof="1">
                <a:solidFill>
                  <a:srgbClr val="2B2B2B"/>
                </a:solidFill>
                <a:latin typeface="Times New Roman"/>
                <a:ea typeface="Times New Roman"/>
              </a:rPr>
              <a:t> — последовательность байтов (не обязательно непрерывных)</a:t>
            </a:r>
            <a:endParaRPr lang="en-US" sz="1800" noProof="1"/>
          </a:p>
          <a:p>
            <a:pPr>
              <a:lnSpc>
                <a:spcPct val="120000"/>
              </a:lnSpc>
            </a:pPr>
            <a:r>
              <a:rPr lang="en-US" sz="1800" noProof="1">
                <a:solidFill>
                  <a:srgbClr val="2B2B2B"/>
                </a:solidFill>
                <a:latin typeface="Times New Roman"/>
                <a:ea typeface="Times New Roman"/>
              </a:rPr>
              <a:t>Каждый кортеж начинается с заголовка (Tuple Header) c метаданными:</a:t>
            </a:r>
            <a:endParaRPr lang="en-US" sz="1800" noProof="1"/>
          </a:p>
          <a:p>
            <a:pPr marL="28575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1800" b="1" noProof="1">
                <a:solidFill>
                  <a:srgbClr val="2B2B2B"/>
                </a:solidFill>
                <a:latin typeface="Times New Roman"/>
                <a:ea typeface="Times New Roman"/>
              </a:rPr>
              <a:t>Информация о видимости </a:t>
            </a:r>
            <a:r>
              <a:rPr lang="en-US" sz="1800" noProof="1">
                <a:solidFill>
                  <a:srgbClr val="2B2B2B"/>
                </a:solidFill>
                <a:latin typeface="Times New Roman"/>
                <a:ea typeface="Times New Roman"/>
              </a:rPr>
              <a:t>для протокола MVCC</a:t>
            </a:r>
            <a:endParaRPr lang="en-US" sz="1800" noProof="1"/>
          </a:p>
          <a:p>
            <a:pPr marL="28575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1800" noProof="1">
                <a:solidFill>
                  <a:srgbClr val="2B2B2B"/>
                </a:solidFill>
                <a:latin typeface="Times New Roman"/>
                <a:ea typeface="Times New Roman"/>
              </a:rPr>
              <a:t>Битовая карта (</a:t>
            </a:r>
            <a:r>
              <a:rPr lang="en-US" sz="1800" b="1" noProof="1">
                <a:solidFill>
                  <a:srgbClr val="2B2B2B"/>
                </a:solidFill>
                <a:latin typeface="Times New Roman"/>
                <a:ea typeface="Times New Roman"/>
              </a:rPr>
              <a:t>bit map</a:t>
            </a:r>
            <a:r>
              <a:rPr lang="en-US" sz="1800" noProof="1">
                <a:solidFill>
                  <a:srgbClr val="2B2B2B"/>
                </a:solidFill>
                <a:latin typeface="Times New Roman"/>
                <a:ea typeface="Times New Roman"/>
              </a:rPr>
              <a:t>) NULL-значений</a:t>
            </a:r>
            <a:endParaRPr lang="en-US" sz="1800" noProof="1"/>
          </a:p>
          <a:p>
            <a:pPr>
              <a:lnSpc>
                <a:spcPts val="2700"/>
              </a:lnSpc>
            </a:pPr>
            <a:r>
              <a:rPr lang="en-US" sz="100" noProof="1">
                <a:solidFill>
                  <a:srgbClr val="2B2B2B"/>
                </a:solidFill>
                <a:latin typeface="Times New Roman"/>
                <a:ea typeface="Times New Roman"/>
              </a:rPr>
              <a:t> </a:t>
            </a:r>
            <a:endParaRPr lang="en-US" sz="1800" noProof="1"/>
          </a:p>
          <a:p>
            <a:pPr>
              <a:lnSpc>
                <a:spcPct val="120000"/>
              </a:lnSpc>
            </a:pPr>
            <a:r>
              <a:rPr lang="en-US" sz="1800" noProof="1">
                <a:solidFill>
                  <a:srgbClr val="2B2B2B"/>
                </a:solidFill>
                <a:latin typeface="Times New Roman"/>
                <a:ea typeface="Times New Roman"/>
              </a:rPr>
              <a:t>Атрибуты хранятся в порядке CREATE TABLE</a:t>
            </a:r>
            <a:endParaRPr lang="en-US" sz="1800" noProof="1"/>
          </a:p>
          <a:p>
            <a:pPr>
              <a:lnSpc>
                <a:spcPct val="120000"/>
              </a:lnSpc>
            </a:pPr>
            <a:r>
              <a:rPr lang="en-US" sz="1800" noProof="1">
                <a:solidFill>
                  <a:srgbClr val="2B2B2B"/>
                </a:solidFill>
                <a:latin typeface="Times New Roman"/>
                <a:ea typeface="Times New Roman"/>
              </a:rPr>
              <a:t>Должны быть выровнены (word aligned) — обычно по 64-битной границе</a:t>
            </a:r>
            <a:endParaRPr lang="en-US" sz="1800" noProof="1"/>
          </a:p>
        </p:txBody>
      </p:sp>
      <p:pic>
        <p:nvPicPr>
          <p:cNvPr id="5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160020" y="754380"/>
            <a:ext cx="11868150" cy="598551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>
                <a:solidFill>
                  <a:srgbClr val="1F4E79"/>
                </a:solidFill>
                <a:latin typeface="Calibri"/>
                <a:ea typeface="Calibri"/>
              </a:rPr>
              <a:t>Проблемы выравнивания (Alignment) и заполнители (Padding)</a:t>
            </a:r>
            <a:endParaRPr lang="en-US" sz="3000" noProof="1"/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6424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37871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noProof="1">
                <a:solidFill>
                  <a:srgbClr val="2B2B2B"/>
                </a:solidFill>
                <a:latin typeface="Times New Roman"/>
                <a:ea typeface="Times New Roman"/>
              </a:rPr>
              <a:t>При полях разного размера возникают переходы через границы машинных слов</a:t>
            </a:r>
            <a:endParaRPr lang="en-US" sz="2400" noProof="1"/>
          </a:p>
          <a:p>
            <a:pPr>
              <a:lnSpc>
                <a:spcPts val="3600"/>
              </a:lnSpc>
            </a:pPr>
            <a:r>
              <a:rPr lang="en-US" sz="100" noProof="1">
                <a:solidFill>
                  <a:srgbClr val="2B2B2B"/>
                </a:solidFill>
                <a:latin typeface="Times New Roman"/>
                <a:ea typeface="Times New Roman"/>
              </a:rPr>
              <a:t> </a:t>
            </a:r>
            <a:endParaRPr lang="en-US" sz="2400" noProof="1"/>
          </a:p>
          <a:p>
            <a:pPr>
              <a:lnSpc>
                <a:spcPct val="120000"/>
              </a:lnSpc>
            </a:pPr>
            <a:r>
              <a:rPr lang="en-US" sz="2400" b="1" noProof="1">
                <a:solidFill>
                  <a:srgbClr val="2B2B2B"/>
                </a:solidFill>
                <a:latin typeface="Times New Roman"/>
                <a:ea typeface="Times New Roman"/>
              </a:rPr>
              <a:t>Пример</a:t>
            </a:r>
            <a:r>
              <a:rPr lang="en-US" sz="2400" noProof="1">
                <a:solidFill>
                  <a:srgbClr val="2B2B2B"/>
                </a:solidFill>
                <a:latin typeface="Times New Roman"/>
                <a:ea typeface="Times New Roman"/>
              </a:rPr>
              <a:t>: 32-битное целое → 64-битная временная метка → 16-битный символ</a:t>
            </a:r>
            <a:endParaRPr lang="en-US" sz="2400" noProof="1"/>
          </a:p>
          <a:p>
            <a:pPr>
              <a:lnSpc>
                <a:spcPct val="120000"/>
              </a:lnSpc>
            </a:pPr>
            <a:r>
              <a:rPr lang="en-US" sz="2400" noProof="1">
                <a:solidFill>
                  <a:srgbClr val="2B2B2B"/>
                </a:solidFill>
                <a:latin typeface="Times New Roman"/>
                <a:ea typeface="Times New Roman"/>
              </a:rPr>
              <a:t>Без выравнивания доступ замедляется или вызывает ошибки</a:t>
            </a:r>
            <a:endParaRPr lang="en-US" sz="2400" noProof="1"/>
          </a:p>
          <a:p>
            <a:pPr>
              <a:lnSpc>
                <a:spcPts val="3600"/>
              </a:lnSpc>
            </a:pPr>
            <a:r>
              <a:rPr lang="en-US" sz="100" noProof="1">
                <a:solidFill>
                  <a:srgbClr val="2B2B2B"/>
                </a:solidFill>
                <a:latin typeface="Times New Roman"/>
                <a:ea typeface="Times New Roman"/>
              </a:rPr>
              <a:t> </a:t>
            </a:r>
            <a:endParaRPr lang="en-US" sz="2400" noProof="1"/>
          </a:p>
          <a:p>
            <a:pPr>
              <a:lnSpc>
                <a:spcPct val="120000"/>
              </a:lnSpc>
            </a:pPr>
            <a:r>
              <a:rPr lang="en-US" sz="2400" b="1" noProof="1">
                <a:solidFill>
                  <a:srgbClr val="2B2B2B"/>
                </a:solidFill>
                <a:latin typeface="Times New Roman"/>
                <a:ea typeface="Times New Roman"/>
              </a:rPr>
              <a:t>Решение</a:t>
            </a:r>
            <a:r>
              <a:rPr lang="en-US" sz="2400" noProof="1">
                <a:solidFill>
                  <a:srgbClr val="2B2B2B"/>
                </a:solidFill>
                <a:latin typeface="Times New Roman"/>
                <a:ea typeface="Times New Roman"/>
              </a:rPr>
              <a:t> — добавление </a:t>
            </a:r>
            <a:r>
              <a:rPr lang="en-US" sz="2400" b="1" noProof="1">
                <a:solidFill>
                  <a:srgbClr val="2B2B2B"/>
                </a:solidFill>
                <a:latin typeface="Times New Roman"/>
                <a:ea typeface="Times New Roman"/>
              </a:rPr>
              <a:t>padding</a:t>
            </a:r>
            <a:r>
              <a:rPr lang="en-US" sz="2400" noProof="1">
                <a:solidFill>
                  <a:srgbClr val="2B2B2B"/>
                </a:solidFill>
                <a:latin typeface="Times New Roman"/>
                <a:ea typeface="Times New Roman"/>
              </a:rPr>
              <a:t> (нулевых битов) после атрибутов.Для выравнивания следующего атрибута по нужной границе. </a:t>
            </a:r>
            <a:r>
              <a:rPr lang="en-US" sz="2400" b="1" noProof="1">
                <a:solidFill>
                  <a:srgbClr val="2B2B2B"/>
                </a:solidFill>
                <a:latin typeface="Times New Roman"/>
                <a:ea typeface="Times New Roman"/>
              </a:rPr>
              <a:t>Альтернатива</a:t>
            </a:r>
            <a:r>
              <a:rPr lang="en-US" sz="2400" noProof="1">
                <a:solidFill>
                  <a:srgbClr val="2B2B2B"/>
                </a:solidFill>
                <a:latin typeface="Times New Roman"/>
                <a:ea typeface="Times New Roman"/>
              </a:rPr>
              <a:t> — физически </a:t>
            </a:r>
            <a:r>
              <a:rPr lang="en-US" sz="2400" b="1" noProof="1">
                <a:solidFill>
                  <a:srgbClr val="2B2B2B"/>
                </a:solidFill>
                <a:latin typeface="Times New Roman"/>
                <a:ea typeface="Times New Roman"/>
              </a:rPr>
              <a:t>переупорядочить</a:t>
            </a:r>
            <a:r>
              <a:rPr lang="en-US" sz="2400" noProof="1">
                <a:solidFill>
                  <a:srgbClr val="2B2B2B"/>
                </a:solidFill>
                <a:latin typeface="Times New Roman"/>
                <a:ea typeface="Times New Roman"/>
              </a:rPr>
              <a:t> столбцы для плотной упаковки</a:t>
            </a:r>
            <a:endParaRPr lang="en-US" sz="2400" noProof="1"/>
          </a:p>
          <a:p>
            <a:pPr>
              <a:lnSpc>
                <a:spcPct val="120000"/>
              </a:lnSpc>
            </a:pPr>
            <a:r>
              <a:rPr lang="en-US" sz="2400" noProof="1">
                <a:solidFill>
                  <a:srgbClr val="2B2B2B"/>
                </a:solidFill>
                <a:latin typeface="Times New Roman"/>
                <a:ea typeface="Times New Roman"/>
              </a:rPr>
              <a:t>В коммерческих СУБД обычно используется padding</a:t>
            </a:r>
            <a:endParaRPr lang="en-US" sz="2400" noProof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1043920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>
                <a:solidFill>
                  <a:srgbClr val="1F4E79"/>
                </a:solidFill>
                <a:latin typeface="Calibri"/>
                <a:ea typeface="Calibri"/>
              </a:rPr>
              <a:t>Файлы таблицы в PostgreSQL</a:t>
            </a:r>
            <a:endParaRPr lang="en-US" sz="3000" noProof="1"/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6424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Label 1"/>
          <p:cNvSpPr txBox="1"/>
          <p:nvPr/>
        </p:nvSpPr>
        <p:spPr>
          <a:xfrm>
            <a:off x="635000" y="1422400"/>
            <a:ext cx="5461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1F4E79"/>
                </a:solidFill>
                <a:latin typeface="Calibri"/>
                <a:ea typeface="Calibri"/>
              </a:rPr>
              <a:t>Путь к основному файлу таблицы</a:t>
            </a:r>
            <a:endParaRPr lang="en-US" sz="1800" noProof="1"/>
          </a:p>
        </p:txBody>
      </p:sp>
      <p:sp>
        <p:nvSpPr>
          <p:cNvPr id="5" name="Code 1"/>
          <p:cNvSpPr txBox="1"/>
          <p:nvPr/>
        </p:nvSpPr>
        <p:spPr>
          <a:xfrm>
            <a:off x="635000" y="1752600"/>
            <a:ext cx="5461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2B2B2B"/>
                </a:solidFill>
                <a:latin typeface="JetBrains Mono"/>
                <a:ea typeface="JetBrains Mono"/>
              </a:rPr>
              <a:t>SELECT pg_relation_filepath('demo.bookings.flights');</a:t>
            </a:r>
            <a:endParaRPr lang="en-US" sz="1200" noProof="1"/>
          </a:p>
        </p:txBody>
      </p:sp>
      <p:sp>
        <p:nvSpPr>
          <p:cNvPr id="6" name="Label 2"/>
          <p:cNvSpPr txBox="1"/>
          <p:nvPr/>
        </p:nvSpPr>
        <p:spPr>
          <a:xfrm>
            <a:off x="635000" y="2387600"/>
            <a:ext cx="5461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1F4E79"/>
                </a:solidFill>
                <a:latin typeface="Calibri"/>
                <a:ea typeface="Calibri"/>
              </a:rPr>
              <a:t>Размер таблицы в байтах и в страницах (по 8 КБ)</a:t>
            </a:r>
            <a:endParaRPr lang="en-US" sz="1800" noProof="1"/>
          </a:p>
        </p:txBody>
      </p:sp>
      <p:sp>
        <p:nvSpPr>
          <p:cNvPr id="7" name="Code 2"/>
          <p:cNvSpPr txBox="1"/>
          <p:nvPr/>
        </p:nvSpPr>
        <p:spPr>
          <a:xfrm>
            <a:off x="635000" y="2717800"/>
            <a:ext cx="5461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2B2B2B"/>
                </a:solidFill>
                <a:latin typeface="JetBrains Mono"/>
                <a:ea typeface="JetBrains Mono"/>
              </a:rPr>
              <a:t>SELECT pg_relation_size('demo.bookings.flights') AS size_bytes,</a:t>
            </a:r>
            <a:endParaRPr lang="en-US" sz="1200" noProof="1"/>
          </a:p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2B2B2B"/>
                </a:solidFill>
                <a:latin typeface="JetBrains Mono"/>
                <a:ea typeface="JetBrains Mono"/>
              </a:rPr>
              <a:t>       pg_relation_size('demo.bookings.flights') / 8192 AS size_pages;</a:t>
            </a:r>
            <a:endParaRPr lang="en-US" sz="1200" noProof="1"/>
          </a:p>
        </p:txBody>
      </p:sp>
      <p:sp>
        <p:nvSpPr>
          <p:cNvPr id="8" name="Label 3"/>
          <p:cNvSpPr txBox="1"/>
          <p:nvPr/>
        </p:nvSpPr>
        <p:spPr>
          <a:xfrm>
            <a:off x="635000" y="3759200"/>
            <a:ext cx="5461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1F4E79"/>
                </a:solidFill>
                <a:latin typeface="Calibri"/>
                <a:ea typeface="Calibri"/>
              </a:rPr>
              <a:t>Информация о файле на диске</a:t>
            </a:r>
            <a:endParaRPr lang="en-US" sz="1800" noProof="1"/>
          </a:p>
        </p:txBody>
      </p:sp>
      <p:sp>
        <p:nvSpPr>
          <p:cNvPr id="9" name="Code 3"/>
          <p:cNvSpPr txBox="1"/>
          <p:nvPr/>
        </p:nvSpPr>
        <p:spPr>
          <a:xfrm>
            <a:off x="635000" y="4089400"/>
            <a:ext cx="5461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2B2B2B"/>
                </a:solidFill>
                <a:latin typeface="JetBrains Mono"/>
                <a:ea typeface="JetBrains Mono"/>
              </a:rPr>
              <a:t>SELECT (pg_stat_file(pg_relation_filepath(</a:t>
            </a:r>
            <a:endParaRPr lang="en-US" sz="1200" noProof="1"/>
          </a:p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2B2B2B"/>
                </a:solidFill>
                <a:latin typeface="JetBrains Mono"/>
                <a:ea typeface="JetBrains Mono"/>
              </a:rPr>
              <a:t>         'demo.bookings.flights'))).*;</a:t>
            </a:r>
            <a:endParaRPr lang="en-US" sz="1200" noProof="1"/>
          </a:p>
        </p:txBody>
      </p:sp>
      <p:sp>
        <p:nvSpPr>
          <p:cNvPr id="10" name="Note 4"/>
          <p:cNvSpPr txBox="1"/>
          <p:nvPr/>
        </p:nvSpPr>
        <p:spPr>
          <a:xfrm>
            <a:off x="635000" y="5080000"/>
            <a:ext cx="54610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Таблица — обычный файл в каталоге </a:t>
            </a:r>
            <a:r>
              <a:rPr lang="en-US" sz="1800" b="1" noProof="1">
                <a:solidFill>
                  <a:srgbClr val="2B2B2B"/>
                </a:solidFill>
                <a:latin typeface="Calibri"/>
                <a:ea typeface="Calibri"/>
              </a:rPr>
              <a:t>base/&lt;oid БД&gt;/&lt;relfilenode&gt;</a:t>
            </a:r>
            <a:endParaRPr lang="en-US" sz="1800" noProof="1"/>
          </a:p>
          <a:p>
            <a:pPr>
              <a:lnSpc>
                <a:spcPts val="1000"/>
              </a:lnSpc>
            </a:pPr>
            <a:r>
              <a:rPr lang="en-US" sz="100" noProof="1">
                <a:solidFill>
                  <a:srgbClr val="2B2B2B"/>
                </a:solidFill>
                <a:latin typeface="Calibri"/>
                <a:ea typeface="Calibri"/>
              </a:rPr>
              <a:t> </a:t>
            </a:r>
            <a:endParaRPr lang="en-US" sz="1800" noProof="1"/>
          </a:p>
          <a:p>
            <a:pPr>
              <a:lnSpc>
                <a:spcPct val="120000"/>
              </a:lnSpc>
            </a:pP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Файл разбит на страницы по </a:t>
            </a:r>
            <a:r>
              <a:rPr lang="en-US" sz="1800" b="1" noProof="1">
                <a:solidFill>
                  <a:srgbClr val="2B2B2B"/>
                </a:solidFill>
                <a:latin typeface="Calibri"/>
                <a:ea typeface="Calibri"/>
              </a:rPr>
              <a:t>8 КБ</a:t>
            </a: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: размер в байтах всегда кратен 8192</a:t>
            </a:r>
            <a:endParaRPr lang="en-US" sz="1800" noProof="1"/>
          </a:p>
        </p:txBody>
      </p:sp>
      <p:sp>
        <p:nvSpPr>
          <p:cNvPr id="11" name="Panel 5"/>
          <p:cNvSpPr/>
          <p:nvPr/>
        </p:nvSpPr>
        <p:spPr>
          <a:xfrm>
            <a:off x="6350000" y="1422400"/>
            <a:ext cx="5270500" cy="52070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12" name="Output 6"/>
          <p:cNvSpPr txBox="1"/>
          <p:nvPr/>
        </p:nvSpPr>
        <p:spPr>
          <a:xfrm>
            <a:off x="6553200" y="1574800"/>
            <a:ext cx="48895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200" noProof="1">
                <a:solidFill>
                  <a:srgbClr val="404040"/>
                </a:solidFill>
                <a:latin typeface="JetBrains Mono"/>
                <a:ea typeface="JetBrains Mono"/>
              </a:rPr>
              <a:t> pg_relation_filepath</a:t>
            </a:r>
            <a:endParaRPr lang="en-US" sz="1200" noProof="1"/>
          </a:p>
          <a:p>
            <a:pPr>
              <a:lnSpc>
                <a:spcPct val="125000"/>
              </a:lnSpc>
            </a:pPr>
            <a:r>
              <a:rPr lang="en-US" sz="1200" noProof="1">
                <a:solidFill>
                  <a:srgbClr val="404040"/>
                </a:solidFill>
                <a:latin typeface="JetBrains Mono"/>
                <a:ea typeface="JetBrains Mono"/>
              </a:rPr>
              <a:t>----------------------</a:t>
            </a:r>
            <a:endParaRPr lang="en-US" sz="1200" noProof="1"/>
          </a:p>
          <a:p>
            <a:pPr>
              <a:lnSpc>
                <a:spcPct val="125000"/>
              </a:lnSpc>
            </a:pPr>
            <a:r>
              <a:rPr lang="en-US" sz="1200" noProof="1">
                <a:solidFill>
                  <a:srgbClr val="404040"/>
                </a:solidFill>
                <a:latin typeface="JetBrains Mono"/>
                <a:ea typeface="JetBrains Mono"/>
              </a:rPr>
              <a:t> base/16384/16402</a:t>
            </a:r>
            <a:endParaRPr lang="en-US" sz="1200" noProof="1"/>
          </a:p>
          <a:p>
            <a:pPr>
              <a:lnSpc>
                <a:spcPct val="125000"/>
              </a:lnSpc>
            </a:pPr>
            <a:r>
              <a:rPr lang="en-US" sz="1200" noProof="1">
                <a:solidFill>
                  <a:srgbClr val="404040"/>
                </a:solidFill>
                <a:latin typeface="JetBrains Mono"/>
                <a:ea typeface="JetBrains Mono"/>
              </a:rPr>
              <a:t>(1 row)</a:t>
            </a:r>
            <a:endParaRPr lang="en-US" sz="1200" noProof="1"/>
          </a:p>
        </p:txBody>
      </p:sp>
      <p:sp>
        <p:nvSpPr>
          <p:cNvPr id="13" name="Output 7"/>
          <p:cNvSpPr txBox="1"/>
          <p:nvPr/>
        </p:nvSpPr>
        <p:spPr>
          <a:xfrm>
            <a:off x="6553200" y="2819400"/>
            <a:ext cx="4889500" cy="1168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200" noProof="1">
                <a:solidFill>
                  <a:srgbClr val="404040"/>
                </a:solidFill>
                <a:latin typeface="JetBrains Mono"/>
                <a:ea typeface="JetBrains Mono"/>
              </a:rPr>
              <a:t> size_bytes | size_pages</a:t>
            </a:r>
            <a:endParaRPr lang="en-US" sz="1200" noProof="1"/>
          </a:p>
          <a:p>
            <a:pPr>
              <a:lnSpc>
                <a:spcPct val="125000"/>
              </a:lnSpc>
            </a:pPr>
            <a:r>
              <a:rPr lang="en-US" sz="1200" noProof="1">
                <a:solidFill>
                  <a:srgbClr val="404040"/>
                </a:solidFill>
                <a:latin typeface="JetBrains Mono"/>
                <a:ea typeface="JetBrains Mono"/>
              </a:rPr>
              <a:t>------------+------------</a:t>
            </a:r>
            <a:endParaRPr lang="en-US" sz="1200" noProof="1"/>
          </a:p>
          <a:p>
            <a:pPr>
              <a:lnSpc>
                <a:spcPct val="125000"/>
              </a:lnSpc>
            </a:pPr>
            <a:r>
              <a:rPr lang="en-US" sz="1200" noProof="1">
                <a:solidFill>
                  <a:srgbClr val="404040"/>
                </a:solidFill>
                <a:latin typeface="JetBrains Mono"/>
                <a:ea typeface="JetBrains Mono"/>
              </a:rPr>
              <a:t>    3481600 |        425</a:t>
            </a:r>
            <a:endParaRPr lang="en-US" sz="1200" noProof="1"/>
          </a:p>
          <a:p>
            <a:pPr>
              <a:lnSpc>
                <a:spcPct val="125000"/>
              </a:lnSpc>
            </a:pPr>
            <a:r>
              <a:rPr lang="en-US" sz="1200" noProof="1">
                <a:solidFill>
                  <a:srgbClr val="404040"/>
                </a:solidFill>
                <a:latin typeface="JetBrains Mono"/>
                <a:ea typeface="JetBrains Mono"/>
              </a:rPr>
              <a:t>(1 row)</a:t>
            </a:r>
            <a:endParaRPr lang="en-US" sz="1200" noProof="1"/>
          </a:p>
        </p:txBody>
      </p:sp>
      <p:sp>
        <p:nvSpPr>
          <p:cNvPr id="14" name="Output 8"/>
          <p:cNvSpPr txBox="1"/>
          <p:nvPr/>
        </p:nvSpPr>
        <p:spPr>
          <a:xfrm>
            <a:off x="6553200" y="4191000"/>
            <a:ext cx="4889500" cy="223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200" noProof="1">
                <a:solidFill>
                  <a:srgbClr val="404040"/>
                </a:solidFill>
                <a:latin typeface="JetBrains Mono"/>
                <a:ea typeface="JetBrains Mono"/>
              </a:rPr>
              <a:t>-[ RECORD 1 ]-------------------</a:t>
            </a:r>
            <a:endParaRPr lang="en-US" sz="1200" noProof="1"/>
          </a:p>
          <a:p>
            <a:pPr>
              <a:lnSpc>
                <a:spcPct val="125000"/>
              </a:lnSpc>
            </a:pPr>
            <a:r>
              <a:rPr lang="en-US" sz="1200" noProof="1">
                <a:solidFill>
                  <a:srgbClr val="404040"/>
                </a:solidFill>
                <a:latin typeface="JetBrains Mono"/>
                <a:ea typeface="JetBrains Mono"/>
              </a:rPr>
              <a:t>size         | 3481600</a:t>
            </a:r>
            <a:endParaRPr lang="en-US" sz="1200" noProof="1"/>
          </a:p>
          <a:p>
            <a:pPr>
              <a:lnSpc>
                <a:spcPct val="125000"/>
              </a:lnSpc>
            </a:pPr>
            <a:r>
              <a:rPr lang="en-US" sz="1200" noProof="1">
                <a:solidFill>
                  <a:srgbClr val="404040"/>
                </a:solidFill>
                <a:latin typeface="JetBrains Mono"/>
                <a:ea typeface="JetBrains Mono"/>
              </a:rPr>
              <a:t>access       | 2026-09-20 10:15:32+03</a:t>
            </a:r>
            <a:endParaRPr lang="en-US" sz="1200" noProof="1"/>
          </a:p>
          <a:p>
            <a:pPr>
              <a:lnSpc>
                <a:spcPct val="125000"/>
              </a:lnSpc>
            </a:pPr>
            <a:r>
              <a:rPr lang="en-US" sz="1200" noProof="1">
                <a:solidFill>
                  <a:srgbClr val="404040"/>
                </a:solidFill>
                <a:latin typeface="JetBrains Mono"/>
                <a:ea typeface="JetBrains Mono"/>
              </a:rPr>
              <a:t>modification | 2026-09-18 22:41:07+03</a:t>
            </a:r>
            <a:endParaRPr lang="en-US" sz="1200" noProof="1"/>
          </a:p>
          <a:p>
            <a:pPr>
              <a:lnSpc>
                <a:spcPct val="125000"/>
              </a:lnSpc>
            </a:pPr>
            <a:r>
              <a:rPr lang="en-US" sz="1200" noProof="1">
                <a:solidFill>
                  <a:srgbClr val="404040"/>
                </a:solidFill>
                <a:latin typeface="JetBrains Mono"/>
                <a:ea typeface="JetBrains Mono"/>
              </a:rPr>
              <a:t>change       | 2026-09-18 22:41:07+03</a:t>
            </a:r>
            <a:endParaRPr lang="en-US" sz="1200" noProof="1"/>
          </a:p>
          <a:p>
            <a:pPr>
              <a:lnSpc>
                <a:spcPct val="125000"/>
              </a:lnSpc>
            </a:pPr>
            <a:r>
              <a:rPr lang="en-US" sz="1200" noProof="1">
                <a:solidFill>
                  <a:srgbClr val="404040"/>
                </a:solidFill>
                <a:latin typeface="JetBrains Mono"/>
                <a:ea typeface="JetBrains Mono"/>
              </a:rPr>
              <a:t>creation     |</a:t>
            </a:r>
            <a:endParaRPr lang="en-US" sz="1200" noProof="1"/>
          </a:p>
          <a:p>
            <a:pPr>
              <a:lnSpc>
                <a:spcPct val="125000"/>
              </a:lnSpc>
            </a:pPr>
            <a:r>
              <a:rPr lang="en-US" sz="1200" noProof="1">
                <a:solidFill>
                  <a:srgbClr val="404040"/>
                </a:solidFill>
                <a:latin typeface="JetBrains Mono"/>
                <a:ea typeface="JetBrains Mono"/>
              </a:rPr>
              <a:t>isdir        | f</a:t>
            </a:r>
            <a:endParaRPr lang="en-US" sz="1200" noProof="1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1043920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>
                <a:solidFill>
                  <a:srgbClr val="1F4E79"/>
                </a:solidFill>
                <a:latin typeface="Calibri"/>
                <a:ea typeface="Calibri"/>
              </a:rPr>
              <a:t>Slotted Pages в PostgreSQL: заголовок страницы и массив слотов</a:t>
            </a:r>
            <a:endParaRPr lang="en-US" sz="3000" noProof="1"/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6424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Intro 3"/>
          <p:cNvSpPr txBox="1"/>
          <p:nvPr/>
        </p:nvSpPr>
        <p:spPr>
          <a:xfrm>
            <a:off x="635000" y="1346200"/>
            <a:ext cx="10922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Функции инспекции страниц предоставляет расширение </a:t>
            </a:r>
            <a:r>
              <a:rPr lang="en-US" sz="1400" noProof="1">
                <a:solidFill>
                  <a:srgbClr val="2B2B2B"/>
                </a:solidFill>
                <a:latin typeface="JetBrains Mono"/>
                <a:ea typeface="JetBrains Mono"/>
              </a:rPr>
              <a:t>CREATE EXTENSION pageinspect;</a:t>
            </a:r>
            <a:endParaRPr lang="en-US" sz="1800" noProof="1"/>
          </a:p>
        </p:txBody>
      </p:sp>
      <p:sp>
        <p:nvSpPr>
          <p:cNvPr id="5" name="Label 4"/>
          <p:cNvSpPr txBox="1"/>
          <p:nvPr/>
        </p:nvSpPr>
        <p:spPr>
          <a:xfrm>
            <a:off x="635000" y="1752600"/>
            <a:ext cx="5461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1F4E79"/>
                </a:solidFill>
                <a:latin typeface="Calibri"/>
                <a:ea typeface="Calibri"/>
              </a:rPr>
              <a:t>Заголовок страницы (page_header)</a:t>
            </a:r>
            <a:endParaRPr lang="en-US" sz="1800" noProof="1"/>
          </a:p>
        </p:txBody>
      </p:sp>
      <p:sp>
        <p:nvSpPr>
          <p:cNvPr id="6" name="Code 5"/>
          <p:cNvSpPr txBox="1"/>
          <p:nvPr/>
        </p:nvSpPr>
        <p:spPr>
          <a:xfrm>
            <a:off x="635000" y="20828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2B2B2B"/>
                </a:solidFill>
                <a:latin typeface="JetBrains Mono"/>
                <a:ea typeface="JetBrains Mono"/>
              </a:rPr>
              <a:t>-- lower: конец массива слотов,</a:t>
            </a:r>
            <a:endParaRPr lang="en-US" sz="1200" noProof="1"/>
          </a:p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2B2B2B"/>
                </a:solidFill>
                <a:latin typeface="JetBrains Mono"/>
                <a:ea typeface="JetBrains Mono"/>
              </a:rPr>
              <a:t>-- upper: начало данных кортежей</a:t>
            </a:r>
            <a:endParaRPr lang="en-US" sz="1200" noProof="1"/>
          </a:p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2B2B2B"/>
                </a:solidFill>
                <a:latin typeface="JetBrains Mono"/>
                <a:ea typeface="JetBrains Mono"/>
              </a:rPr>
              <a:t>SELECT * FROM page_header(</a:t>
            </a:r>
            <a:endParaRPr lang="en-US" sz="1200" noProof="1"/>
          </a:p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2B2B2B"/>
                </a:solidFill>
                <a:latin typeface="JetBrains Mono"/>
                <a:ea typeface="JetBrains Mono"/>
              </a:rPr>
              <a:t>  get_raw_page('demo.bookings.flights', 0));</a:t>
            </a:r>
            <a:endParaRPr lang="en-US" sz="1200" noProof="1"/>
          </a:p>
        </p:txBody>
      </p:sp>
      <p:sp>
        <p:nvSpPr>
          <p:cNvPr id="7" name="Panel 6"/>
          <p:cNvSpPr/>
          <p:nvPr/>
        </p:nvSpPr>
        <p:spPr>
          <a:xfrm>
            <a:off x="635000" y="3048000"/>
            <a:ext cx="5461000" cy="254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8" name="Output 7"/>
          <p:cNvSpPr txBox="1"/>
          <p:nvPr/>
        </p:nvSpPr>
        <p:spPr>
          <a:xfrm>
            <a:off x="812800" y="3175000"/>
            <a:ext cx="5143500" cy="2349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200" noProof="1">
                <a:solidFill>
                  <a:srgbClr val="404040"/>
                </a:solidFill>
                <a:latin typeface="JetBrains Mono"/>
                <a:ea typeface="JetBrains Mono"/>
              </a:rPr>
              <a:t>-[ RECORD 1 ]</a:t>
            </a:r>
            <a:endParaRPr lang="en-US" sz="1200" noProof="1"/>
          </a:p>
          <a:p>
            <a:pPr>
              <a:lnSpc>
                <a:spcPct val="125000"/>
              </a:lnSpc>
            </a:pPr>
            <a:r>
              <a:rPr lang="en-US" sz="1200" noProof="1">
                <a:solidFill>
                  <a:srgbClr val="404040"/>
                </a:solidFill>
                <a:latin typeface="JetBrains Mono"/>
                <a:ea typeface="JetBrains Mono"/>
              </a:rPr>
              <a:t>lsn       | 0/19F2A88</a:t>
            </a:r>
            <a:endParaRPr lang="en-US" sz="1200" noProof="1"/>
          </a:p>
          <a:p>
            <a:pPr>
              <a:lnSpc>
                <a:spcPct val="125000"/>
              </a:lnSpc>
            </a:pPr>
            <a:r>
              <a:rPr lang="en-US" sz="1200" noProof="1">
                <a:solidFill>
                  <a:srgbClr val="404040"/>
                </a:solidFill>
                <a:latin typeface="JetBrains Mono"/>
                <a:ea typeface="JetBrains Mono"/>
              </a:rPr>
              <a:t>checksum  | 0</a:t>
            </a:r>
            <a:endParaRPr lang="en-US" sz="1200" noProof="1"/>
          </a:p>
          <a:p>
            <a:pPr>
              <a:lnSpc>
                <a:spcPct val="125000"/>
              </a:lnSpc>
            </a:pPr>
            <a:r>
              <a:rPr lang="en-US" sz="1200" noProof="1">
                <a:solidFill>
                  <a:srgbClr val="404040"/>
                </a:solidFill>
                <a:latin typeface="JetBrains Mono"/>
                <a:ea typeface="JetBrains Mono"/>
              </a:rPr>
              <a:t>flags     | 0</a:t>
            </a:r>
            <a:endParaRPr lang="en-US" sz="1200" noProof="1"/>
          </a:p>
          <a:p>
            <a:pPr>
              <a:lnSpc>
                <a:spcPct val="125000"/>
              </a:lnSpc>
            </a:pPr>
            <a:r>
              <a:rPr lang="en-US" sz="1200" noProof="1">
                <a:solidFill>
                  <a:srgbClr val="404040"/>
                </a:solidFill>
                <a:latin typeface="JetBrains Mono"/>
                <a:ea typeface="JetBrains Mono"/>
              </a:rPr>
              <a:t>lower     | 336</a:t>
            </a:r>
            <a:endParaRPr lang="en-US" sz="1200" noProof="1"/>
          </a:p>
          <a:p>
            <a:pPr>
              <a:lnSpc>
                <a:spcPct val="125000"/>
              </a:lnSpc>
            </a:pPr>
            <a:r>
              <a:rPr lang="en-US" sz="1200" noProof="1">
                <a:solidFill>
                  <a:srgbClr val="404040"/>
                </a:solidFill>
                <a:latin typeface="JetBrains Mono"/>
                <a:ea typeface="JetBrains Mono"/>
              </a:rPr>
              <a:t>upper     | 3264</a:t>
            </a:r>
            <a:endParaRPr lang="en-US" sz="1200" noProof="1"/>
          </a:p>
          <a:p>
            <a:pPr>
              <a:lnSpc>
                <a:spcPct val="125000"/>
              </a:lnSpc>
            </a:pPr>
            <a:r>
              <a:rPr lang="en-US" sz="1200" noProof="1">
                <a:solidFill>
                  <a:srgbClr val="404040"/>
                </a:solidFill>
                <a:latin typeface="JetBrains Mono"/>
                <a:ea typeface="JetBrains Mono"/>
              </a:rPr>
              <a:t>special   | 8192</a:t>
            </a:r>
            <a:endParaRPr lang="en-US" sz="1200" noProof="1"/>
          </a:p>
          <a:p>
            <a:pPr>
              <a:lnSpc>
                <a:spcPct val="125000"/>
              </a:lnSpc>
            </a:pPr>
            <a:r>
              <a:rPr lang="en-US" sz="1200" noProof="1">
                <a:solidFill>
                  <a:srgbClr val="404040"/>
                </a:solidFill>
                <a:latin typeface="JetBrains Mono"/>
                <a:ea typeface="JetBrains Mono"/>
              </a:rPr>
              <a:t>pagesize  | 8192</a:t>
            </a:r>
            <a:endParaRPr lang="en-US" sz="1200" noProof="1"/>
          </a:p>
          <a:p>
            <a:pPr>
              <a:lnSpc>
                <a:spcPct val="125000"/>
              </a:lnSpc>
            </a:pPr>
            <a:r>
              <a:rPr lang="en-US" sz="1200" noProof="1">
                <a:solidFill>
                  <a:srgbClr val="404040"/>
                </a:solidFill>
                <a:latin typeface="JetBrains Mono"/>
                <a:ea typeface="JetBrains Mono"/>
              </a:rPr>
              <a:t>version   | 4</a:t>
            </a:r>
            <a:endParaRPr lang="en-US" sz="1200" noProof="1"/>
          </a:p>
          <a:p>
            <a:pPr>
              <a:lnSpc>
                <a:spcPct val="125000"/>
              </a:lnSpc>
            </a:pPr>
            <a:r>
              <a:rPr lang="en-US" sz="1200" noProof="1">
                <a:solidFill>
                  <a:srgbClr val="404040"/>
                </a:solidFill>
                <a:latin typeface="JetBrains Mono"/>
                <a:ea typeface="JetBrains Mono"/>
              </a:rPr>
              <a:t>prune_xid | 0</a:t>
            </a:r>
            <a:endParaRPr lang="en-US" sz="1200" noProof="1"/>
          </a:p>
        </p:txBody>
      </p:sp>
      <p:sp>
        <p:nvSpPr>
          <p:cNvPr id="9" name="Note 8"/>
          <p:cNvSpPr txBox="1"/>
          <p:nvPr/>
        </p:nvSpPr>
        <p:spPr>
          <a:xfrm>
            <a:off x="635000" y="5740400"/>
            <a:ext cx="5461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2B2B2B"/>
                </a:solidFill>
                <a:latin typeface="Calibri"/>
                <a:ea typeface="Calibri"/>
              </a:rPr>
              <a:t>lower = 336</a:t>
            </a: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 = 24 байта заголовка + 4 байта × 78 слотов</a:t>
            </a:r>
            <a:endParaRPr lang="en-US" sz="1800" noProof="1"/>
          </a:p>
          <a:p>
            <a:pPr>
              <a:lnSpc>
                <a:spcPct val="120000"/>
              </a:lnSpc>
            </a:pP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Когда </a:t>
            </a:r>
            <a:r>
              <a:rPr lang="en-US" sz="1800" b="1" noProof="1">
                <a:solidFill>
                  <a:srgbClr val="2B2B2B"/>
                </a:solidFill>
                <a:latin typeface="Calibri"/>
                <a:ea typeface="Calibri"/>
              </a:rPr>
              <a:t>lower == upper</a:t>
            </a: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, страница заполнена</a:t>
            </a:r>
            <a:endParaRPr lang="en-US" sz="1800" noProof="1"/>
          </a:p>
        </p:txBody>
      </p:sp>
      <p:sp>
        <p:nvSpPr>
          <p:cNvPr id="10" name="Label 9"/>
          <p:cNvSpPr txBox="1"/>
          <p:nvPr/>
        </p:nvSpPr>
        <p:spPr>
          <a:xfrm>
            <a:off x="6413500" y="1610264"/>
            <a:ext cx="5207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1F4E79"/>
                </a:solidFill>
                <a:latin typeface="Calibri"/>
                <a:ea typeface="Calibri"/>
              </a:rPr>
              <a:t>Слоты страницы (heap_page_items)</a:t>
            </a:r>
            <a:endParaRPr lang="en-US" sz="1800" noProof="1"/>
          </a:p>
        </p:txBody>
      </p:sp>
      <p:sp>
        <p:nvSpPr>
          <p:cNvPr id="11" name="Code 10"/>
          <p:cNvSpPr txBox="1"/>
          <p:nvPr/>
        </p:nvSpPr>
        <p:spPr>
          <a:xfrm>
            <a:off x="6413500" y="1930400"/>
            <a:ext cx="5207000" cy="1168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2B2B2B"/>
                </a:solidFill>
                <a:latin typeface="JetBrains Mono"/>
                <a:ea typeface="JetBrains Mono"/>
              </a:rPr>
              <a:t>-- lp: номер слота, lp_off: смещение кортежа,</a:t>
            </a:r>
            <a:endParaRPr lang="en-US" sz="1100" noProof="1"/>
          </a:p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2B2B2B"/>
                </a:solidFill>
                <a:latin typeface="JetBrains Mono"/>
                <a:ea typeface="JetBrains Mono"/>
              </a:rPr>
              <a:t>-- lp_flags: 0=unused, 1=normal,</a:t>
            </a:r>
            <a:endParaRPr lang="en-US" sz="1100" noProof="1"/>
          </a:p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2B2B2B"/>
                </a:solidFill>
                <a:latin typeface="JetBrains Mono"/>
                <a:ea typeface="JetBrains Mono"/>
              </a:rPr>
              <a:t>--            2=redirect, 3=dead</a:t>
            </a:r>
            <a:endParaRPr lang="en-US" sz="1100" noProof="1"/>
          </a:p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2B2B2B"/>
                </a:solidFill>
                <a:latin typeface="JetBrains Mono"/>
                <a:ea typeface="JetBrains Mono"/>
              </a:rPr>
              <a:t>SELECT lp, lp_off, lp_flags, lp_len</a:t>
            </a:r>
            <a:endParaRPr lang="en-US" sz="1100" noProof="1"/>
          </a:p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2B2B2B"/>
                </a:solidFill>
                <a:latin typeface="JetBrains Mono"/>
                <a:ea typeface="JetBrains Mono"/>
              </a:rPr>
              <a:t>FROM heap_page_items(</a:t>
            </a:r>
            <a:endParaRPr lang="en-US" sz="1100" noProof="1"/>
          </a:p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2B2B2B"/>
                </a:solidFill>
                <a:latin typeface="JetBrains Mono"/>
                <a:ea typeface="JetBrains Mono"/>
              </a:rPr>
              <a:t>  get_raw_page('demo.bookings.flights', 0))</a:t>
            </a:r>
            <a:endParaRPr lang="en-US" sz="1100" noProof="1"/>
          </a:p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2B2B2B"/>
                </a:solidFill>
                <a:latin typeface="JetBrains Mono"/>
                <a:ea typeface="JetBrains Mono"/>
              </a:rPr>
              <a:t>ORDER BY lp;</a:t>
            </a:r>
            <a:endParaRPr lang="en-US" sz="1100" noProof="1"/>
          </a:p>
        </p:txBody>
      </p:sp>
      <p:sp>
        <p:nvSpPr>
          <p:cNvPr id="12" name="Panel 11"/>
          <p:cNvSpPr/>
          <p:nvPr/>
        </p:nvSpPr>
        <p:spPr>
          <a:xfrm>
            <a:off x="6413500" y="3403600"/>
            <a:ext cx="5207000" cy="22352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13" name="Output 12"/>
          <p:cNvSpPr txBox="1"/>
          <p:nvPr/>
        </p:nvSpPr>
        <p:spPr>
          <a:xfrm>
            <a:off x="6591300" y="3530600"/>
            <a:ext cx="4889500" cy="203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200" noProof="1">
                <a:solidFill>
                  <a:srgbClr val="404040"/>
                </a:solidFill>
                <a:latin typeface="JetBrains Mono"/>
                <a:ea typeface="JetBrains Mono"/>
              </a:rPr>
              <a:t> lp | lp_off | lp_flags | lp_len</a:t>
            </a:r>
            <a:endParaRPr lang="en-US" sz="1200" noProof="1"/>
          </a:p>
          <a:p>
            <a:pPr>
              <a:lnSpc>
                <a:spcPct val="125000"/>
              </a:lnSpc>
            </a:pPr>
            <a:r>
              <a:rPr lang="en-US" sz="1200" noProof="1">
                <a:solidFill>
                  <a:srgbClr val="404040"/>
                </a:solidFill>
                <a:latin typeface="JetBrains Mono"/>
                <a:ea typeface="JetBrains Mono"/>
              </a:rPr>
              <a:t>----+--------+----------+--------</a:t>
            </a:r>
            <a:endParaRPr lang="en-US" sz="1200" noProof="1"/>
          </a:p>
          <a:p>
            <a:pPr>
              <a:lnSpc>
                <a:spcPct val="125000"/>
              </a:lnSpc>
            </a:pPr>
            <a:r>
              <a:rPr lang="en-US" sz="1200" noProof="1">
                <a:solidFill>
                  <a:srgbClr val="404040"/>
                </a:solidFill>
                <a:latin typeface="JetBrains Mono"/>
                <a:ea typeface="JetBrains Mono"/>
              </a:rPr>
              <a:t>  1 |   8080 |        1 |    112</a:t>
            </a:r>
            <a:endParaRPr lang="en-US" sz="1200" noProof="1"/>
          </a:p>
          <a:p>
            <a:pPr>
              <a:lnSpc>
                <a:spcPct val="125000"/>
              </a:lnSpc>
            </a:pPr>
            <a:r>
              <a:rPr lang="en-US" sz="1200" noProof="1">
                <a:solidFill>
                  <a:srgbClr val="404040"/>
                </a:solidFill>
                <a:latin typeface="JetBrains Mono"/>
                <a:ea typeface="JetBrains Mono"/>
              </a:rPr>
              <a:t>  2 |   7964 |        1 |    116</a:t>
            </a:r>
            <a:endParaRPr lang="en-US" sz="1200" noProof="1"/>
          </a:p>
          <a:p>
            <a:pPr>
              <a:lnSpc>
                <a:spcPct val="125000"/>
              </a:lnSpc>
            </a:pPr>
            <a:r>
              <a:rPr lang="en-US" sz="1200" noProof="1">
                <a:solidFill>
                  <a:srgbClr val="404040"/>
                </a:solidFill>
                <a:latin typeface="JetBrains Mono"/>
                <a:ea typeface="JetBrains Mono"/>
              </a:rPr>
              <a:t>  3 |   7848 |        1 |    116</a:t>
            </a:r>
            <a:endParaRPr lang="en-US" sz="1200" noProof="1"/>
          </a:p>
          <a:p>
            <a:pPr>
              <a:lnSpc>
                <a:spcPct val="125000"/>
              </a:lnSpc>
            </a:pPr>
            <a:r>
              <a:rPr lang="en-US" sz="1200" noProof="1">
                <a:solidFill>
                  <a:srgbClr val="404040"/>
                </a:solidFill>
                <a:latin typeface="JetBrains Mono"/>
                <a:ea typeface="JetBrains Mono"/>
              </a:rPr>
              <a:t>  4 |   7736 |        1 |    112</a:t>
            </a:r>
            <a:endParaRPr lang="en-US" sz="1200" noProof="1"/>
          </a:p>
          <a:p>
            <a:pPr>
              <a:lnSpc>
                <a:spcPct val="125000"/>
              </a:lnSpc>
            </a:pPr>
            <a:r>
              <a:rPr lang="en-US" sz="1200" noProof="1">
                <a:solidFill>
                  <a:srgbClr val="404040"/>
                </a:solidFill>
                <a:latin typeface="JetBrains Mono"/>
                <a:ea typeface="JetBrains Mono"/>
              </a:rPr>
              <a:t>  5 |   7624 |        1 |    112</a:t>
            </a:r>
            <a:endParaRPr lang="en-US" sz="1200" noProof="1"/>
          </a:p>
          <a:p>
            <a:pPr>
              <a:lnSpc>
                <a:spcPct val="125000"/>
              </a:lnSpc>
            </a:pPr>
            <a:r>
              <a:rPr lang="en-US" sz="1200" noProof="1">
                <a:solidFill>
                  <a:srgbClr val="404040"/>
                </a:solidFill>
                <a:latin typeface="JetBrains Mono"/>
                <a:ea typeface="JetBrains Mono"/>
              </a:rPr>
              <a:t> ...</a:t>
            </a:r>
            <a:endParaRPr lang="en-US" sz="1200" noProof="1"/>
          </a:p>
        </p:txBody>
      </p:sp>
      <p:sp>
        <p:nvSpPr>
          <p:cNvPr id="14" name="Note 13"/>
          <p:cNvSpPr txBox="1"/>
          <p:nvPr/>
        </p:nvSpPr>
        <p:spPr>
          <a:xfrm>
            <a:off x="6413500" y="5740400"/>
            <a:ext cx="5207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Массив слотов растёт </a:t>
            </a:r>
            <a:r>
              <a:rPr lang="en-US" sz="1800" b="1" noProof="1">
                <a:solidFill>
                  <a:srgbClr val="2B2B2B"/>
                </a:solidFill>
                <a:latin typeface="Calibri"/>
                <a:ea typeface="Calibri"/>
              </a:rPr>
              <a:t>от начала</a:t>
            </a: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 страницы, кортежи — </a:t>
            </a:r>
            <a:r>
              <a:rPr lang="en-US" sz="1800" b="1" noProof="1">
                <a:solidFill>
                  <a:srgbClr val="2B2B2B"/>
                </a:solidFill>
                <a:latin typeface="Calibri"/>
                <a:ea typeface="Calibri"/>
              </a:rPr>
              <a:t>от конца</a:t>
            </a: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 навстречу</a:t>
            </a:r>
            <a:endParaRPr lang="en-US" sz="1800" noProof="1"/>
          </a:p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2B2B2B"/>
                </a:solidFill>
                <a:latin typeface="Calibri"/>
                <a:ea typeface="Calibri"/>
              </a:rPr>
              <a:t>lp_off</a:t>
            </a: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 показывает, где в странице лежат данные кортежа</a:t>
            </a:r>
            <a:endParaRPr lang="en-US" sz="1800" noProof="1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1043920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>
                <a:solidFill>
                  <a:srgbClr val="1F4E79"/>
                </a:solidFill>
                <a:latin typeface="Calibri"/>
                <a:ea typeface="Calibri"/>
              </a:rPr>
              <a:t>Заголовок кортежа и разбор данных в PostgreSQL</a:t>
            </a:r>
            <a:endParaRPr lang="en-US" sz="3000" noProof="1"/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6424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Code 3"/>
          <p:cNvSpPr txBox="1"/>
          <p:nvPr/>
        </p:nvSpPr>
        <p:spPr>
          <a:xfrm>
            <a:off x="635000" y="1422400"/>
            <a:ext cx="571500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2B2B2B"/>
                </a:solidFill>
                <a:latin typeface="JetBrains Mono"/>
                <a:ea typeface="JetBrains Mono"/>
              </a:rPr>
              <a:t>-- Полный заголовок кортежа + сырые данные</a:t>
            </a:r>
            <a:endParaRPr lang="en-US" sz="1200" noProof="1"/>
          </a:p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2B2B2B"/>
                </a:solidFill>
                <a:latin typeface="JetBrains Mono"/>
                <a:ea typeface="JetBrains Mono"/>
              </a:rPr>
              <a:t>SELECT lp, t_xmin, t_xmax, t_field3, t_ctid,</a:t>
            </a:r>
            <a:endParaRPr lang="en-US" sz="1200" noProof="1"/>
          </a:p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2B2B2B"/>
                </a:solidFill>
                <a:latin typeface="JetBrains Mono"/>
                <a:ea typeface="JetBrains Mono"/>
              </a:rPr>
              <a:t>       t_infomask, t_infomask2, t_hoff,</a:t>
            </a:r>
            <a:endParaRPr lang="en-US" sz="1200" noProof="1"/>
          </a:p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2B2B2B"/>
                </a:solidFill>
                <a:latin typeface="JetBrains Mono"/>
                <a:ea typeface="JetBrains Mono"/>
              </a:rPr>
              <a:t>       t_bits, t_data</a:t>
            </a:r>
            <a:endParaRPr lang="en-US" sz="1200" noProof="1"/>
          </a:p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2B2B2B"/>
                </a:solidFill>
                <a:latin typeface="JetBrains Mono"/>
                <a:ea typeface="JetBrains Mono"/>
              </a:rPr>
              <a:t>FROM heap_page_items(</a:t>
            </a:r>
            <a:endParaRPr lang="en-US" sz="1200" noProof="1"/>
          </a:p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2B2B2B"/>
                </a:solidFill>
                <a:latin typeface="JetBrains Mono"/>
                <a:ea typeface="JetBrains Mono"/>
              </a:rPr>
              <a:t>  get_raw_page('demo.bookings.flights', 0))</a:t>
            </a:r>
            <a:endParaRPr lang="en-US" sz="1200" noProof="1"/>
          </a:p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2B2B2B"/>
                </a:solidFill>
                <a:latin typeface="JetBrains Mono"/>
                <a:ea typeface="JetBrains Mono"/>
              </a:rPr>
              <a:t>ORDER BY lp;</a:t>
            </a:r>
            <a:endParaRPr lang="en-US" sz="1200" noProof="1"/>
          </a:p>
        </p:txBody>
      </p:sp>
      <p:sp>
        <p:nvSpPr>
          <p:cNvPr id="5" name="Legend 4"/>
          <p:cNvSpPr txBox="1"/>
          <p:nvPr/>
        </p:nvSpPr>
        <p:spPr>
          <a:xfrm>
            <a:off x="635000" y="3530600"/>
            <a:ext cx="5715000" cy="317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15000"/>
              </a:lnSpc>
            </a:pPr>
            <a:r>
              <a:rPr lang="en-US" sz="1700" b="1" noProof="1">
                <a:solidFill>
                  <a:srgbClr val="1F4E79"/>
                </a:solidFill>
                <a:latin typeface="Calibri"/>
                <a:ea typeface="Calibri"/>
              </a:rPr>
              <a:t>Поля заголовка кортежа:</a:t>
            </a:r>
            <a:endParaRPr lang="en-US" sz="1700" noProof="1"/>
          </a:p>
          <a:p>
            <a:pPr>
              <a:lnSpc>
                <a:spcPct val="115000"/>
              </a:lnSpc>
            </a:pPr>
            <a:r>
              <a:rPr lang="en-US" sz="1700" noProof="1">
                <a:solidFill>
                  <a:srgbClr val="2B2B2B"/>
                </a:solidFill>
                <a:latin typeface="Calibri"/>
                <a:ea typeface="Calibri"/>
              </a:rPr>
              <a:t>• </a:t>
            </a:r>
            <a:r>
              <a:rPr lang="en-US" sz="1700" b="1" noProof="1">
                <a:solidFill>
                  <a:srgbClr val="2B2B2B"/>
                </a:solidFill>
                <a:latin typeface="Calibri"/>
                <a:ea typeface="Calibri"/>
              </a:rPr>
              <a:t>t_xmin, t_xmax</a:t>
            </a:r>
            <a:r>
              <a:rPr lang="en-US" sz="1700" noProof="1">
                <a:solidFill>
                  <a:srgbClr val="2B2B2B"/>
                </a:solidFill>
                <a:latin typeface="Calibri"/>
                <a:ea typeface="Calibri"/>
              </a:rPr>
              <a:t> — транзакции, создавшая и удалившая версию (MVCC)</a:t>
            </a:r>
            <a:endParaRPr lang="en-US" sz="1700" noProof="1"/>
          </a:p>
          <a:p>
            <a:pPr>
              <a:lnSpc>
                <a:spcPct val="115000"/>
              </a:lnSpc>
            </a:pPr>
            <a:r>
              <a:rPr lang="en-US" sz="1700" noProof="1">
                <a:solidFill>
                  <a:srgbClr val="2B2B2B"/>
                </a:solidFill>
                <a:latin typeface="Calibri"/>
                <a:ea typeface="Calibri"/>
              </a:rPr>
              <a:t>• </a:t>
            </a:r>
            <a:r>
              <a:rPr lang="en-US" sz="1700" b="1" noProof="1">
                <a:solidFill>
                  <a:srgbClr val="2B2B2B"/>
                </a:solidFill>
                <a:latin typeface="Calibri"/>
                <a:ea typeface="Calibri"/>
              </a:rPr>
              <a:t>t_field3</a:t>
            </a:r>
            <a:r>
              <a:rPr lang="en-US" sz="1700" noProof="1">
                <a:solidFill>
                  <a:srgbClr val="2B2B2B"/>
                </a:solidFill>
                <a:latin typeface="Calibri"/>
                <a:ea typeface="Calibri"/>
              </a:rPr>
              <a:t> — cmin/cmax (упакованы)</a:t>
            </a:r>
            <a:endParaRPr lang="en-US" sz="1700" noProof="1"/>
          </a:p>
          <a:p>
            <a:pPr>
              <a:lnSpc>
                <a:spcPct val="115000"/>
              </a:lnSpc>
            </a:pPr>
            <a:r>
              <a:rPr lang="en-US" sz="1700" noProof="1">
                <a:solidFill>
                  <a:srgbClr val="2B2B2B"/>
                </a:solidFill>
                <a:latin typeface="Calibri"/>
                <a:ea typeface="Calibri"/>
              </a:rPr>
              <a:t>• </a:t>
            </a:r>
            <a:r>
              <a:rPr lang="en-US" sz="1700" b="1" noProof="1">
                <a:solidFill>
                  <a:srgbClr val="2B2B2B"/>
                </a:solidFill>
                <a:latin typeface="Calibri"/>
                <a:ea typeface="Calibri"/>
              </a:rPr>
              <a:t>t_ctid</a:t>
            </a:r>
            <a:r>
              <a:rPr lang="en-US" sz="1700" noProof="1">
                <a:solidFill>
                  <a:srgbClr val="2B2B2B"/>
                </a:solidFill>
                <a:latin typeface="Calibri"/>
                <a:ea typeface="Calibri"/>
              </a:rPr>
              <a:t> — текущий ctid этой версии кортежа</a:t>
            </a:r>
            <a:endParaRPr lang="en-US" sz="1700" noProof="1"/>
          </a:p>
          <a:p>
            <a:pPr>
              <a:lnSpc>
                <a:spcPct val="115000"/>
              </a:lnSpc>
            </a:pPr>
            <a:r>
              <a:rPr lang="en-US" sz="1700" noProof="1">
                <a:solidFill>
                  <a:srgbClr val="2B2B2B"/>
                </a:solidFill>
                <a:latin typeface="Calibri"/>
                <a:ea typeface="Calibri"/>
              </a:rPr>
              <a:t>• </a:t>
            </a:r>
            <a:r>
              <a:rPr lang="en-US" sz="1700" b="1" noProof="1">
                <a:solidFill>
                  <a:srgbClr val="2B2B2B"/>
                </a:solidFill>
                <a:latin typeface="Calibri"/>
                <a:ea typeface="Calibri"/>
              </a:rPr>
              <a:t>t_infomask</a:t>
            </a:r>
            <a:r>
              <a:rPr lang="en-US" sz="1700" noProof="1">
                <a:solidFill>
                  <a:srgbClr val="2B2B2B"/>
                </a:solidFill>
                <a:latin typeface="Calibri"/>
                <a:ea typeface="Calibri"/>
              </a:rPr>
              <a:t> — битовые флаги (видимость, NULL)</a:t>
            </a:r>
            <a:endParaRPr lang="en-US" sz="1700" noProof="1"/>
          </a:p>
          <a:p>
            <a:pPr>
              <a:lnSpc>
                <a:spcPct val="115000"/>
              </a:lnSpc>
            </a:pPr>
            <a:r>
              <a:rPr lang="en-US" sz="1700" noProof="1">
                <a:solidFill>
                  <a:srgbClr val="2B2B2B"/>
                </a:solidFill>
                <a:latin typeface="Calibri"/>
                <a:ea typeface="Calibri"/>
              </a:rPr>
              <a:t>• </a:t>
            </a:r>
            <a:r>
              <a:rPr lang="en-US" sz="1700" b="1" noProof="1">
                <a:solidFill>
                  <a:srgbClr val="2B2B2B"/>
                </a:solidFill>
                <a:latin typeface="Calibri"/>
                <a:ea typeface="Calibri"/>
              </a:rPr>
              <a:t>t_infomask2</a:t>
            </a:r>
            <a:r>
              <a:rPr lang="en-US" sz="1700" noProof="1">
                <a:solidFill>
                  <a:srgbClr val="2B2B2B"/>
                </a:solidFill>
                <a:latin typeface="Calibri"/>
                <a:ea typeface="Calibri"/>
              </a:rPr>
              <a:t> — число атрибутов и пр.</a:t>
            </a:r>
            <a:endParaRPr lang="en-US" sz="1700" noProof="1"/>
          </a:p>
          <a:p>
            <a:pPr>
              <a:lnSpc>
                <a:spcPct val="115000"/>
              </a:lnSpc>
            </a:pPr>
            <a:r>
              <a:rPr lang="en-US" sz="1700" noProof="1">
                <a:solidFill>
                  <a:srgbClr val="2B2B2B"/>
                </a:solidFill>
                <a:latin typeface="Calibri"/>
                <a:ea typeface="Calibri"/>
              </a:rPr>
              <a:t>• </a:t>
            </a:r>
            <a:r>
              <a:rPr lang="en-US" sz="1700" b="1" noProof="1">
                <a:solidFill>
                  <a:srgbClr val="2B2B2B"/>
                </a:solidFill>
                <a:latin typeface="Calibri"/>
                <a:ea typeface="Calibri"/>
              </a:rPr>
              <a:t>t_hoff</a:t>
            </a:r>
            <a:r>
              <a:rPr lang="en-US" sz="1700" noProof="1">
                <a:solidFill>
                  <a:srgbClr val="2B2B2B"/>
                </a:solidFill>
                <a:latin typeface="Calibri"/>
                <a:ea typeface="Calibri"/>
              </a:rPr>
              <a:t> — смещение начала данных</a:t>
            </a:r>
            <a:endParaRPr lang="en-US" sz="1700" noProof="1"/>
          </a:p>
          <a:p>
            <a:pPr>
              <a:lnSpc>
                <a:spcPct val="115000"/>
              </a:lnSpc>
            </a:pPr>
            <a:r>
              <a:rPr lang="en-US" sz="1700" noProof="1">
                <a:solidFill>
                  <a:srgbClr val="2B2B2B"/>
                </a:solidFill>
                <a:latin typeface="Calibri"/>
                <a:ea typeface="Calibri"/>
              </a:rPr>
              <a:t>• </a:t>
            </a:r>
            <a:r>
              <a:rPr lang="en-US" sz="1700" b="1" noProof="1">
                <a:solidFill>
                  <a:srgbClr val="2B2B2B"/>
                </a:solidFill>
                <a:latin typeface="Calibri"/>
                <a:ea typeface="Calibri"/>
              </a:rPr>
              <a:t>t_bits</a:t>
            </a:r>
            <a:r>
              <a:rPr lang="en-US" sz="1700" noProof="1">
                <a:solidFill>
                  <a:srgbClr val="2B2B2B"/>
                </a:solidFill>
                <a:latin typeface="Calibri"/>
                <a:ea typeface="Calibri"/>
              </a:rPr>
              <a:t> — битовая карта NULL-значений</a:t>
            </a:r>
            <a:endParaRPr lang="en-US" sz="1700" noProof="1"/>
          </a:p>
        </p:txBody>
      </p:sp>
      <p:sp>
        <p:nvSpPr>
          <p:cNvPr id="6" name="Panel 5"/>
          <p:cNvSpPr/>
          <p:nvPr/>
        </p:nvSpPr>
        <p:spPr>
          <a:xfrm>
            <a:off x="6540500" y="1422400"/>
            <a:ext cx="5080000" cy="27940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7" name="Output 6"/>
          <p:cNvSpPr txBox="1"/>
          <p:nvPr/>
        </p:nvSpPr>
        <p:spPr>
          <a:xfrm>
            <a:off x="6705600" y="1549400"/>
            <a:ext cx="3956649" cy="20478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200" noProof="1">
                <a:solidFill>
                  <a:srgbClr val="404040"/>
                </a:solidFill>
                <a:latin typeface="JetBrains Mono"/>
                <a:ea typeface="JetBrains Mono"/>
              </a:rPr>
              <a:t>-[ RECORD 1 ]---------------------</a:t>
            </a:r>
            <a:endParaRPr lang="en-US" sz="1200" noProof="1"/>
          </a:p>
          <a:p>
            <a:pPr>
              <a:lnSpc>
                <a:spcPct val="125000"/>
              </a:lnSpc>
            </a:pPr>
            <a:r>
              <a:rPr lang="en-US" sz="1200" noProof="1">
                <a:solidFill>
                  <a:srgbClr val="404040"/>
                </a:solidFill>
                <a:latin typeface="JetBrains Mono"/>
                <a:ea typeface="JetBrains Mono"/>
              </a:rPr>
              <a:t>lp          | 1</a:t>
            </a:r>
            <a:endParaRPr lang="en-US" sz="1200" noProof="1"/>
          </a:p>
          <a:p>
            <a:pPr>
              <a:lnSpc>
                <a:spcPct val="125000"/>
              </a:lnSpc>
            </a:pPr>
            <a:r>
              <a:rPr lang="en-US" sz="1200" noProof="1">
                <a:solidFill>
                  <a:srgbClr val="404040"/>
                </a:solidFill>
                <a:latin typeface="JetBrains Mono"/>
                <a:ea typeface="JetBrains Mono"/>
              </a:rPr>
              <a:t>t_xmin      | 51234</a:t>
            </a:r>
            <a:endParaRPr lang="en-US" sz="1200" noProof="1"/>
          </a:p>
          <a:p>
            <a:pPr>
              <a:lnSpc>
                <a:spcPct val="125000"/>
              </a:lnSpc>
            </a:pPr>
            <a:r>
              <a:rPr lang="en-US" sz="1200" noProof="1">
                <a:solidFill>
                  <a:srgbClr val="404040"/>
                </a:solidFill>
                <a:latin typeface="JetBrains Mono"/>
                <a:ea typeface="JetBrains Mono"/>
              </a:rPr>
              <a:t>t_xmax      | 0</a:t>
            </a:r>
            <a:endParaRPr lang="en-US" sz="1200" noProof="1"/>
          </a:p>
          <a:p>
            <a:pPr>
              <a:lnSpc>
                <a:spcPct val="125000"/>
              </a:lnSpc>
            </a:pPr>
            <a:r>
              <a:rPr lang="en-US" sz="1200" noProof="1">
                <a:solidFill>
                  <a:srgbClr val="404040"/>
                </a:solidFill>
                <a:latin typeface="JetBrains Mono"/>
                <a:ea typeface="JetBrains Mono"/>
              </a:rPr>
              <a:t>t_field3    | 0</a:t>
            </a:r>
            <a:endParaRPr lang="en-US" sz="1200" noProof="1"/>
          </a:p>
          <a:p>
            <a:pPr>
              <a:lnSpc>
                <a:spcPct val="125000"/>
              </a:lnSpc>
            </a:pPr>
            <a:r>
              <a:rPr lang="en-US" sz="1200" noProof="1">
                <a:solidFill>
                  <a:srgbClr val="404040"/>
                </a:solidFill>
                <a:latin typeface="JetBrains Mono"/>
                <a:ea typeface="JetBrains Mono"/>
              </a:rPr>
              <a:t>t_ctid      | (0,1)</a:t>
            </a:r>
            <a:endParaRPr lang="en-US" sz="1200" noProof="1"/>
          </a:p>
          <a:p>
            <a:pPr>
              <a:lnSpc>
                <a:spcPct val="125000"/>
              </a:lnSpc>
            </a:pPr>
            <a:r>
              <a:rPr lang="en-US" sz="1200" noProof="1">
                <a:solidFill>
                  <a:srgbClr val="404040"/>
                </a:solidFill>
                <a:latin typeface="JetBrains Mono"/>
                <a:ea typeface="JetBrains Mono"/>
              </a:rPr>
              <a:t>t_infomask  | 2304</a:t>
            </a:r>
            <a:endParaRPr lang="en-US" sz="1200" noProof="1"/>
          </a:p>
          <a:p>
            <a:pPr>
              <a:lnSpc>
                <a:spcPct val="125000"/>
              </a:lnSpc>
            </a:pPr>
            <a:r>
              <a:rPr lang="en-US" sz="1200" noProof="1">
                <a:solidFill>
                  <a:srgbClr val="404040"/>
                </a:solidFill>
                <a:latin typeface="JetBrains Mono"/>
                <a:ea typeface="JetBrains Mono"/>
              </a:rPr>
              <a:t>t_infomask2 | 10</a:t>
            </a:r>
            <a:endParaRPr lang="en-US" sz="1200" noProof="1"/>
          </a:p>
          <a:p>
            <a:pPr>
              <a:lnSpc>
                <a:spcPct val="125000"/>
              </a:lnSpc>
            </a:pPr>
            <a:r>
              <a:rPr lang="en-US" sz="1200" noProof="1">
                <a:solidFill>
                  <a:srgbClr val="404040"/>
                </a:solidFill>
                <a:latin typeface="JetBrains Mono"/>
                <a:ea typeface="JetBrains Mono"/>
              </a:rPr>
              <a:t>t_hoff      | 24</a:t>
            </a:r>
            <a:endParaRPr lang="en-US" sz="1200" noProof="1"/>
          </a:p>
          <a:p>
            <a:pPr>
              <a:lnSpc>
                <a:spcPct val="125000"/>
              </a:lnSpc>
            </a:pPr>
            <a:r>
              <a:rPr lang="en-US" sz="1200" noProof="1">
                <a:solidFill>
                  <a:srgbClr val="404040"/>
                </a:solidFill>
                <a:latin typeface="JetBrains Mono"/>
                <a:ea typeface="JetBrains Mono"/>
              </a:rPr>
              <a:t>t_bits      |</a:t>
            </a:r>
            <a:endParaRPr lang="en-US" sz="1200" noProof="1"/>
          </a:p>
          <a:p>
            <a:pPr>
              <a:lnSpc>
                <a:spcPct val="125000"/>
              </a:lnSpc>
            </a:pPr>
            <a:r>
              <a:rPr lang="en-US" sz="1200" noProof="1">
                <a:solidFill>
                  <a:srgbClr val="404040"/>
                </a:solidFill>
                <a:latin typeface="JetBrains Mono"/>
                <a:ea typeface="JetBrains Mono"/>
              </a:rPr>
              <a:t>t_data      | \x3930000050473030...</a:t>
            </a:r>
            <a:endParaRPr lang="en-US" sz="1200" noProof="1"/>
          </a:p>
        </p:txBody>
      </p:sp>
      <p:sp>
        <p:nvSpPr>
          <p:cNvPr id="8" name="Code 7"/>
          <p:cNvSpPr txBox="1"/>
          <p:nvPr/>
        </p:nvSpPr>
        <p:spPr>
          <a:xfrm>
            <a:off x="6532880" y="4308703"/>
            <a:ext cx="50800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2B2B2B"/>
                </a:solidFill>
                <a:latin typeface="JetBrains Mono"/>
                <a:ea typeface="JetBrains Mono"/>
              </a:rPr>
              <a:t>-- Разбор данных кортежа по атрибутам</a:t>
            </a:r>
            <a:endParaRPr lang="en-US" sz="1100" noProof="1"/>
          </a:p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2B2B2B"/>
                </a:solidFill>
                <a:latin typeface="JetBrains Mono"/>
                <a:ea typeface="JetBrains Mono"/>
              </a:rPr>
              <a:t>SELECT lp, t_ctid,</a:t>
            </a:r>
            <a:endParaRPr lang="en-US" sz="1100" noProof="1"/>
          </a:p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2B2B2B"/>
                </a:solidFill>
                <a:latin typeface="JetBrains Mono"/>
                <a:ea typeface="JetBrains Mono"/>
              </a:rPr>
              <a:t>  tuple_data_split('demo.bookings.flights'::regclass,</a:t>
            </a:r>
            <a:endParaRPr lang="en-US" sz="1100" noProof="1"/>
          </a:p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2B2B2B"/>
                </a:solidFill>
                <a:latin typeface="JetBrains Mono"/>
                <a:ea typeface="JetBrains Mono"/>
              </a:rPr>
              <a:t>    t_data, t_infomask, t_infomask2, t_bits) AS attributes</a:t>
            </a:r>
            <a:endParaRPr lang="en-US" sz="1100" noProof="1"/>
          </a:p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2B2B2B"/>
                </a:solidFill>
                <a:latin typeface="JetBrains Mono"/>
                <a:ea typeface="JetBrains Mono"/>
              </a:rPr>
              <a:t>FROM heap_page_items(</a:t>
            </a:r>
            <a:endParaRPr lang="en-US" sz="1100" noProof="1"/>
          </a:p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2B2B2B"/>
                </a:solidFill>
                <a:latin typeface="JetBrains Mono"/>
                <a:ea typeface="JetBrains Mono"/>
              </a:rPr>
              <a:t>  get_raw_page('demo.bookings.flights', 0))</a:t>
            </a:r>
            <a:endParaRPr lang="en-US" sz="1100" noProof="1"/>
          </a:p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2B2B2B"/>
                </a:solidFill>
                <a:latin typeface="JetBrains Mono"/>
                <a:ea typeface="JetBrains Mono"/>
              </a:rPr>
              <a:t>ORDER BY lp;</a:t>
            </a:r>
            <a:endParaRPr lang="en-US" sz="1100" noProof="1"/>
          </a:p>
        </p:txBody>
      </p:sp>
      <p:sp>
        <p:nvSpPr>
          <p:cNvPr id="9" name="Panel 8"/>
          <p:cNvSpPr/>
          <p:nvPr/>
        </p:nvSpPr>
        <p:spPr>
          <a:xfrm>
            <a:off x="6540500" y="5740400"/>
            <a:ext cx="508000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10" name="Output 9"/>
          <p:cNvSpPr txBox="1"/>
          <p:nvPr/>
        </p:nvSpPr>
        <p:spPr>
          <a:xfrm>
            <a:off x="6705600" y="5842000"/>
            <a:ext cx="48006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100" noProof="1">
                <a:solidFill>
                  <a:srgbClr val="404040"/>
                </a:solidFill>
                <a:latin typeface="JetBrains Mono"/>
                <a:ea typeface="JetBrains Mono"/>
              </a:rPr>
              <a:t> lp | t_ctid | attributes</a:t>
            </a:r>
            <a:endParaRPr lang="en-US" sz="1100" noProof="1"/>
          </a:p>
          <a:p>
            <a:pPr>
              <a:lnSpc>
                <a:spcPct val="125000"/>
              </a:lnSpc>
            </a:pPr>
            <a:r>
              <a:rPr lang="en-US" sz="1100" noProof="1">
                <a:solidFill>
                  <a:srgbClr val="404040"/>
                </a:solidFill>
                <a:latin typeface="JetBrains Mono"/>
                <a:ea typeface="JetBrains Mono"/>
              </a:rPr>
              <a:t>----+--------+-------------------------------</a:t>
            </a:r>
            <a:endParaRPr lang="en-US" sz="1100" noProof="1"/>
          </a:p>
          <a:p>
            <a:pPr>
              <a:lnSpc>
                <a:spcPct val="125000"/>
              </a:lnSpc>
            </a:pPr>
            <a:r>
              <a:rPr lang="en-US" sz="1100" noProof="1">
                <a:solidFill>
                  <a:srgbClr val="404040"/>
                </a:solidFill>
                <a:latin typeface="JetBrains Mono"/>
                <a:ea typeface="JetBrains Mono"/>
              </a:rPr>
              <a:t>  1 | (0,1)  | {12345,PG0001,"2026-09-20 ...}</a:t>
            </a:r>
            <a:endParaRPr lang="en-US" sz="1100" noProof="1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1043920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>
                <a:solidFill>
                  <a:srgbClr val="1F4E79"/>
                </a:solidFill>
                <a:latin typeface="Calibri"/>
                <a:ea typeface="Calibri"/>
              </a:rPr>
              <a:t>MVCC на практике: версии строк на странице</a:t>
            </a:r>
            <a:endParaRPr lang="en-US" sz="3000" noProof="1"/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6424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Intro 3"/>
          <p:cNvSpPr txBox="1"/>
          <p:nvPr/>
        </p:nvSpPr>
        <p:spPr>
          <a:xfrm>
            <a:off x="635000" y="1397000"/>
            <a:ext cx="109220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noProof="1">
                <a:solidFill>
                  <a:srgbClr val="2B2B2B"/>
                </a:solidFill>
                <a:latin typeface="Calibri"/>
                <a:ea typeface="Calibri"/>
              </a:rPr>
              <a:t>Каждая версия строки — отдельный физический кортеж: </a:t>
            </a:r>
            <a:r>
              <a:rPr lang="en-US" sz="2000" b="1" noProof="1">
                <a:solidFill>
                  <a:srgbClr val="2B2B2B"/>
                </a:solidFill>
                <a:latin typeface="Calibri"/>
                <a:ea typeface="Calibri"/>
              </a:rPr>
              <a:t>xmin</a:t>
            </a:r>
            <a:r>
              <a:rPr lang="en-US" sz="2000" noProof="1">
                <a:solidFill>
                  <a:srgbClr val="2B2B2B"/>
                </a:solidFill>
                <a:latin typeface="Calibri"/>
                <a:ea typeface="Calibri"/>
              </a:rPr>
              <a:t> — транзакция, создавшая версию, </a:t>
            </a:r>
            <a:r>
              <a:rPr lang="en-US" sz="2000" b="1" noProof="1">
                <a:solidFill>
                  <a:srgbClr val="2B2B2B"/>
                </a:solidFill>
                <a:latin typeface="Calibri"/>
                <a:ea typeface="Calibri"/>
              </a:rPr>
              <a:t>xmax</a:t>
            </a:r>
            <a:r>
              <a:rPr lang="en-US" sz="2000" noProof="1">
                <a:solidFill>
                  <a:srgbClr val="2B2B2B"/>
                </a:solidFill>
                <a:latin typeface="Calibri"/>
                <a:ea typeface="Calibri"/>
              </a:rPr>
              <a:t> — транзакция, удалившая или изменившая её</a:t>
            </a:r>
            <a:endParaRPr lang="en-US" sz="2000" noProof="1"/>
          </a:p>
          <a:p>
            <a:pPr>
              <a:lnSpc>
                <a:spcPct val="120000"/>
              </a:lnSpc>
            </a:pPr>
            <a:r>
              <a:rPr lang="en-US" sz="2000" noProof="1">
                <a:solidFill>
                  <a:srgbClr val="2B2B2B"/>
                </a:solidFill>
                <a:latin typeface="Calibri"/>
                <a:ea typeface="Calibri"/>
              </a:rPr>
              <a:t>Сценарий: вставить строку, обновить её и посмотреть обе версии на странице</a:t>
            </a:r>
            <a:endParaRPr lang="en-US" sz="2000" noProof="1"/>
          </a:p>
        </p:txBody>
      </p:sp>
      <p:sp>
        <p:nvSpPr>
          <p:cNvPr id="5" name="Code 4"/>
          <p:cNvSpPr txBox="1"/>
          <p:nvPr/>
        </p:nvSpPr>
        <p:spPr>
          <a:xfrm>
            <a:off x="635000" y="2641600"/>
            <a:ext cx="58420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2B2B2B"/>
                </a:solidFill>
                <a:latin typeface="JetBrains Mono"/>
                <a:ea typeface="JetBrains Mono"/>
              </a:rPr>
              <a:t>-- Смотрим физическую страницу:</a:t>
            </a:r>
            <a:endParaRPr lang="en-US" sz="1200" noProof="1"/>
          </a:p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2B2B2B"/>
                </a:solidFill>
                <a:latin typeface="JetBrains Mono"/>
                <a:ea typeface="JetBrains Mono"/>
              </a:rPr>
              <a:t>-- видны обе версии строки</a:t>
            </a:r>
            <a:endParaRPr lang="en-US" sz="1200" noProof="1"/>
          </a:p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2B2B2B"/>
                </a:solidFill>
                <a:latin typeface="JetBrains Mono"/>
                <a:ea typeface="JetBrains Mono"/>
              </a:rPr>
              <a:t>SELECT lp, t_xmin, t_xmax, t_ctid, t_data</a:t>
            </a:r>
            <a:endParaRPr lang="en-US" sz="1200" noProof="1"/>
          </a:p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2B2B2B"/>
                </a:solidFill>
                <a:latin typeface="JetBrains Mono"/>
                <a:ea typeface="JetBrains Mono"/>
              </a:rPr>
              <a:t>FROM heap_page_items(</a:t>
            </a:r>
            <a:endParaRPr lang="en-US" sz="1200" noProof="1"/>
          </a:p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2B2B2B"/>
                </a:solidFill>
                <a:latin typeface="JetBrains Mono"/>
                <a:ea typeface="JetBrains Mono"/>
              </a:rPr>
              <a:t>  get_raw_page('demo.bookings.flights', 0))</a:t>
            </a:r>
            <a:endParaRPr lang="en-US" sz="1200" noProof="1"/>
          </a:p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2B2B2B"/>
                </a:solidFill>
                <a:latin typeface="JetBrains Mono"/>
                <a:ea typeface="JetBrains Mono"/>
              </a:rPr>
              <a:t>WHERE lp IN (1, 2)</a:t>
            </a:r>
            <a:endParaRPr lang="en-US" sz="1200" noProof="1"/>
          </a:p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2B2B2B"/>
                </a:solidFill>
                <a:latin typeface="JetBrains Mono"/>
                <a:ea typeface="JetBrains Mono"/>
              </a:rPr>
              <a:t>ORDER BY lp;</a:t>
            </a:r>
            <a:endParaRPr lang="en-US" sz="1200" noProof="1"/>
          </a:p>
        </p:txBody>
      </p:sp>
      <p:sp>
        <p:nvSpPr>
          <p:cNvPr id="6" name="Panel 5"/>
          <p:cNvSpPr/>
          <p:nvPr/>
        </p:nvSpPr>
        <p:spPr>
          <a:xfrm>
            <a:off x="635000" y="4470400"/>
            <a:ext cx="5842000" cy="13970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7" name="Output 6"/>
          <p:cNvSpPr txBox="1"/>
          <p:nvPr/>
        </p:nvSpPr>
        <p:spPr>
          <a:xfrm>
            <a:off x="812800" y="4597400"/>
            <a:ext cx="5524500" cy="1206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200" noProof="1">
                <a:solidFill>
                  <a:srgbClr val="404040"/>
                </a:solidFill>
                <a:latin typeface="JetBrains Mono"/>
                <a:ea typeface="JetBrains Mono"/>
              </a:rPr>
              <a:t> lp | t_xmin | t_xmax | t_ctid | t_data</a:t>
            </a:r>
            <a:endParaRPr lang="en-US" sz="1200" noProof="1"/>
          </a:p>
          <a:p>
            <a:pPr>
              <a:lnSpc>
                <a:spcPct val="125000"/>
              </a:lnSpc>
            </a:pPr>
            <a:r>
              <a:rPr lang="en-US" sz="1200" noProof="1">
                <a:solidFill>
                  <a:srgbClr val="404040"/>
                </a:solidFill>
                <a:latin typeface="JetBrains Mono"/>
                <a:ea typeface="JetBrains Mono"/>
              </a:rPr>
              <a:t>----+--------+--------+--------+------------------</a:t>
            </a:r>
            <a:endParaRPr lang="en-US" sz="1200" noProof="1"/>
          </a:p>
          <a:p>
            <a:pPr>
              <a:lnSpc>
                <a:spcPct val="125000"/>
              </a:lnSpc>
            </a:pPr>
            <a:r>
              <a:rPr lang="en-US" sz="1200" noProof="1">
                <a:solidFill>
                  <a:srgbClr val="404040"/>
                </a:solidFill>
                <a:latin typeface="JetBrains Mono"/>
                <a:ea typeface="JetBrains Mono"/>
              </a:rPr>
              <a:t>  1 |  51234 |  51235 | (0,2)  | \x39300000...</a:t>
            </a:r>
            <a:endParaRPr lang="en-US" sz="1200" noProof="1"/>
          </a:p>
          <a:p>
            <a:pPr>
              <a:lnSpc>
                <a:spcPct val="125000"/>
              </a:lnSpc>
            </a:pPr>
            <a:r>
              <a:rPr lang="en-US" sz="1200" noProof="1">
                <a:solidFill>
                  <a:srgbClr val="404040"/>
                </a:solidFill>
                <a:latin typeface="JetBrains Mono"/>
                <a:ea typeface="JetBrains Mono"/>
              </a:rPr>
              <a:t>  2 |  51235 |      0 | (0,2)  | \x39300000...</a:t>
            </a:r>
            <a:endParaRPr lang="en-US" sz="1200" noProof="1"/>
          </a:p>
        </p:txBody>
      </p:sp>
      <p:sp>
        <p:nvSpPr>
          <p:cNvPr id="8" name="Note 7"/>
          <p:cNvSpPr txBox="1"/>
          <p:nvPr/>
        </p:nvSpPr>
        <p:spPr>
          <a:xfrm>
            <a:off x="6858000" y="2641600"/>
            <a:ext cx="4762500" cy="401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1F4E79"/>
                </a:solidFill>
                <a:latin typeface="Calibri"/>
                <a:ea typeface="Calibri"/>
              </a:rPr>
              <a:t>Что видно на странице:</a:t>
            </a:r>
            <a:endParaRPr lang="en-US" sz="1800" noProof="1"/>
          </a:p>
          <a:p>
            <a:pPr>
              <a:lnSpc>
                <a:spcPts val="1000"/>
              </a:lnSpc>
            </a:pPr>
            <a:r>
              <a:rPr lang="en-US" sz="100" noProof="1">
                <a:solidFill>
                  <a:srgbClr val="2B2B2B"/>
                </a:solidFill>
                <a:latin typeface="Calibri"/>
                <a:ea typeface="Calibri"/>
              </a:rPr>
              <a:t> </a:t>
            </a:r>
            <a:endParaRPr lang="en-US" sz="1800" noProof="1"/>
          </a:p>
          <a:p>
            <a:pPr>
              <a:lnSpc>
                <a:spcPct val="120000"/>
              </a:lnSpc>
            </a:pP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• Старая версия (</a:t>
            </a:r>
            <a:r>
              <a:rPr lang="en-US" sz="1800" b="1" noProof="1">
                <a:solidFill>
                  <a:srgbClr val="2B2B2B"/>
                </a:solidFill>
                <a:latin typeface="Calibri"/>
                <a:ea typeface="Calibri"/>
              </a:rPr>
              <a:t>lp 1</a:t>
            </a: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): </a:t>
            </a:r>
            <a:r>
              <a:rPr lang="en-US" sz="1800" b="1" noProof="1">
                <a:solidFill>
                  <a:srgbClr val="2B2B2B"/>
                </a:solidFill>
                <a:latin typeface="Calibri"/>
                <a:ea typeface="Calibri"/>
              </a:rPr>
              <a:t>xmax = 51235</a:t>
            </a: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 — версию изменила транзакция обновления</a:t>
            </a:r>
            <a:endParaRPr lang="en-US" sz="1800" noProof="1"/>
          </a:p>
          <a:p>
            <a:pPr>
              <a:lnSpc>
                <a:spcPts val="1000"/>
              </a:lnSpc>
            </a:pPr>
            <a:r>
              <a:rPr lang="en-US" sz="100" noProof="1">
                <a:solidFill>
                  <a:srgbClr val="2B2B2B"/>
                </a:solidFill>
                <a:latin typeface="Calibri"/>
                <a:ea typeface="Calibri"/>
              </a:rPr>
              <a:t> </a:t>
            </a:r>
            <a:endParaRPr lang="en-US" sz="1800" noProof="1"/>
          </a:p>
          <a:p>
            <a:pPr>
              <a:lnSpc>
                <a:spcPct val="120000"/>
              </a:lnSpc>
            </a:pP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• Её </a:t>
            </a:r>
            <a:r>
              <a:rPr lang="en-US" sz="1800" b="1" noProof="1">
                <a:solidFill>
                  <a:srgbClr val="2B2B2B"/>
                </a:solidFill>
                <a:latin typeface="Calibri"/>
                <a:ea typeface="Calibri"/>
              </a:rPr>
              <a:t>t_ctid = (0,2)</a:t>
            </a: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 указывает на новую версию строки</a:t>
            </a:r>
            <a:endParaRPr lang="en-US" sz="1800" noProof="1"/>
          </a:p>
          <a:p>
            <a:pPr>
              <a:lnSpc>
                <a:spcPts val="1000"/>
              </a:lnSpc>
            </a:pPr>
            <a:r>
              <a:rPr lang="en-US" sz="100" noProof="1">
                <a:solidFill>
                  <a:srgbClr val="2B2B2B"/>
                </a:solidFill>
                <a:latin typeface="Calibri"/>
                <a:ea typeface="Calibri"/>
              </a:rPr>
              <a:t> </a:t>
            </a:r>
            <a:endParaRPr lang="en-US" sz="1800" noProof="1"/>
          </a:p>
          <a:p>
            <a:pPr>
              <a:lnSpc>
                <a:spcPct val="120000"/>
              </a:lnSpc>
            </a:pP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• Новая версия (</a:t>
            </a:r>
            <a:r>
              <a:rPr lang="en-US" sz="1800" b="1" noProof="1">
                <a:solidFill>
                  <a:srgbClr val="2B2B2B"/>
                </a:solidFill>
                <a:latin typeface="Calibri"/>
                <a:ea typeface="Calibri"/>
              </a:rPr>
              <a:t>lp 2</a:t>
            </a: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): </a:t>
            </a:r>
            <a:r>
              <a:rPr lang="en-US" sz="1800" b="1" noProof="1">
                <a:solidFill>
                  <a:srgbClr val="2B2B2B"/>
                </a:solidFill>
                <a:latin typeface="Calibri"/>
                <a:ea typeface="Calibri"/>
              </a:rPr>
              <a:t>xmin = 51235</a:t>
            </a: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, </a:t>
            </a:r>
            <a:r>
              <a:rPr lang="en-US" sz="1800" b="1" noProof="1">
                <a:solidFill>
                  <a:srgbClr val="2B2B2B"/>
                </a:solidFill>
                <a:latin typeface="Calibri"/>
                <a:ea typeface="Calibri"/>
              </a:rPr>
              <a:t>xmax = 0</a:t>
            </a: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 — версия актуальна</a:t>
            </a:r>
            <a:endParaRPr lang="en-US" sz="1800" noProof="1"/>
          </a:p>
          <a:p>
            <a:pPr>
              <a:lnSpc>
                <a:spcPts val="1000"/>
              </a:lnSpc>
            </a:pPr>
            <a:r>
              <a:rPr lang="en-US" sz="100" noProof="1">
                <a:solidFill>
                  <a:srgbClr val="2B2B2B"/>
                </a:solidFill>
                <a:latin typeface="Calibri"/>
                <a:ea typeface="Calibri"/>
              </a:rPr>
              <a:t> </a:t>
            </a:r>
            <a:endParaRPr lang="en-US" sz="1800" noProof="1"/>
          </a:p>
          <a:p>
            <a:pPr>
              <a:lnSpc>
                <a:spcPct val="120000"/>
              </a:lnSpc>
            </a:pP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• Обновление = вставка нового кортежа + пометка старого, строка не перезаписывается на месте</a:t>
            </a:r>
            <a:endParaRPr lang="en-US" sz="1800" noProof="1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1043920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>
                <a:solidFill>
                  <a:srgbClr val="1F4E79"/>
                </a:solidFill>
                <a:latin typeface="Calibri"/>
                <a:ea typeface="Calibri"/>
              </a:rPr>
              <a:t>ctid — аналог Record ID в PostgreSQL</a:t>
            </a:r>
            <a:endParaRPr lang="en-US" sz="3000" noProof="1"/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6424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Intro 3"/>
          <p:cNvSpPr txBox="1"/>
          <p:nvPr/>
        </p:nvSpPr>
        <p:spPr>
          <a:xfrm>
            <a:off x="635000" y="1346200"/>
            <a:ext cx="10922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noProof="1">
                <a:solidFill>
                  <a:srgbClr val="2B2B2B"/>
                </a:solidFill>
                <a:latin typeface="Calibri"/>
                <a:ea typeface="Calibri"/>
              </a:rPr>
              <a:t>Системный столбец </a:t>
            </a:r>
            <a:r>
              <a:rPr lang="en-US" sz="2000" b="1" noProof="1">
                <a:solidFill>
                  <a:srgbClr val="2B2B2B"/>
                </a:solidFill>
                <a:latin typeface="Calibri"/>
                <a:ea typeface="Calibri"/>
              </a:rPr>
              <a:t>ctid</a:t>
            </a:r>
            <a:r>
              <a:rPr lang="en-US" sz="2000" noProof="1">
                <a:solidFill>
                  <a:srgbClr val="2B2B2B"/>
                </a:solidFill>
                <a:latin typeface="Calibri"/>
                <a:ea typeface="Calibri"/>
              </a:rPr>
              <a:t> состоит из номера страницы (block) и номера слота (tuple index)</a:t>
            </a:r>
            <a:endParaRPr lang="en-US" sz="2000" noProof="1"/>
          </a:p>
        </p:txBody>
      </p:sp>
      <p:sp>
        <p:nvSpPr>
          <p:cNvPr id="5" name="Label 4"/>
          <p:cNvSpPr txBox="1"/>
          <p:nvPr/>
        </p:nvSpPr>
        <p:spPr>
          <a:xfrm>
            <a:off x="635000" y="1803400"/>
            <a:ext cx="5588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1F4E79"/>
                </a:solidFill>
                <a:latin typeface="Calibri"/>
                <a:ea typeface="Calibri"/>
              </a:rPr>
              <a:t>ctid для каждой строки</a:t>
            </a:r>
            <a:endParaRPr lang="en-US" sz="1800" noProof="1"/>
          </a:p>
        </p:txBody>
      </p:sp>
      <p:sp>
        <p:nvSpPr>
          <p:cNvPr id="6" name="Code 5"/>
          <p:cNvSpPr txBox="1"/>
          <p:nvPr/>
        </p:nvSpPr>
        <p:spPr>
          <a:xfrm>
            <a:off x="635000" y="2133600"/>
            <a:ext cx="558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2B2B2B"/>
                </a:solidFill>
                <a:latin typeface="JetBrains Mono"/>
                <a:ea typeface="JetBrains Mono"/>
              </a:rPr>
              <a:t>SELECT ctid, * FROM demo.bookings.flights LIMIT 10;</a:t>
            </a:r>
            <a:endParaRPr lang="en-US" sz="1200" noProof="1"/>
          </a:p>
        </p:txBody>
      </p:sp>
      <p:sp>
        <p:nvSpPr>
          <p:cNvPr id="7" name="Panel 6"/>
          <p:cNvSpPr/>
          <p:nvPr/>
        </p:nvSpPr>
        <p:spPr>
          <a:xfrm>
            <a:off x="635000" y="2692400"/>
            <a:ext cx="5588000" cy="21590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8" name="Output 7"/>
          <p:cNvSpPr txBox="1"/>
          <p:nvPr/>
        </p:nvSpPr>
        <p:spPr>
          <a:xfrm>
            <a:off x="812800" y="2819400"/>
            <a:ext cx="5270500" cy="196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100" noProof="1">
                <a:solidFill>
                  <a:srgbClr val="404040"/>
                </a:solidFill>
                <a:latin typeface="JetBrains Mono"/>
                <a:ea typeface="JetBrains Mono"/>
              </a:rPr>
              <a:t> ctid  | flight_id | flight_no | status</a:t>
            </a:r>
            <a:endParaRPr lang="en-US" sz="1100" noProof="1"/>
          </a:p>
          <a:p>
            <a:pPr>
              <a:lnSpc>
                <a:spcPct val="130000"/>
              </a:lnSpc>
            </a:pPr>
            <a:r>
              <a:rPr lang="en-US" sz="1100" noProof="1">
                <a:solidFill>
                  <a:srgbClr val="404040"/>
                </a:solidFill>
                <a:latin typeface="JetBrains Mono"/>
                <a:ea typeface="JetBrains Mono"/>
              </a:rPr>
              <a:t>-------+-----------+-----------+-----------</a:t>
            </a:r>
            <a:endParaRPr lang="en-US" sz="1100" noProof="1"/>
          </a:p>
          <a:p>
            <a:pPr>
              <a:lnSpc>
                <a:spcPct val="130000"/>
              </a:lnSpc>
            </a:pPr>
            <a:r>
              <a:rPr lang="en-US" sz="1100" noProof="1">
                <a:solidFill>
                  <a:srgbClr val="404040"/>
                </a:solidFill>
                <a:latin typeface="JetBrains Mono"/>
                <a:ea typeface="JetBrains Mono"/>
              </a:rPr>
              <a:t> (0,1) |     12345 | PG0001    | Arrived</a:t>
            </a:r>
            <a:endParaRPr lang="en-US" sz="1100" noProof="1"/>
          </a:p>
          <a:p>
            <a:pPr>
              <a:lnSpc>
                <a:spcPct val="130000"/>
              </a:lnSpc>
            </a:pPr>
            <a:r>
              <a:rPr lang="en-US" sz="1100" noProof="1">
                <a:solidFill>
                  <a:srgbClr val="404040"/>
                </a:solidFill>
                <a:latin typeface="JetBrains Mono"/>
                <a:ea typeface="JetBrains Mono"/>
              </a:rPr>
              <a:t> (0,2) |     12346 | PG0002    | Arrived</a:t>
            </a:r>
            <a:endParaRPr lang="en-US" sz="1100" noProof="1"/>
          </a:p>
          <a:p>
            <a:pPr>
              <a:lnSpc>
                <a:spcPct val="130000"/>
              </a:lnSpc>
            </a:pPr>
            <a:r>
              <a:rPr lang="en-US" sz="1100" noProof="1">
                <a:solidFill>
                  <a:srgbClr val="404040"/>
                </a:solidFill>
                <a:latin typeface="JetBrains Mono"/>
                <a:ea typeface="JetBrains Mono"/>
              </a:rPr>
              <a:t> (0,3) |     12347 | PG0003    | Scheduled</a:t>
            </a:r>
            <a:endParaRPr lang="en-US" sz="1100" noProof="1"/>
          </a:p>
          <a:p>
            <a:pPr>
              <a:lnSpc>
                <a:spcPct val="130000"/>
              </a:lnSpc>
            </a:pPr>
            <a:r>
              <a:rPr lang="en-US" sz="1100" noProof="1">
                <a:solidFill>
                  <a:srgbClr val="404040"/>
                </a:solidFill>
                <a:latin typeface="JetBrains Mono"/>
                <a:ea typeface="JetBrains Mono"/>
              </a:rPr>
              <a:t> (0,4) |     12348 | PG0004    | Arrived</a:t>
            </a:r>
            <a:endParaRPr lang="en-US" sz="1100" noProof="1"/>
          </a:p>
          <a:p>
            <a:pPr>
              <a:lnSpc>
                <a:spcPct val="130000"/>
              </a:lnSpc>
            </a:pPr>
            <a:r>
              <a:rPr lang="en-US" sz="1100" noProof="1">
                <a:solidFill>
                  <a:srgbClr val="404040"/>
                </a:solidFill>
                <a:latin typeface="JetBrains Mono"/>
                <a:ea typeface="JetBrains Mono"/>
              </a:rPr>
              <a:t> ...</a:t>
            </a:r>
            <a:endParaRPr lang="en-US" sz="1100" noProof="1"/>
          </a:p>
        </p:txBody>
      </p:sp>
      <p:sp>
        <p:nvSpPr>
          <p:cNvPr id="9" name="Label 8"/>
          <p:cNvSpPr txBox="1"/>
          <p:nvPr/>
        </p:nvSpPr>
        <p:spPr>
          <a:xfrm>
            <a:off x="6604000" y="1803400"/>
            <a:ext cx="50165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1F4E79"/>
                </a:solidFill>
                <a:latin typeface="Calibri"/>
                <a:ea typeface="Calibri"/>
              </a:rPr>
              <a:t>Разбор ctid на составляющие</a:t>
            </a:r>
            <a:endParaRPr lang="en-US" sz="1800" noProof="1"/>
          </a:p>
        </p:txBody>
      </p:sp>
      <p:sp>
        <p:nvSpPr>
          <p:cNvPr id="10" name="Code 9"/>
          <p:cNvSpPr txBox="1"/>
          <p:nvPr/>
        </p:nvSpPr>
        <p:spPr>
          <a:xfrm>
            <a:off x="6604000" y="2133600"/>
            <a:ext cx="50165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2B2B2B"/>
                </a:solidFill>
                <a:latin typeface="JetBrains Mono"/>
                <a:ea typeface="JetBrains Mono"/>
              </a:rPr>
              <a:t>SELECT ctid,</a:t>
            </a:r>
            <a:endParaRPr lang="en-US" sz="1200" noProof="1"/>
          </a:p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2B2B2B"/>
                </a:solidFill>
                <a:latin typeface="JetBrains Mono"/>
                <a:ea typeface="JetBrains Mono"/>
              </a:rPr>
              <a:t>  (ctid::text::point)[0]::int AS page_number,</a:t>
            </a:r>
            <a:endParaRPr lang="en-US" sz="1200" noProof="1"/>
          </a:p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2B2B2B"/>
                </a:solidFill>
                <a:latin typeface="JetBrains Mono"/>
                <a:ea typeface="JetBrains Mono"/>
              </a:rPr>
              <a:t>  (ctid::text::point)[1]::int AS slot_number</a:t>
            </a:r>
            <a:endParaRPr lang="en-US" sz="1200" noProof="1"/>
          </a:p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2B2B2B"/>
                </a:solidFill>
                <a:latin typeface="JetBrains Mono"/>
                <a:ea typeface="JetBrains Mono"/>
              </a:rPr>
              <a:t>FROM demo.bookings.flights</a:t>
            </a:r>
            <a:endParaRPr lang="en-US" sz="1200" noProof="1"/>
          </a:p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2B2B2B"/>
                </a:solidFill>
                <a:latin typeface="JetBrains Mono"/>
                <a:ea typeface="JetBrains Mono"/>
              </a:rPr>
              <a:t>LIMIT 10;</a:t>
            </a:r>
            <a:endParaRPr lang="en-US" sz="1200" noProof="1"/>
          </a:p>
        </p:txBody>
      </p:sp>
      <p:sp>
        <p:nvSpPr>
          <p:cNvPr id="11" name="Panel 10"/>
          <p:cNvSpPr/>
          <p:nvPr/>
        </p:nvSpPr>
        <p:spPr>
          <a:xfrm>
            <a:off x="6604000" y="3530600"/>
            <a:ext cx="5016500" cy="13208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12" name="Output 11"/>
          <p:cNvSpPr txBox="1"/>
          <p:nvPr/>
        </p:nvSpPr>
        <p:spPr>
          <a:xfrm>
            <a:off x="6781800" y="3657600"/>
            <a:ext cx="46990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100" noProof="1">
                <a:solidFill>
                  <a:srgbClr val="404040"/>
                </a:solidFill>
                <a:latin typeface="JetBrains Mono"/>
                <a:ea typeface="JetBrains Mono"/>
              </a:rPr>
              <a:t> ctid  | page_number | slot_number</a:t>
            </a:r>
            <a:endParaRPr lang="en-US" sz="1100" noProof="1"/>
          </a:p>
          <a:p>
            <a:pPr>
              <a:lnSpc>
                <a:spcPct val="130000"/>
              </a:lnSpc>
            </a:pPr>
            <a:r>
              <a:rPr lang="en-US" sz="1100" noProof="1">
                <a:solidFill>
                  <a:srgbClr val="404040"/>
                </a:solidFill>
                <a:latin typeface="JetBrains Mono"/>
                <a:ea typeface="JetBrains Mono"/>
              </a:rPr>
              <a:t>-------+-------------+-------------</a:t>
            </a:r>
            <a:endParaRPr lang="en-US" sz="1100" noProof="1"/>
          </a:p>
          <a:p>
            <a:pPr>
              <a:lnSpc>
                <a:spcPct val="130000"/>
              </a:lnSpc>
            </a:pPr>
            <a:r>
              <a:rPr lang="en-US" sz="1100" noProof="1">
                <a:solidFill>
                  <a:srgbClr val="404040"/>
                </a:solidFill>
                <a:latin typeface="JetBrains Mono"/>
                <a:ea typeface="JetBrains Mono"/>
              </a:rPr>
              <a:t> (0,1) |           0 |           1</a:t>
            </a:r>
            <a:endParaRPr lang="en-US" sz="1100" noProof="1"/>
          </a:p>
          <a:p>
            <a:pPr>
              <a:lnSpc>
                <a:spcPct val="130000"/>
              </a:lnSpc>
            </a:pPr>
            <a:r>
              <a:rPr lang="en-US" sz="1100" noProof="1">
                <a:solidFill>
                  <a:srgbClr val="404040"/>
                </a:solidFill>
                <a:latin typeface="JetBrains Mono"/>
                <a:ea typeface="JetBrains Mono"/>
              </a:rPr>
              <a:t> (0,2) |           0 |           2</a:t>
            </a:r>
            <a:endParaRPr lang="en-US" sz="1100" noProof="1"/>
          </a:p>
          <a:p>
            <a:pPr>
              <a:lnSpc>
                <a:spcPct val="130000"/>
              </a:lnSpc>
            </a:pPr>
            <a:r>
              <a:rPr lang="en-US" sz="1100" noProof="1">
                <a:solidFill>
                  <a:srgbClr val="404040"/>
                </a:solidFill>
                <a:latin typeface="JetBrains Mono"/>
                <a:ea typeface="JetBrains Mono"/>
              </a:rPr>
              <a:t> ...</a:t>
            </a:r>
            <a:endParaRPr lang="en-US" sz="1100" noProof="1"/>
          </a:p>
        </p:txBody>
      </p:sp>
      <p:sp>
        <p:nvSpPr>
          <p:cNvPr id="13" name="Note 12"/>
          <p:cNvSpPr txBox="1"/>
          <p:nvPr/>
        </p:nvSpPr>
        <p:spPr>
          <a:xfrm>
            <a:off x="635000" y="5334000"/>
            <a:ext cx="109855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• </a:t>
            </a:r>
            <a:r>
              <a:rPr lang="en-US" sz="1800" b="1" noProof="1">
                <a:solidFill>
                  <a:srgbClr val="2B2B2B"/>
                </a:solidFill>
                <a:latin typeface="Calibri"/>
                <a:ea typeface="Calibri"/>
              </a:rPr>
              <a:t>(0, 1)</a:t>
            </a: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 — страница 0, слот 1; слот указывает на кортеж через slot array страницы</a:t>
            </a:r>
            <a:endParaRPr lang="en-US" sz="1800" noProof="1"/>
          </a:p>
          <a:p>
            <a:pPr>
              <a:lnSpc>
                <a:spcPct val="120000"/>
              </a:lnSpc>
            </a:pP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• Приложение </a:t>
            </a:r>
            <a:r>
              <a:rPr lang="en-US" sz="1800" b="1" noProof="1">
                <a:solidFill>
                  <a:srgbClr val="2B2B2B"/>
                </a:solidFill>
                <a:latin typeface="Calibri"/>
                <a:ea typeface="Calibri"/>
              </a:rPr>
              <a:t>не должно</a:t>
            </a: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 полагаться на ctid: он меняется при обновлении строки, VACUUM и реорганизации данных</a:t>
            </a:r>
            <a:endParaRPr lang="en-US" sz="1800" noProof="1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>
                <a:solidFill>
                  <a:srgbClr val="1F4E79"/>
                </a:solidFill>
                <a:latin typeface="Calibri"/>
                <a:ea typeface="Calibri"/>
              </a:rPr>
              <a:t>Целочисленные типы (INTEGER, BIGINT, SMALLINT)</a:t>
            </a:r>
            <a:endParaRPr lang="en-US" sz="3000" noProof="1"/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6424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3263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 marL="45720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3200" noProof="1">
                <a:solidFill>
                  <a:srgbClr val="2B2B2B"/>
                </a:solidFill>
                <a:latin typeface="Times New Roman"/>
                <a:ea typeface="Times New Roman"/>
              </a:rPr>
              <a:t>Хранятся в нативном формате C/C++</a:t>
            </a:r>
            <a:endParaRPr lang="en-US" sz="3200" noProof="1"/>
          </a:p>
          <a:p>
            <a:pPr marL="457200">
              <a:lnSpc>
                <a:spcPts val="5040"/>
              </a:lnSpc>
              <a:spcBef>
                <a:spcPts val="10"/>
              </a:spcBef>
              <a:buChar char="•"/>
            </a:pPr>
            <a:r>
              <a:rPr lang="en-US" sz="100" noProof="1">
                <a:solidFill>
                  <a:srgbClr val="2B2B2B"/>
                </a:solidFill>
                <a:latin typeface="Times New Roman"/>
                <a:ea typeface="Times New Roman"/>
              </a:rPr>
              <a:t> </a:t>
            </a:r>
            <a:endParaRPr lang="en-US" sz="3200" noProof="1"/>
          </a:p>
          <a:p>
            <a:pPr marL="45720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3200" noProof="1">
                <a:solidFill>
                  <a:srgbClr val="2B2B2B"/>
                </a:solidFill>
                <a:latin typeface="Times New Roman"/>
                <a:ea typeface="Times New Roman"/>
              </a:rPr>
              <a:t>Необходимо учитывать порядок байтов (endianness)</a:t>
            </a:r>
            <a:endParaRPr lang="en-US" sz="3200" noProof="1"/>
          </a:p>
          <a:p>
            <a:pPr marL="457200">
              <a:lnSpc>
                <a:spcPts val="5040"/>
              </a:lnSpc>
              <a:spcBef>
                <a:spcPts val="10"/>
              </a:spcBef>
              <a:buChar char="•"/>
            </a:pPr>
            <a:r>
              <a:rPr lang="en-US" sz="100" noProof="1">
                <a:solidFill>
                  <a:srgbClr val="2B2B2B"/>
                </a:solidFill>
                <a:latin typeface="Times New Roman"/>
                <a:ea typeface="Times New Roman"/>
              </a:rPr>
              <a:t> </a:t>
            </a:r>
            <a:endParaRPr lang="en-US" sz="3200" noProof="1"/>
          </a:p>
          <a:p>
            <a:pPr marL="45720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3200" noProof="1">
                <a:solidFill>
                  <a:srgbClr val="2B2B2B"/>
                </a:solidFill>
                <a:latin typeface="Times New Roman"/>
                <a:ea typeface="Times New Roman"/>
              </a:rPr>
              <a:t>Большинство систем хранят в нативном представлении с дополнительными метаданными</a:t>
            </a:r>
            <a:endParaRPr lang="en-US" sz="3200" noProof="1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>
                <a:solidFill>
                  <a:srgbClr val="1F4E79"/>
                </a:solidFill>
                <a:latin typeface="Calibri"/>
                <a:ea typeface="Calibri"/>
              </a:rPr>
              <a:t>Числа с плавающей и фиксированной точкой</a:t>
            </a:r>
            <a:endParaRPr lang="en-US" sz="3000" noProof="1"/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6424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TextBox 3"/>
          <p:cNvSpPr txBox="1"/>
          <p:nvPr/>
        </p:nvSpPr>
        <p:spPr>
          <a:xfrm>
            <a:off x="822960" y="1508760"/>
            <a:ext cx="4937760" cy="2042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 noProof="1">
                <a:solidFill>
                  <a:srgbClr val="1F4E79"/>
                </a:solidFill>
                <a:latin typeface="Calibri"/>
                <a:ea typeface="Calibri"/>
              </a:rPr>
              <a:t>FLOAT / REAL (переменная точность)</a:t>
            </a:r>
            <a:endParaRPr lang="en-US" sz="1600" noProof="1"/>
          </a:p>
          <a:p>
            <a:pPr>
              <a:lnSpc>
                <a:spcPct val="120000"/>
              </a:lnSpc>
            </a:pPr>
            <a:r>
              <a:rPr lang="en-US" sz="1600" noProof="1">
                <a:solidFill>
                  <a:srgbClr val="2B2B2B"/>
                </a:solidFill>
                <a:latin typeface="Calibri"/>
                <a:ea typeface="Calibri"/>
              </a:rPr>
              <a:t>• Стандарт IEEE-754</a:t>
            </a:r>
            <a:endParaRPr lang="en-US" sz="1600" noProof="1"/>
          </a:p>
          <a:p>
            <a:pPr>
              <a:lnSpc>
                <a:spcPct val="120000"/>
              </a:lnSpc>
            </a:pPr>
            <a:r>
              <a:rPr lang="en-US" sz="1600" noProof="1">
                <a:solidFill>
                  <a:srgbClr val="2B2B2B"/>
                </a:solidFill>
                <a:latin typeface="Calibri"/>
                <a:ea typeface="Calibri"/>
              </a:rPr>
              <a:t>• Реализован аппаратно</a:t>
            </a:r>
            <a:endParaRPr lang="en-US" sz="1600" noProof="1"/>
          </a:p>
          <a:p>
            <a:pPr>
              <a:lnSpc>
                <a:spcPct val="120000"/>
              </a:lnSpc>
            </a:pPr>
            <a:r>
              <a:rPr lang="en-US" sz="1600" noProof="1">
                <a:solidFill>
                  <a:srgbClr val="2B2B2B"/>
                </a:solidFill>
                <a:latin typeface="Calibri"/>
                <a:ea typeface="Calibri"/>
              </a:rPr>
              <a:t>• Быстры благодаря инструкциям CPU</a:t>
            </a:r>
            <a:endParaRPr lang="en-US" sz="1600" noProof="1"/>
          </a:p>
          <a:p>
            <a:pPr>
              <a:lnSpc>
                <a:spcPct val="120000"/>
              </a:lnSpc>
            </a:pPr>
            <a:r>
              <a:rPr lang="en-US" sz="1600" noProof="1">
                <a:solidFill>
                  <a:srgbClr val="2B2B2B"/>
                </a:solidFill>
                <a:latin typeface="Calibri"/>
                <a:ea typeface="Calibri"/>
              </a:rPr>
              <a:t>• НЕ гарантируют точного представления</a:t>
            </a:r>
            <a:endParaRPr lang="en-US" sz="1600" noProof="1"/>
          </a:p>
          <a:p>
            <a:pPr>
              <a:lnSpc>
                <a:spcPct val="120000"/>
              </a:lnSpc>
            </a:pPr>
            <a:r>
              <a:rPr lang="en-US" sz="1600" noProof="1">
                <a:solidFill>
                  <a:srgbClr val="2B2B2B"/>
                </a:solidFill>
                <a:latin typeface="Calibri"/>
                <a:ea typeface="Calibri"/>
              </a:rPr>
              <a:t>  десятичных дробей</a:t>
            </a:r>
            <a:endParaRPr lang="en-US" sz="1600" noProof="1"/>
          </a:p>
          <a:p>
            <a:pPr>
              <a:lnSpc>
                <a:spcPct val="120000"/>
              </a:lnSpc>
            </a:pPr>
            <a:r>
              <a:rPr lang="en-US" sz="1600" noProof="1">
                <a:solidFill>
                  <a:srgbClr val="2B2B2B"/>
                </a:solidFill>
                <a:latin typeface="Calibri"/>
                <a:ea typeface="Calibri"/>
              </a:rPr>
              <a:t>• Пример:</a:t>
            </a:r>
            <a:endParaRPr lang="en-US" sz="1600" noProof="1"/>
          </a:p>
        </p:txBody>
      </p:sp>
      <p:sp>
        <p:nvSpPr>
          <p:cNvPr id="5" name="TextBox 4"/>
          <p:cNvSpPr txBox="1"/>
          <p:nvPr/>
        </p:nvSpPr>
        <p:spPr>
          <a:xfrm>
            <a:off x="6492240" y="1441450"/>
            <a:ext cx="4937760" cy="4937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 noProof="1">
                <a:solidFill>
                  <a:srgbClr val="1F4E79"/>
                </a:solidFill>
                <a:latin typeface="Calibri"/>
                <a:ea typeface="Calibri"/>
              </a:rPr>
              <a:t>NUMERIC / DECIMAL (фиксированная точность)</a:t>
            </a:r>
            <a:endParaRPr lang="en-US" sz="1600" noProof="1"/>
          </a:p>
          <a:p>
            <a:pPr>
              <a:lnSpc>
                <a:spcPct val="120000"/>
              </a:lnSpc>
            </a:pPr>
            <a:r>
              <a:rPr lang="en-US" sz="1600" noProof="1">
                <a:solidFill>
                  <a:srgbClr val="2B2B2B"/>
                </a:solidFill>
                <a:latin typeface="Calibri"/>
                <a:ea typeface="Calibri"/>
              </a:rPr>
              <a:t>• Произвольная точность и масштаб</a:t>
            </a:r>
            <a:endParaRPr lang="en-US" sz="1600" noProof="1"/>
          </a:p>
          <a:p>
            <a:pPr>
              <a:lnSpc>
                <a:spcPct val="120000"/>
              </a:lnSpc>
            </a:pPr>
            <a:r>
              <a:rPr lang="en-US" sz="1600" noProof="1">
                <a:solidFill>
                  <a:srgbClr val="2B2B2B"/>
                </a:solidFill>
                <a:latin typeface="Calibri"/>
                <a:ea typeface="Calibri"/>
              </a:rPr>
              <a:t>• Реализуются программно</a:t>
            </a:r>
            <a:endParaRPr lang="en-US" sz="1600" noProof="1"/>
          </a:p>
          <a:p>
            <a:pPr>
              <a:lnSpc>
                <a:spcPct val="120000"/>
              </a:lnSpc>
            </a:pPr>
            <a:r>
              <a:rPr lang="en-US" sz="1600" noProof="1">
                <a:solidFill>
                  <a:srgbClr val="2B2B2B"/>
                </a:solidFill>
                <a:latin typeface="Calibri"/>
                <a:ea typeface="Calibri"/>
              </a:rPr>
              <a:t>• Хранятся как массив байтов</a:t>
            </a:r>
            <a:endParaRPr lang="en-US" sz="1600" noProof="1"/>
          </a:p>
          <a:p>
            <a:pPr>
              <a:lnSpc>
                <a:spcPct val="120000"/>
              </a:lnSpc>
            </a:pPr>
            <a:r>
              <a:rPr lang="en-US" sz="1600" noProof="1">
                <a:solidFill>
                  <a:srgbClr val="2B2B2B"/>
                </a:solidFill>
                <a:latin typeface="Calibri"/>
                <a:ea typeface="Calibri"/>
              </a:rPr>
              <a:t>• Гарантируют точность вычислений</a:t>
            </a:r>
            <a:endParaRPr lang="en-US" sz="1600" noProof="1"/>
          </a:p>
          <a:p>
            <a:pPr>
              <a:lnSpc>
                <a:spcPct val="120000"/>
              </a:lnSpc>
            </a:pPr>
            <a:r>
              <a:rPr lang="en-US" sz="1600" noProof="1">
                <a:solidFill>
                  <a:srgbClr val="2B2B2B"/>
                </a:solidFill>
                <a:latin typeface="Calibri"/>
                <a:ea typeface="Calibri"/>
              </a:rPr>
              <a:t>• Критично для финансов и банков</a:t>
            </a:r>
            <a:endParaRPr lang="en-US" sz="1600" noProof="1"/>
          </a:p>
          <a:p>
            <a:pPr>
              <a:lnSpc>
                <a:spcPct val="120000"/>
              </a:lnSpc>
            </a:pPr>
            <a:r>
              <a:rPr lang="en-US" sz="1600" noProof="1">
                <a:solidFill>
                  <a:srgbClr val="2B2B2B"/>
                </a:solidFill>
                <a:latin typeface="Calibri"/>
                <a:ea typeface="Calibri"/>
              </a:rPr>
              <a:t>• На порядки медленнее аппаратных</a:t>
            </a:r>
            <a:endParaRPr lang="en-US" sz="1600" noProof="1"/>
          </a:p>
        </p:txBody>
      </p:sp>
      <p:sp>
        <p:nvSpPr>
          <p:cNvPr id="6" name="Rectangle 5"/>
          <p:cNvSpPr/>
          <p:nvPr/>
        </p:nvSpPr>
        <p:spPr>
          <a:xfrm>
            <a:off x="6035040" y="1463040"/>
            <a:ext cx="19050" cy="5029200"/>
          </a:xfrm>
          <a:prstGeom prst="rect">
            <a:avLst/>
          </a:prstGeom>
          <a:solidFill>
            <a:srgbClr val="E8E8E8"/>
          </a:solidFill>
          <a:ln>
            <a:noFill/>
          </a:ln>
        </p:spPr>
      </p:sp>
      <p:pic>
        <p:nvPicPr>
          <p:cNvPr id="7" name="Рисунок 7"/>
          <p:cNvPicPr/>
          <p:nvPr/>
        </p:nvPicPr>
        <p:blipFill>
          <a:blip r:embed="rId2"/>
          <a:stretch>
            <a:fillRect/>
          </a:stretch>
        </p:blipFill>
        <p:spPr>
          <a:xfrm>
            <a:off x="135890" y="3910330"/>
            <a:ext cx="5716270" cy="2303780"/>
          </a:xfrm>
          <a:prstGeom prst="rect">
            <a:avLst/>
          </a:prstGeom>
          <a:ln>
            <a:noFill/>
          </a:ln>
        </p:spPr>
      </p:pic>
      <p:pic>
        <p:nvPicPr>
          <p:cNvPr id="8" name="Рисунок 9"/>
          <p:cNvPicPr/>
          <p:nvPr/>
        </p:nvPicPr>
        <p:blipFill>
          <a:blip r:embed="rId3"/>
          <a:stretch>
            <a:fillRect/>
          </a:stretch>
        </p:blipFill>
        <p:spPr>
          <a:xfrm>
            <a:off x="6035040" y="3905250"/>
            <a:ext cx="5803900" cy="258699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>
                <a:solidFill>
                  <a:srgbClr val="1F4E79"/>
                </a:solidFill>
                <a:latin typeface="Calibri"/>
                <a:ea typeface="Calibri"/>
              </a:rPr>
              <a:t>Строки и бинарные данные (VARCHAR, TEXT, BLOB)</a:t>
            </a:r>
            <a:endParaRPr lang="en-US" sz="3000" noProof="1"/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6424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4488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2B2B2B"/>
                </a:solidFill>
                <a:latin typeface="Calibri"/>
                <a:ea typeface="Calibri"/>
              </a:rPr>
              <a:t>Небольшие значения </a:t>
            </a: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хранятся прямо в кортеже (inline): длина поля + байты данных.</a:t>
            </a:r>
            <a:endParaRPr lang="en-US" sz="1800" noProof="1"/>
          </a:p>
          <a:p>
            <a:pPr>
              <a:lnSpc>
                <a:spcPts val="2700"/>
              </a:lnSpc>
            </a:pPr>
            <a:r>
              <a:rPr lang="en-US" sz="100" noProof="1">
                <a:solidFill>
                  <a:srgbClr val="2B2B2B"/>
                </a:solidFill>
                <a:latin typeface="Calibri"/>
                <a:ea typeface="Calibri"/>
              </a:rPr>
              <a:t> </a:t>
            </a:r>
            <a:endParaRPr lang="en-US" sz="1800" noProof="1"/>
          </a:p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2B2B2B"/>
                </a:solidFill>
                <a:latin typeface="Calibri"/>
                <a:ea typeface="Calibri"/>
              </a:rPr>
              <a:t>Большие значения </a:t>
            </a: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выносятся </a:t>
            </a:r>
            <a:r>
              <a:rPr lang="en-US" sz="1800" b="1" noProof="1">
                <a:solidFill>
                  <a:srgbClr val="2B2B2B"/>
                </a:solidFill>
                <a:latin typeface="Calibri"/>
                <a:ea typeface="Calibri"/>
              </a:rPr>
              <a:t>в overflow pages </a:t>
            </a: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(страницы переполнения):</a:t>
            </a:r>
            <a:endParaRPr lang="en-US" sz="1800" noProof="1"/>
          </a:p>
          <a:p>
            <a:pPr marL="285750">
              <a:lnSpc>
                <a:spcPct val="120000"/>
              </a:lnSpc>
              <a:spcBef>
                <a:spcPts val="10"/>
              </a:spcBef>
              <a:buChar char="-"/>
            </a:pP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PostgreSQL: TOAST (&gt;2KB)</a:t>
            </a:r>
            <a:endParaRPr lang="en-US" sz="1800" noProof="1"/>
          </a:p>
          <a:p>
            <a:pPr marL="285750">
              <a:lnSpc>
                <a:spcPct val="120000"/>
              </a:lnSpc>
              <a:spcBef>
                <a:spcPts val="10"/>
              </a:spcBef>
              <a:buChar char="-"/>
            </a:pP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MySQL: Overflow(&gt; ½ размера страницы)</a:t>
            </a:r>
            <a:endParaRPr lang="en-US" sz="1800" noProof="1"/>
          </a:p>
          <a:p>
            <a:pPr marL="285750">
              <a:lnSpc>
                <a:spcPct val="120000"/>
              </a:lnSpc>
              <a:spcBef>
                <a:spcPts val="10"/>
              </a:spcBef>
              <a:buChar char="-"/>
            </a:pP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SQL Server: Overflow (&gt; размера страницы)</a:t>
            </a:r>
            <a:endParaRPr lang="en-US" sz="1800" noProof="1"/>
          </a:p>
          <a:p>
            <a:pPr marL="285750">
              <a:lnSpc>
                <a:spcPts val="2700"/>
              </a:lnSpc>
              <a:spcBef>
                <a:spcPts val="10"/>
              </a:spcBef>
              <a:buChar char="-"/>
            </a:pPr>
            <a:r>
              <a:rPr lang="en-US" sz="100" noProof="1">
                <a:solidFill>
                  <a:srgbClr val="2B2B2B"/>
                </a:solidFill>
                <a:latin typeface="Calibri"/>
                <a:ea typeface="Calibri"/>
              </a:rPr>
              <a:t> </a:t>
            </a:r>
            <a:endParaRPr lang="en-US" sz="1800" noProof="1"/>
          </a:p>
          <a:p>
            <a:pPr>
              <a:lnSpc>
                <a:spcPct val="120000"/>
              </a:lnSpc>
            </a:pP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В кортеже хранится указатель (Record ID) и размер данных</a:t>
            </a:r>
            <a:endParaRPr lang="en-US" sz="1800" noProof="1"/>
          </a:p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2B2B2B"/>
                </a:solidFill>
                <a:latin typeface="Calibri"/>
                <a:ea typeface="Calibri"/>
              </a:rPr>
              <a:t>Оптимизации для overflow pages</a:t>
            </a: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:</a:t>
            </a:r>
            <a:endParaRPr lang="en-US" sz="1800" noProof="1"/>
          </a:p>
          <a:p>
            <a:pPr marL="28575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Сжатие (snappy, gzip)</a:t>
            </a:r>
            <a:endParaRPr lang="en-US" sz="1800" noProof="1"/>
          </a:p>
          <a:p>
            <a:pPr marL="28575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1800" b="1" noProof="1">
                <a:solidFill>
                  <a:srgbClr val="2B2B2B"/>
                </a:solidFill>
                <a:latin typeface="Calibri"/>
                <a:ea typeface="Calibri"/>
              </a:rPr>
              <a:t>German Strings</a:t>
            </a:r>
            <a:endParaRPr lang="en-US" sz="1800" noProof="1"/>
          </a:p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2B2B2B"/>
                </a:solidFill>
                <a:latin typeface="Calibri"/>
                <a:ea typeface="Calibri"/>
              </a:rPr>
              <a:t>External Value Storage </a:t>
            </a:r>
            <a:r>
              <a:rPr lang="en-US" sz="1800" noProof="1">
                <a:solidFill>
                  <a:srgbClr val="2B2B2B"/>
                </a:solidFill>
                <a:latin typeface="Calibri"/>
                <a:ea typeface="Calibri"/>
              </a:rPr>
              <a:t>— хранение больших объектов вне БД. В самой БД может храниться URL на источник данных.СУБД НЕ гарантирует транзакционную безопасность таких данных</a:t>
            </a:r>
            <a:endParaRPr lang="en-US" sz="1800" noProof="1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>
                <a:solidFill>
                  <a:srgbClr val="1F4E79"/>
                </a:solidFill>
                <a:latin typeface="Calibri"/>
                <a:ea typeface="Calibri"/>
              </a:rPr>
              <a:t>Дата и время (TIME, DATE, TIMESTAMP, INTERVAL)</a:t>
            </a:r>
            <a:endParaRPr lang="en-US" sz="3000" noProof="1"/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6424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39408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 marL="28575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2400" noProof="1">
                <a:solidFill>
                  <a:srgbClr val="2B2B2B"/>
                </a:solidFill>
                <a:latin typeface="Times New Roman"/>
                <a:ea typeface="Times New Roman"/>
              </a:rPr>
              <a:t>Обычно хранятся как 32- или 64-битное целое</a:t>
            </a:r>
            <a:endParaRPr lang="en-US" sz="2400" noProof="1"/>
          </a:p>
          <a:p>
            <a:pPr marL="285750">
              <a:lnSpc>
                <a:spcPts val="3600"/>
              </a:lnSpc>
              <a:spcBef>
                <a:spcPts val="10"/>
              </a:spcBef>
              <a:buChar char="•"/>
            </a:pPr>
            <a:r>
              <a:rPr lang="en-US" sz="100" noProof="1">
                <a:solidFill>
                  <a:srgbClr val="2B2B2B"/>
                </a:solidFill>
                <a:latin typeface="Times New Roman"/>
                <a:ea typeface="Times New Roman"/>
              </a:rPr>
              <a:t> </a:t>
            </a:r>
            <a:endParaRPr lang="en-US" sz="2400" noProof="1"/>
          </a:p>
          <a:p>
            <a:pPr marL="28575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2400" noProof="1">
                <a:solidFill>
                  <a:srgbClr val="2B2B2B"/>
                </a:solidFill>
                <a:latin typeface="Times New Roman"/>
                <a:ea typeface="Times New Roman"/>
              </a:rPr>
              <a:t>Количество микросекунд или миллисекунд с начала Unix epoch</a:t>
            </a:r>
            <a:endParaRPr lang="en-US" sz="2400" noProof="1"/>
          </a:p>
          <a:p>
            <a:pPr marL="285750">
              <a:lnSpc>
                <a:spcPts val="3600"/>
              </a:lnSpc>
              <a:spcBef>
                <a:spcPts val="10"/>
              </a:spcBef>
              <a:buChar char="•"/>
            </a:pPr>
            <a:r>
              <a:rPr lang="en-US" sz="100" noProof="1">
                <a:solidFill>
                  <a:srgbClr val="2B2B2B"/>
                </a:solidFill>
                <a:latin typeface="Times New Roman"/>
                <a:ea typeface="Times New Roman"/>
              </a:rPr>
              <a:t> </a:t>
            </a:r>
            <a:endParaRPr lang="en-US" sz="2400" noProof="1"/>
          </a:p>
          <a:p>
            <a:pPr marL="28575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2400" noProof="1">
                <a:solidFill>
                  <a:srgbClr val="2B2B2B"/>
                </a:solidFill>
                <a:latin typeface="Times New Roman"/>
                <a:ea typeface="Times New Roman"/>
              </a:rPr>
              <a:t>Unix epoch — 1 января 1970 года</a:t>
            </a:r>
            <a:endParaRPr lang="en-US" sz="2400" noProof="1"/>
          </a:p>
          <a:p>
            <a:pPr marL="285750">
              <a:lnSpc>
                <a:spcPts val="3600"/>
              </a:lnSpc>
              <a:spcBef>
                <a:spcPts val="10"/>
              </a:spcBef>
              <a:buChar char="•"/>
            </a:pPr>
            <a:r>
              <a:rPr lang="en-US" sz="100" noProof="1">
                <a:solidFill>
                  <a:srgbClr val="2B2B2B"/>
                </a:solidFill>
                <a:latin typeface="Times New Roman"/>
                <a:ea typeface="Times New Roman"/>
              </a:rPr>
              <a:t> </a:t>
            </a:r>
            <a:endParaRPr lang="en-US" sz="2400" noProof="1"/>
          </a:p>
          <a:p>
            <a:pPr marL="28575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2400" noProof="1">
                <a:solidFill>
                  <a:srgbClr val="2B2B2B"/>
                </a:solidFill>
                <a:latin typeface="Times New Roman"/>
                <a:ea typeface="Times New Roman"/>
              </a:rPr>
              <a:t>Некоторые системы имеют свои внутренние форматы</a:t>
            </a:r>
            <a:endParaRPr lang="en-US" sz="2400" noProof="1"/>
          </a:p>
          <a:p>
            <a:pPr marL="285750">
              <a:lnSpc>
                <a:spcPts val="3600"/>
              </a:lnSpc>
              <a:spcBef>
                <a:spcPts val="10"/>
              </a:spcBef>
              <a:buChar char="•"/>
            </a:pPr>
            <a:r>
              <a:rPr lang="en-US" sz="100" noProof="1">
                <a:solidFill>
                  <a:srgbClr val="2B2B2B"/>
                </a:solidFill>
                <a:latin typeface="Times New Roman"/>
                <a:ea typeface="Times New Roman"/>
              </a:rPr>
              <a:t> </a:t>
            </a:r>
            <a:endParaRPr lang="en-US" sz="2400" noProof="1"/>
          </a:p>
          <a:p>
            <a:pPr marL="28575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2400" noProof="1">
                <a:solidFill>
                  <a:srgbClr val="2B2B2B"/>
                </a:solidFill>
                <a:latin typeface="Times New Roman"/>
                <a:ea typeface="Times New Roman"/>
              </a:rPr>
              <a:t>Поддержка часовых поясов варьируется между СУБД</a:t>
            </a:r>
            <a:endParaRPr lang="en-US" sz="2400" noProof="1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>
                <a:solidFill>
                  <a:srgbClr val="1F4E79"/>
                </a:solidFill>
                <a:latin typeface="Calibri"/>
                <a:ea typeface="Calibri"/>
              </a:rPr>
              <a:t>Представление NULL-значений: три подхода</a:t>
            </a:r>
            <a:endParaRPr lang="en-US" sz="3000" noProof="1"/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6424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TextBox 3"/>
          <p:cNvSpPr txBox="1"/>
          <p:nvPr/>
        </p:nvSpPr>
        <p:spPr>
          <a:xfrm>
            <a:off x="640080" y="1746250"/>
            <a:ext cx="10515600" cy="39408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 marL="28575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2400" b="1" noProof="1">
                <a:solidFill>
                  <a:srgbClr val="2B2B2B"/>
                </a:solidFill>
                <a:latin typeface="Calibri"/>
                <a:ea typeface="Calibri"/>
              </a:rPr>
              <a:t>Null Column Bitmap Header </a:t>
            </a:r>
            <a:r>
              <a:rPr lang="en-US" sz="2400" noProof="1">
                <a:solidFill>
                  <a:srgbClr val="2B2B2B"/>
                </a:solidFill>
                <a:latin typeface="Calibri"/>
                <a:ea typeface="Calibri"/>
              </a:rPr>
              <a:t>(наиболее распространён в row-stores)</a:t>
            </a:r>
            <a:endParaRPr lang="en-US" sz="2400" noProof="1"/>
          </a:p>
          <a:p>
            <a:pPr>
              <a:lnSpc>
                <a:spcPct val="120000"/>
              </a:lnSpc>
            </a:pPr>
            <a:r>
              <a:rPr lang="en-US" sz="2400" noProof="1">
                <a:solidFill>
                  <a:srgbClr val="2B2B2B"/>
                </a:solidFill>
                <a:latin typeface="Calibri"/>
                <a:ea typeface="Calibri"/>
              </a:rPr>
              <a:t>         В заголовке кортежа битовая карта — каждый бит = атрибут</a:t>
            </a:r>
            <a:endParaRPr lang="en-US" sz="2400" noProof="1"/>
          </a:p>
          <a:p>
            <a:pPr>
              <a:lnSpc>
                <a:spcPts val="3600"/>
              </a:lnSpc>
            </a:pPr>
            <a:r>
              <a:rPr lang="en-US" sz="100" noProof="1">
                <a:solidFill>
                  <a:srgbClr val="2B2B2B"/>
                </a:solidFill>
                <a:latin typeface="Calibri"/>
                <a:ea typeface="Calibri"/>
              </a:rPr>
              <a:t> </a:t>
            </a:r>
            <a:endParaRPr lang="en-US" sz="2400" noProof="1"/>
          </a:p>
          <a:p>
            <a:pPr marL="28575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2400" b="1" noProof="1">
                <a:solidFill>
                  <a:srgbClr val="2B2B2B"/>
                </a:solidFill>
                <a:latin typeface="Calibri"/>
                <a:ea typeface="Calibri"/>
              </a:rPr>
              <a:t>Special Values</a:t>
            </a:r>
            <a:r>
              <a:rPr lang="en-US" sz="2400" noProof="1">
                <a:solidFill>
                  <a:srgbClr val="2B2B2B"/>
                </a:solidFill>
                <a:latin typeface="Calibri"/>
                <a:ea typeface="Calibri"/>
              </a:rPr>
              <a:t> (специальные значения)</a:t>
            </a:r>
            <a:endParaRPr lang="en-US" sz="2400" noProof="1"/>
          </a:p>
          <a:p>
            <a:pPr>
              <a:lnSpc>
                <a:spcPct val="120000"/>
              </a:lnSpc>
            </a:pPr>
            <a:r>
              <a:rPr lang="en-US" sz="2400" noProof="1">
                <a:solidFill>
                  <a:srgbClr val="2B2B2B"/>
                </a:solidFill>
                <a:latin typeface="Calibri"/>
                <a:ea typeface="Calibri"/>
              </a:rPr>
              <a:t>         Выделяется специальное значение домена (например, INT32_MIN)</a:t>
            </a:r>
            <a:endParaRPr lang="en-US" sz="2400" noProof="1"/>
          </a:p>
          <a:p>
            <a:pPr>
              <a:lnSpc>
                <a:spcPct val="120000"/>
              </a:lnSpc>
            </a:pPr>
            <a:r>
              <a:rPr lang="en-US" sz="2400" noProof="1">
                <a:solidFill>
                  <a:srgbClr val="2B2B2B"/>
                </a:solidFill>
                <a:latin typeface="Calibri"/>
                <a:ea typeface="Calibri"/>
              </a:rPr>
              <a:t>         Часто в column-stores — экономит метаданные</a:t>
            </a:r>
            <a:endParaRPr lang="en-US" sz="2400" noProof="1"/>
          </a:p>
          <a:p>
            <a:pPr>
              <a:lnSpc>
                <a:spcPts val="3600"/>
              </a:lnSpc>
            </a:pPr>
            <a:r>
              <a:rPr lang="en-US" sz="100" noProof="1">
                <a:solidFill>
                  <a:srgbClr val="2B2B2B"/>
                </a:solidFill>
                <a:latin typeface="Calibri"/>
                <a:ea typeface="Calibri"/>
              </a:rPr>
              <a:t> </a:t>
            </a:r>
            <a:endParaRPr lang="en-US" sz="2400" noProof="1"/>
          </a:p>
          <a:p>
            <a:pPr marL="28575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2400" b="1" noProof="1">
                <a:solidFill>
                  <a:srgbClr val="2B2B2B"/>
                </a:solidFill>
                <a:latin typeface="Calibri"/>
                <a:ea typeface="Calibri"/>
              </a:rPr>
              <a:t>Per-Attribute Null Flag </a:t>
            </a:r>
            <a:r>
              <a:rPr lang="en-US" sz="2400" noProof="1">
                <a:solidFill>
                  <a:srgbClr val="2B2B2B"/>
                </a:solidFill>
                <a:latin typeface="Calibri"/>
                <a:ea typeface="Calibri"/>
              </a:rPr>
              <a:t>(флаг на атрибут) — НЕ ДЕЛАЙТЕ ТАК</a:t>
            </a:r>
            <a:endParaRPr lang="en-US" sz="2400" noProof="1"/>
          </a:p>
          <a:p>
            <a:pPr>
              <a:lnSpc>
                <a:spcPct val="120000"/>
              </a:lnSpc>
            </a:pPr>
            <a:r>
              <a:rPr lang="en-US" sz="2400" noProof="1">
                <a:solidFill>
                  <a:srgbClr val="2B2B2B"/>
                </a:solidFill>
                <a:latin typeface="Calibri"/>
                <a:ea typeface="Calibri"/>
              </a:rPr>
              <a:t>         Требует выравнивания, раздувает размер кортежа</a:t>
            </a:r>
            <a:endParaRPr lang="en-US" sz="24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2924</Words>
  <Application>Microsoft Office PowerPoint</Application>
  <PresentationFormat>Произвольный</PresentationFormat>
  <Paragraphs>421</Paragraphs>
  <Slides>32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32</vt:i4>
      </vt:variant>
    </vt:vector>
  </HeadingPairs>
  <TitlesOfParts>
    <vt:vector size="36" baseType="lpstr">
      <vt:lpstr>JetBrains Mono</vt:lpstr>
      <vt:lpstr>Calibri</vt:lpstr>
      <vt:lpstr>Times New Roman</vt:lpstr>
      <vt:lpstr>PPTD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User</dc:title>
  <cp:lastModifiedBy>User</cp:lastModifiedBy>
  <cp:revision>1</cp:revision>
  <dcterms:modified xsi:type="dcterms:W3CDTF">2026-09-23T13:28:03Z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/>
  </property>
</Properties>
</file>