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omments/modernComment_137_8D21F108.xml" ContentType="application/vnd.ms-powerpoint.comments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99" r:id="rId4"/>
    <p:sldId id="300" r:id="rId5"/>
    <p:sldId id="301" r:id="rId6"/>
    <p:sldId id="303" r:id="rId7"/>
    <p:sldId id="302" r:id="rId8"/>
    <p:sldId id="304" r:id="rId9"/>
    <p:sldId id="305" r:id="rId10"/>
    <p:sldId id="306" r:id="rId11"/>
    <p:sldId id="307" r:id="rId12"/>
    <p:sldId id="308" r:id="rId13"/>
    <p:sldId id="309" r:id="rId14"/>
    <p:sldId id="310" r:id="rId15"/>
    <p:sldId id="311" r:id="rId16"/>
    <p:sldId id="312" r:id="rId17"/>
    <p:sldId id="313" r:id="rId18"/>
    <p:sldId id="314" r:id="rId19"/>
    <p:sldId id="315" r:id="rId20"/>
    <p:sldId id="316" r:id="rId21"/>
    <p:sldId id="317" r:id="rId22"/>
    <p:sldId id="318" r:id="rId23"/>
    <p:sldId id="319" r:id="rId24"/>
    <p:sldId id="320" r:id="rId25"/>
    <p:sldId id="321" r:id="rId26"/>
    <p:sldId id="322" r:id="rId27"/>
    <p:sldId id="323" r:id="rId28"/>
    <p:sldId id="324" r:id="rId29"/>
    <p:sldId id="328" r:id="rId30"/>
    <p:sldId id="329" r:id="rId31"/>
    <p:sldId id="325" r:id="rId32"/>
    <p:sldId id="326" r:id="rId33"/>
    <p:sldId id="327" r:id="rId34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D5143AD7-E749-5E1E-371D-A585C0C727CD}" name="User" initials="U" userId="User" providerId="Non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28" autoAdjust="0"/>
    <p:restoredTop sz="94660"/>
  </p:normalViewPr>
  <p:slideViewPr>
    <p:cSldViewPr snapToGrid="0">
      <p:cViewPr varScale="1">
        <p:scale>
          <a:sx n="53" d="100"/>
          <a:sy n="53" d="100"/>
        </p:scale>
        <p:origin x="186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microsoft.com/office/2018/10/relationships/authors" Target="author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omments/modernComment_137_8D21F108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036338F0-9002-455C-988D-D8D72B210E4E}" authorId="{D5143AD7-E749-5E1E-371D-A585C0C727CD}" created="2026-06-15T12:39:42.845">
    <pc:sldMkLst xmlns:pc="http://schemas.microsoft.com/office/powerpoint/2013/main/command">
      <pc:docMk/>
      <pc:sldMk cId="2367811848" sldId="311"/>
    </pc:sldMkLst>
    <p188:txBody>
      <a:bodyPr/>
      <a:lstStyle/>
      <a:p>
        <a:r>
          <a:rPr lang="ru-RU"/>
          <a:t>https://dl.acm.org/doi/10.1145/170036.170081
</a:t>
        </a:r>
      </a:p>
    </p188:txBody>
  </p188:cm>
</p188:cmLst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8C11953-B402-2415-CCE3-BA4EE48C2FE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3AB6CD9F-4F55-BF2C-1E0F-B97C319703E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EABF329-1F52-2C75-2B41-A211954270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4FFA5F-9259-44A3-B34F-0EBE523857DE}" type="datetimeFigureOut">
              <a:rPr lang="ru-RU" smtClean="0"/>
              <a:t>05.10.2026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80CC987-45E6-4C91-4422-B1BD0202D3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382F9AB-28A4-D584-69A4-D33D1F2617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2CD04D-55DE-4681-AE26-CA7A79B3B6B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712202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4653F8F-24D7-B8B9-3B30-392B8404C0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D257DF4-AE77-A2B3-CC9B-43787D337B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1E4530D-5D55-699D-B610-B244765882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4FFA5F-9259-44A3-B34F-0EBE523857DE}" type="datetimeFigureOut">
              <a:rPr lang="ru-RU" smtClean="0"/>
              <a:t>05.10.2026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22C58C8-5A85-B181-5FD3-E5E77994A1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AECF613-54D9-1543-2634-84280EC8FC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2CD04D-55DE-4681-AE26-CA7A79B3B6B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894965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11B6322-C968-4DF3-C526-091E431A26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9F86442-24CC-C5F7-076E-4653001FFC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666090B-8B20-09AE-1A4D-F10784377E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4FFA5F-9259-44A3-B34F-0EBE523857DE}" type="datetimeFigureOut">
              <a:rPr lang="ru-RU" smtClean="0"/>
              <a:t>05.10.2026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CF650EC-C55C-66A4-0463-C6B504E1BC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F99D6A6-8747-12EB-FEEB-8423851E07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2CD04D-55DE-4681-AE26-CA7A79B3B6B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101418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6A12203-2994-CD85-9314-C9ED740522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B3FB8A7-3057-1C0A-5501-6CF6261CC79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E6AA97CF-BE66-179F-1F1E-C916A3F304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FBDF9836-ABAF-6813-65E4-BCBE3466C4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4FFA5F-9259-44A3-B34F-0EBE523857DE}" type="datetimeFigureOut">
              <a:rPr lang="ru-RU" smtClean="0"/>
              <a:t>05.10.2026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9C2C50A8-28E2-7E09-5FCE-0C6D87F207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1943FA6E-C887-46C9-3949-15165DF440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2CD04D-55DE-4681-AE26-CA7A79B3B6B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742648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C72D6E7-6722-824B-1734-0B33F00261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9860CA62-E8A1-5082-8578-A964272F51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F01D0E5E-2E6F-9383-6918-C5DF5982E2E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543FC480-4262-1F52-9DB2-3F85E30659E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7E25D87B-F5C0-7769-A000-A510F9D0935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C034F013-7FC8-A7C2-7213-87CD21F3EF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4FFA5F-9259-44A3-B34F-0EBE523857DE}" type="datetimeFigureOut">
              <a:rPr lang="ru-RU" smtClean="0"/>
              <a:t>05.10.2026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5B42B115-FC6E-3229-921D-BBE7B10FE0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E9BFE8CC-5ACF-7FA0-FF2E-865A02D162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2CD04D-55DE-4681-AE26-CA7A79B3B6B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553273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F037863-C8B7-1A4C-7EBB-2CDE69F7C8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F015BDBF-956E-2800-A814-C613473A60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4FFA5F-9259-44A3-B34F-0EBE523857DE}" type="datetimeFigureOut">
              <a:rPr lang="ru-RU" smtClean="0"/>
              <a:t>05.10.2026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7A634791-D860-E742-9231-37424B903A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088221F6-B5A1-AA88-F803-64F8094DA2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2CD04D-55DE-4681-AE26-CA7A79B3B6B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814600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BA7453CC-6DAB-4B31-4E96-103ADB34D9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4FFA5F-9259-44A3-B34F-0EBE523857DE}" type="datetimeFigureOut">
              <a:rPr lang="ru-RU" smtClean="0"/>
              <a:t>05.10.2026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9D63FA5B-B0F6-4F2A-8FCD-968AE0375A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0BCB04C4-CF83-1308-F025-2737A397B3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2CD04D-55DE-4681-AE26-CA7A79B3B6B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239943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DCAC2E5-CDC0-67C9-A5C1-5F75EB71B7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52209A5-EA97-89F8-3C63-756A2C6E8B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366F5E23-0154-0E9D-E966-1EC8C3C4283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0D83DD7F-0359-24AB-2921-07ED81285A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4FFA5F-9259-44A3-B34F-0EBE523857DE}" type="datetimeFigureOut">
              <a:rPr lang="ru-RU" smtClean="0"/>
              <a:t>05.10.2026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E7310051-7115-A462-2308-9450DCC7C1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A2748BE9-5131-C868-6EB2-BF148D6A90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2CD04D-55DE-4681-AE26-CA7A79B3B6B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144300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3D2F07B-DCFB-9A65-42A9-440A942F9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AA1AEC19-F710-497C-2D6A-A7C8FC985D0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78956C63-C25C-05EC-91AF-B3F8CDC3DD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AB3FADA2-49A1-90CD-ED0A-D330746133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4FFA5F-9259-44A3-B34F-0EBE523857DE}" type="datetimeFigureOut">
              <a:rPr lang="ru-RU" smtClean="0"/>
              <a:t>05.10.2026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17C0A9D0-C4D3-7A1C-9C34-083BD8C1DD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96B54C0A-72EE-D7D3-E8AD-CA7C649152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2CD04D-55DE-4681-AE26-CA7A79B3B6B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953565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A336926-0E94-B363-2D99-9255490ABC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34DF3DB8-BB87-E94D-6177-17E4298E876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2A5ADE5-B330-6688-83C4-7AD327737C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4FFA5F-9259-44A3-B34F-0EBE523857DE}" type="datetimeFigureOut">
              <a:rPr lang="ru-RU" smtClean="0"/>
              <a:t>05.10.2026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E4B47E5-339C-F6E9-A8A8-986AD95307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B414372-77F5-E06E-C1E0-17C53FE4B1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2CD04D-55DE-4681-AE26-CA7A79B3B6B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087866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08ABC538-B850-024D-23EC-AA2B72FE4C8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7826F634-C3F5-97A1-2334-15B95F66300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F339B1A-1AFC-AC5A-08D5-FD72151761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4FFA5F-9259-44A3-B34F-0EBE523857DE}" type="datetimeFigureOut">
              <a:rPr lang="ru-RU" smtClean="0"/>
              <a:t>05.10.2026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972390B-46AA-09C3-BBA4-50C669633B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985F89B-07B6-C59D-618B-4C18986E40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2CD04D-55DE-4681-AE26-CA7A79B3B6B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436026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9D29FF6-35FC-0AE0-00DE-D10BCA358A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65044973-FA15-9062-6B73-3C20C4718A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E9E9F09-966B-401A-7DD4-36D53B6A4C1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D4FFA5F-9259-44A3-B34F-0EBE523857DE}" type="datetimeFigureOut">
              <a:rPr lang="ru-RU" smtClean="0"/>
              <a:t>05.10.2026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29F65F8-F13C-3C3E-9044-1B78365A9E9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E880CBF-78E1-A32D-FB55-6E7F2BC34A1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2CD04D-55DE-4681-AE26-CA7A79B3B6B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980348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microsoft.com/office/2018/10/relationships/comments" Target="../comments/modernComment_137_8D21F108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3108" y="2286001"/>
            <a:ext cx="1069848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1F4E79"/>
                </a:solidFill>
                <a:latin typeface="Calibri"/>
              </a:defRPr>
            </a:pPr>
            <a:r>
              <a:rPr sz="4400"/>
              <a:t>Хранение в базах данных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3108" y="3840481"/>
            <a:ext cx="1069848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5A5A5A"/>
                </a:solidFill>
                <a:latin typeface="Calibri"/>
              </a:defRPr>
            </a:pPr>
            <a:r>
              <a:rPr sz="2200" dirty="0" err="1"/>
              <a:t>Лекция</a:t>
            </a:r>
            <a:r>
              <a:rPr sz="2200" dirty="0"/>
              <a:t> </a:t>
            </a:r>
            <a:r>
              <a:rPr lang="en-US" sz="2200" dirty="0"/>
              <a:t>4</a:t>
            </a:r>
            <a:r>
              <a:rPr sz="2200" dirty="0"/>
              <a:t>. </a:t>
            </a:r>
            <a:r>
              <a:rPr lang="ru-RU" sz="2200" dirty="0"/>
              <a:t>Пулы буферов СУБД</a:t>
            </a:r>
            <a:endParaRPr sz="2200" dirty="0"/>
          </a:p>
        </p:txBody>
      </p:sp>
      <p:sp>
        <p:nvSpPr>
          <p:cNvPr id="4" name="Rectangle 3"/>
          <p:cNvSpPr/>
          <p:nvPr/>
        </p:nvSpPr>
        <p:spPr>
          <a:xfrm>
            <a:off x="733108" y="3703320"/>
            <a:ext cx="1371600" cy="508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50228" y="365760"/>
            <a:ext cx="3098925" cy="5539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F4E79"/>
                </a:solidFill>
                <a:latin typeface="Calibri"/>
              </a:defRPr>
            </a:pPr>
            <a:r>
              <a:rPr lang="ru-RU" sz="3000" dirty="0"/>
              <a:t>Хранилище СУБД</a:t>
            </a:r>
            <a:endParaRPr sz="3000" dirty="0"/>
          </a:p>
        </p:txBody>
      </p:sp>
      <p:sp>
        <p:nvSpPr>
          <p:cNvPr id="3" name="Rectangle 2"/>
          <p:cNvSpPr/>
          <p:nvPr/>
        </p:nvSpPr>
        <p:spPr>
          <a:xfrm>
            <a:off x="550228" y="1188720"/>
            <a:ext cx="11064240" cy="25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3108" y="1463041"/>
            <a:ext cx="10698480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  <a:defRPr sz="1800">
                <a:solidFill>
                  <a:srgbClr val="2B2B2B"/>
                </a:solidFill>
                <a:latin typeface="Calibri"/>
              </a:defRPr>
            </a:pPr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Требование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СУБД должна управлять данными, кратно превосходящими объемы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RAM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  <a:defRPr sz="1800">
                <a:solidFill>
                  <a:srgbClr val="2B2B2B"/>
                </a:solidFill>
                <a:latin typeface="Calibri"/>
              </a:defRPr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  <a:defRPr sz="1800">
                <a:solidFill>
                  <a:srgbClr val="2B2B2B"/>
                </a:solidFill>
                <a:latin typeface="Calibri"/>
              </a:defRPr>
            </a:pPr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Решение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742950" lvl="1" indent="-285750">
              <a:spcAft>
                <a:spcPts val="600"/>
              </a:spcAft>
              <a:buFont typeface="Arial" panose="020B0604020202020204" pitchFamily="34" charset="0"/>
              <a:buChar char="•"/>
              <a:defRPr sz="1800">
                <a:solidFill>
                  <a:srgbClr val="2B2B2B"/>
                </a:solidFill>
                <a:latin typeface="Calibri"/>
              </a:defRPr>
            </a:pPr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Контроль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места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1200150" lvl="2" indent="-285750">
              <a:spcAft>
                <a:spcPts val="600"/>
              </a:spcAft>
              <a:buFont typeface="Arial" panose="020B0604020202020204" pitchFamily="34" charset="0"/>
              <a:buChar char="•"/>
              <a:defRPr sz="1800">
                <a:solidFill>
                  <a:srgbClr val="2B2B2B"/>
                </a:solidFill>
                <a:latin typeface="Calibri"/>
              </a:defRPr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Где записывать страницы кортежей на диск</a:t>
            </a:r>
          </a:p>
          <a:p>
            <a:pPr marL="1200150" lvl="2" indent="-285750">
              <a:spcAft>
                <a:spcPts val="600"/>
              </a:spcAft>
              <a:buFont typeface="Arial" panose="020B0604020202020204" pitchFamily="34" charset="0"/>
              <a:buChar char="•"/>
              <a:defRPr sz="1800">
                <a:solidFill>
                  <a:srgbClr val="2B2B2B"/>
                </a:solidFill>
                <a:latin typeface="Calibri"/>
              </a:defRPr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Как записывать страницы максимально близко друг к другу</a:t>
            </a:r>
          </a:p>
          <a:p>
            <a:pPr marL="742950" lvl="1" indent="-285750">
              <a:spcAft>
                <a:spcPts val="600"/>
              </a:spcAft>
              <a:buFont typeface="Arial" panose="020B0604020202020204" pitchFamily="34" charset="0"/>
              <a:buChar char="•"/>
              <a:defRPr sz="1800">
                <a:solidFill>
                  <a:srgbClr val="2B2B2B"/>
                </a:solidFill>
                <a:latin typeface="Calibri"/>
              </a:defRPr>
            </a:pPr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Контроль времени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ru-RU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00150" lvl="2" indent="-285750">
              <a:spcAft>
                <a:spcPts val="600"/>
              </a:spcAft>
              <a:buFont typeface="Arial" panose="020B0604020202020204" pitchFamily="34" charset="0"/>
              <a:buChar char="•"/>
              <a:defRPr sz="1800">
                <a:solidFill>
                  <a:srgbClr val="2B2B2B"/>
                </a:solidFill>
                <a:latin typeface="Calibri"/>
              </a:defRPr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Когда читать страницы данных в память, когда записывать их на диск</a:t>
            </a:r>
          </a:p>
          <a:p>
            <a:pPr marL="1200150" lvl="2" indent="-285750">
              <a:spcAft>
                <a:spcPts val="600"/>
              </a:spcAft>
              <a:buFont typeface="Arial" panose="020B0604020202020204" pitchFamily="34" charset="0"/>
              <a:buChar char="•"/>
              <a:defRPr sz="1800">
                <a:solidFill>
                  <a:srgbClr val="2B2B2B"/>
                </a:solidFill>
                <a:latin typeface="Calibri"/>
              </a:defRPr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Как минимизировать число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I/O 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операций на диск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50229" y="365760"/>
            <a:ext cx="9931693" cy="5539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F4E79"/>
                </a:solidFill>
                <a:latin typeface="Calibri"/>
              </a:defRPr>
            </a:pPr>
            <a:r>
              <a:rPr lang="ru-RU" sz="3000" dirty="0"/>
              <a:t>Принцип устройства памяти диск-ориентированных СУБД</a:t>
            </a:r>
            <a:endParaRPr sz="3000" dirty="0"/>
          </a:p>
        </p:txBody>
      </p:sp>
      <p:sp>
        <p:nvSpPr>
          <p:cNvPr id="3" name="Rectangle 2"/>
          <p:cNvSpPr/>
          <p:nvPr/>
        </p:nvSpPr>
        <p:spPr>
          <a:xfrm>
            <a:off x="550228" y="1188720"/>
            <a:ext cx="11064240" cy="25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79BF7AEC-4F27-36EC-0E9F-B567BE77BD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3410" y="1244252"/>
            <a:ext cx="10791077" cy="55883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72963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50228" y="365760"/>
            <a:ext cx="4612866" cy="5539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F4E79"/>
                </a:solidFill>
                <a:latin typeface="Calibri"/>
              </a:defRPr>
            </a:pPr>
            <a:r>
              <a:rPr lang="ru-RU" sz="3000" dirty="0"/>
              <a:t>Не-дисковые пулы память</a:t>
            </a:r>
            <a:endParaRPr sz="3000" dirty="0"/>
          </a:p>
        </p:txBody>
      </p:sp>
      <p:sp>
        <p:nvSpPr>
          <p:cNvPr id="3" name="Rectangle 2"/>
          <p:cNvSpPr/>
          <p:nvPr/>
        </p:nvSpPr>
        <p:spPr>
          <a:xfrm>
            <a:off x="550228" y="1188720"/>
            <a:ext cx="11064240" cy="25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3108" y="1463041"/>
            <a:ext cx="10698480" cy="26930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2B2B2B"/>
                </a:solidFill>
                <a:latin typeface="Calibri"/>
              </a:defRPr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СУБД нужна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RAM 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для вспомогательных сущностей.</a:t>
            </a:r>
          </a:p>
          <a:p>
            <a:pPr>
              <a:spcAft>
                <a:spcPts val="600"/>
              </a:spcAft>
              <a:defRPr sz="1800">
                <a:solidFill>
                  <a:srgbClr val="2B2B2B"/>
                </a:solidFill>
                <a:latin typeface="Calibri"/>
              </a:defRPr>
            </a:pP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Aft>
                <a:spcPts val="600"/>
              </a:spcAft>
              <a:defRPr sz="1800">
                <a:solidFill>
                  <a:srgbClr val="2B2B2B"/>
                </a:solidFill>
                <a:latin typeface="Calibri"/>
              </a:defRPr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Эти пулы могут не взаимодействовать с диском. Примеры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  <a:defRPr sz="1800">
                <a:solidFill>
                  <a:srgbClr val="2B2B2B"/>
                </a:solidFill>
                <a:latin typeface="Calibri"/>
              </a:defRPr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Буферы сортировок и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join-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ов</a:t>
            </a: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  <a:defRPr sz="1800">
                <a:solidFill>
                  <a:srgbClr val="2B2B2B"/>
                </a:solidFill>
                <a:latin typeface="Calibri"/>
              </a:defRPr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Кэши запросов</a:t>
            </a:r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  <a:defRPr sz="1800">
                <a:solidFill>
                  <a:srgbClr val="2B2B2B"/>
                </a:solidFill>
                <a:latin typeface="Calibri"/>
              </a:defRPr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Буферы логов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328950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50228" y="365760"/>
            <a:ext cx="5111592" cy="5539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F4E79"/>
                </a:solidFill>
                <a:latin typeface="Calibri"/>
              </a:defRPr>
            </a:pPr>
            <a:r>
              <a:rPr lang="ru-RU" sz="3000" dirty="0"/>
              <a:t>Организация буферного пула</a:t>
            </a:r>
            <a:endParaRPr sz="3000" dirty="0"/>
          </a:p>
        </p:txBody>
      </p:sp>
      <p:sp>
        <p:nvSpPr>
          <p:cNvPr id="3" name="Rectangle 2"/>
          <p:cNvSpPr/>
          <p:nvPr/>
        </p:nvSpPr>
        <p:spPr>
          <a:xfrm>
            <a:off x="550228" y="1188720"/>
            <a:ext cx="11064240" cy="25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55593" y="1292181"/>
            <a:ext cx="10698480" cy="48628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2B2B2B"/>
                </a:solidFill>
                <a:latin typeface="Calibri"/>
              </a:defRPr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Буферный пул оперирует </a:t>
            </a:r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фреймами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frames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– 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выделенным местом, в которое кладутся </a:t>
            </a:r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копии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страниц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pages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данных. Измененные страницы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dirty pages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буферизуются (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write-back cache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  <a:p>
            <a:pPr>
              <a:spcAft>
                <a:spcPts val="600"/>
              </a:spcAft>
              <a:defRPr sz="1800">
                <a:solidFill>
                  <a:srgbClr val="2B2B2B"/>
                </a:solidFill>
                <a:latin typeface="Calibri"/>
              </a:defRPr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Таблица страниц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page table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отслеживает используемые в данный момент страницы. Служит для </a:t>
            </a:r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контроля доступа 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 данным и менеджмента памяти. Содержит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Aft>
                <a:spcPts val="600"/>
              </a:spcAft>
              <a:defRPr sz="1800">
                <a:solidFill>
                  <a:srgbClr val="2B2B2B"/>
                </a:solidFill>
                <a:latin typeface="Calibri"/>
              </a:defRPr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У фрейма есть метаданные: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Aft>
                <a:spcPts val="600"/>
              </a:spcAft>
              <a:defRPr sz="1800">
                <a:solidFill>
                  <a:srgbClr val="2B2B2B"/>
                </a:solidFill>
                <a:latin typeface="Calibri"/>
              </a:defRPr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page_id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dirty flag, pin count, latch</a:t>
            </a:r>
          </a:p>
          <a:p>
            <a:pPr>
              <a:spcAft>
                <a:spcPts val="600"/>
              </a:spcAft>
              <a:defRPr sz="1800">
                <a:solidFill>
                  <a:srgbClr val="2B2B2B"/>
                </a:solidFill>
                <a:latin typeface="Calibri"/>
              </a:defRPr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600"/>
              </a:spcAft>
              <a:buFontTx/>
              <a:buChar char="-"/>
              <a:defRPr sz="1800">
                <a:solidFill>
                  <a:srgbClr val="2B2B2B"/>
                </a:solidFill>
                <a:latin typeface="Calibri"/>
              </a:defRPr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Dirty Flag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изменились ли </a:t>
            </a:r>
          </a:p>
          <a:p>
            <a:pPr>
              <a:spcAft>
                <a:spcPts val="600"/>
              </a:spcAft>
              <a:defRPr sz="1800">
                <a:solidFill>
                  <a:srgbClr val="2B2B2B"/>
                </a:solidFill>
                <a:latin typeface="Calibri"/>
              </a:defRPr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данные страницы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600"/>
              </a:spcAft>
              <a:buFontTx/>
              <a:buChar char="-"/>
              <a:defRPr sz="1800">
                <a:solidFill>
                  <a:srgbClr val="2B2B2B"/>
                </a:solidFill>
                <a:latin typeface="Calibri"/>
              </a:defRPr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Pin count – 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если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&gt;0 – 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страницу</a:t>
            </a:r>
          </a:p>
          <a:p>
            <a:pPr>
              <a:spcAft>
                <a:spcPts val="600"/>
              </a:spcAft>
              <a:defRPr sz="1800">
                <a:solidFill>
                  <a:srgbClr val="2B2B2B"/>
                </a:solidFill>
                <a:latin typeface="Calibri"/>
              </a:defRPr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нельзя удалить из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RAM</a:t>
            </a:r>
          </a:p>
          <a:p>
            <a:pPr marL="342900" indent="-342900">
              <a:spcAft>
                <a:spcPts val="600"/>
              </a:spcAft>
              <a:buFontTx/>
              <a:buChar char="-"/>
              <a:defRPr sz="1800">
                <a:solidFill>
                  <a:srgbClr val="2B2B2B"/>
                </a:solidFill>
                <a:latin typeface="Calibri"/>
              </a:defRPr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Access tracking</a:t>
            </a:r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сколько раз 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600"/>
              </a:spcAft>
              <a:buFontTx/>
              <a:buChar char="-"/>
              <a:defRPr sz="1800">
                <a:solidFill>
                  <a:srgbClr val="2B2B2B"/>
                </a:solidFill>
                <a:latin typeface="Calibri"/>
              </a:defRPr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 когда вызывался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frame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1F457F12-7F36-A0C9-7FDD-2441F7B7624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65095" y="2697747"/>
            <a:ext cx="8302291" cy="39785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14930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50228" y="365760"/>
            <a:ext cx="4522648" cy="5539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F4E79"/>
                </a:solidFill>
                <a:latin typeface="Calibri"/>
              </a:defRPr>
            </a:pPr>
            <a:r>
              <a:rPr lang="en-US" sz="3000" dirty="0"/>
              <a:t>Page table </a:t>
            </a:r>
            <a:r>
              <a:rPr lang="ru-RU" sz="3000" dirty="0"/>
              <a:t>и </a:t>
            </a:r>
            <a:r>
              <a:rPr lang="en-US" sz="3000" dirty="0"/>
              <a:t>Page directory</a:t>
            </a:r>
            <a:endParaRPr sz="3000" dirty="0"/>
          </a:p>
        </p:txBody>
      </p:sp>
      <p:sp>
        <p:nvSpPr>
          <p:cNvPr id="3" name="Rectangle 2"/>
          <p:cNvSpPr/>
          <p:nvPr/>
        </p:nvSpPr>
        <p:spPr>
          <a:xfrm>
            <a:off x="550228" y="1188720"/>
            <a:ext cx="11064240" cy="25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3108" y="2382559"/>
            <a:ext cx="10698480" cy="20928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2B2B2B"/>
                </a:solidFill>
                <a:latin typeface="Calibri"/>
              </a:defRPr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Page directory – 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отображает идентификаторы страниц на </a:t>
            </a:r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реальное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расположение страницы в файле базы данных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(database file)</a:t>
            </a:r>
            <a:endParaRPr lang="ru-RU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Aft>
                <a:spcPts val="600"/>
              </a:spcAft>
              <a:defRPr sz="1800">
                <a:solidFill>
                  <a:srgbClr val="2B2B2B"/>
                </a:solidFill>
                <a:latin typeface="Calibri"/>
              </a:defRPr>
            </a:pP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Aft>
                <a:spcPts val="600"/>
              </a:spcAft>
              <a:defRPr sz="1800">
                <a:solidFill>
                  <a:srgbClr val="2B2B2B"/>
                </a:solidFill>
                <a:latin typeface="Calibri"/>
              </a:defRPr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Page table – 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отображает идентификаторы страниц на копию страницы,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лежающую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во </a:t>
            </a:r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фрейме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буферного пула</a:t>
            </a: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475915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50228" y="365760"/>
            <a:ext cx="2627001" cy="5539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F4E79"/>
                </a:solidFill>
                <a:latin typeface="Calibri"/>
              </a:defRPr>
            </a:pPr>
            <a:r>
              <a:rPr lang="en-US" sz="3000" dirty="0"/>
              <a:t>Locks </a:t>
            </a:r>
            <a:r>
              <a:rPr lang="ru-RU" sz="3000" dirty="0"/>
              <a:t>и </a:t>
            </a:r>
            <a:r>
              <a:rPr lang="en-US" sz="3000" dirty="0"/>
              <a:t>Latches</a:t>
            </a:r>
            <a:endParaRPr sz="3000" dirty="0"/>
          </a:p>
        </p:txBody>
      </p:sp>
      <p:sp>
        <p:nvSpPr>
          <p:cNvPr id="3" name="Rectangle 2"/>
          <p:cNvSpPr/>
          <p:nvPr/>
        </p:nvSpPr>
        <p:spPr>
          <a:xfrm>
            <a:off x="550228" y="1188720"/>
            <a:ext cx="11064240" cy="25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3108" y="1463041"/>
            <a:ext cx="10698480" cy="48474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2B2B2B"/>
                </a:solidFill>
                <a:latin typeface="Calibri"/>
              </a:defRPr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Lock (</a:t>
            </a:r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блокировка)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  <a:defRPr sz="1800">
                <a:solidFill>
                  <a:srgbClr val="2B2B2B"/>
                </a:solidFill>
                <a:latin typeface="Calibri"/>
              </a:defRPr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Разрешает конфликты блокировок на уровне транзакций СУБД</a:t>
            </a:r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  <a:defRPr sz="1800">
                <a:solidFill>
                  <a:srgbClr val="2B2B2B"/>
                </a:solidFill>
                <a:latin typeface="Calibri"/>
              </a:defRPr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Существует пока идет транзакция</a:t>
            </a:r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  <a:defRPr sz="1800">
                <a:solidFill>
                  <a:srgbClr val="2B2B2B"/>
                </a:solidFill>
                <a:latin typeface="Calibri"/>
              </a:defRPr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Виден пользователю</a:t>
            </a:r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  <a:defRPr sz="1800">
                <a:solidFill>
                  <a:srgbClr val="2B2B2B"/>
                </a:solidFill>
                <a:latin typeface="Calibri"/>
              </a:defRPr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Должен быть откатываем</a:t>
            </a:r>
          </a:p>
          <a:p>
            <a:pPr>
              <a:spcAft>
                <a:spcPts val="600"/>
              </a:spcAft>
              <a:defRPr sz="1800">
                <a:solidFill>
                  <a:srgbClr val="2B2B2B"/>
                </a:solidFill>
                <a:latin typeface="Calibri"/>
              </a:defRPr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Aft>
                <a:spcPts val="600"/>
              </a:spcAft>
              <a:defRPr sz="1800">
                <a:solidFill>
                  <a:srgbClr val="2B2B2B"/>
                </a:solidFill>
                <a:latin typeface="Calibri"/>
              </a:defRPr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Latch</a:t>
            </a:r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(защелка)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ru-RU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  <a:defRPr sz="1800">
                <a:solidFill>
                  <a:srgbClr val="2B2B2B"/>
                </a:solidFill>
                <a:latin typeface="Calibri"/>
              </a:defRPr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Защищает критические секции внутренних данных СУБД (низкоуровневая блокировка)</a:t>
            </a:r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  <a:defRPr sz="1800">
                <a:solidFill>
                  <a:srgbClr val="2B2B2B"/>
                </a:solidFill>
                <a:latin typeface="Calibri"/>
              </a:defRPr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Существует пока идет операция над секцией данных</a:t>
            </a:r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  <a:defRPr sz="1800">
                <a:solidFill>
                  <a:srgbClr val="2B2B2B"/>
                </a:solidFill>
                <a:latin typeface="Calibri"/>
              </a:defRPr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Не виден пользователю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155626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50228" y="365760"/>
            <a:ext cx="5034583" cy="5539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F4E79"/>
                </a:solidFill>
                <a:latin typeface="Calibri"/>
              </a:defRPr>
            </a:pPr>
            <a:r>
              <a:rPr lang="ru-RU" sz="3000" dirty="0"/>
              <a:t>Почему не использовать ОС?</a:t>
            </a:r>
            <a:endParaRPr sz="3000" dirty="0"/>
          </a:p>
        </p:txBody>
      </p:sp>
      <p:sp>
        <p:nvSpPr>
          <p:cNvPr id="3" name="Rectangle 2"/>
          <p:cNvSpPr/>
          <p:nvPr/>
        </p:nvSpPr>
        <p:spPr>
          <a:xfrm>
            <a:off x="550228" y="1188720"/>
            <a:ext cx="11064240" cy="25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50228" y="1483082"/>
            <a:ext cx="3860208" cy="48320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  <a:defRPr sz="1800">
                <a:solidFill>
                  <a:srgbClr val="2B2B2B"/>
                </a:solidFill>
                <a:latin typeface="Calibri"/>
              </a:defRPr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ОС использует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mmap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для хранения файла в адресном пространстве.</a:t>
            </a:r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  <a:defRPr sz="1800">
                <a:solidFill>
                  <a:srgbClr val="2B2B2B"/>
                </a:solidFill>
                <a:latin typeface="Calibri"/>
              </a:defRPr>
            </a:pP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  <a:defRPr sz="1800">
                <a:solidFill>
                  <a:srgbClr val="2B2B2B"/>
                </a:solidFill>
                <a:latin typeface="Calibri"/>
              </a:defRPr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ОС ответственна за загрузку и выгрузку страниц памяти для процесса</a:t>
            </a:r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  <a:defRPr sz="1800">
                <a:solidFill>
                  <a:srgbClr val="2B2B2B"/>
                </a:solidFill>
                <a:latin typeface="Calibri"/>
              </a:defRPr>
            </a:pP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  <a:defRPr sz="1800">
                <a:solidFill>
                  <a:srgbClr val="2B2B2B"/>
                </a:solidFill>
                <a:latin typeface="Calibri"/>
              </a:defRPr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Что если СУБД разрешит нескольким потокам доступ к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mmap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0FE1466B-8B48-1218-DA4F-0C317D48D72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10436" y="1688431"/>
            <a:ext cx="7781564" cy="41156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70948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50228" y="365760"/>
            <a:ext cx="10047109" cy="5539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F4E79"/>
                </a:solidFill>
                <a:latin typeface="Calibri"/>
              </a:defRPr>
            </a:pPr>
            <a:r>
              <a:rPr lang="ru-RU" sz="3000" dirty="0"/>
              <a:t>Проблемы использования ОС для управления страницами</a:t>
            </a:r>
            <a:endParaRPr sz="3000" dirty="0"/>
          </a:p>
        </p:txBody>
      </p:sp>
      <p:sp>
        <p:nvSpPr>
          <p:cNvPr id="3" name="Rectangle 2"/>
          <p:cNvSpPr/>
          <p:nvPr/>
        </p:nvSpPr>
        <p:spPr>
          <a:xfrm>
            <a:off x="550228" y="1188720"/>
            <a:ext cx="11064240" cy="25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50228" y="1425744"/>
            <a:ext cx="10823625" cy="54322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  <a:defRPr sz="1800">
                <a:solidFill>
                  <a:srgbClr val="2B2B2B"/>
                </a:solidFill>
                <a:latin typeface="Calibri"/>
              </a:defRPr>
            </a:pPr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Безопасность транзакций 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ОС может записать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dirty pages 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на диск в любое время</a:t>
            </a:r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  <a:defRPr sz="1800">
                <a:solidFill>
                  <a:srgbClr val="2B2B2B"/>
                </a:solidFill>
                <a:latin typeface="Calibri"/>
              </a:defRPr>
            </a:pP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  <a:defRPr sz="1800">
                <a:solidFill>
                  <a:srgbClr val="2B2B2B"/>
                </a:solidFill>
                <a:latin typeface="Calibri"/>
              </a:defRPr>
            </a:pPr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Простои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I/O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СУБД не знает, какие страницы в памяти. ОС останавливает поток чтения при ошибке. При ЛЮБОЙ ошибке обработки страницы нужно обрабатывать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SIGBUS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долго, тяжело, очень много мест в коде)</a:t>
            </a:r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  <a:defRPr sz="1800">
                <a:solidFill>
                  <a:srgbClr val="2B2B2B"/>
                </a:solidFill>
                <a:latin typeface="Calibri"/>
              </a:defRPr>
            </a:pP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  <a:defRPr sz="1800">
                <a:solidFill>
                  <a:srgbClr val="2B2B2B"/>
                </a:solidFill>
                <a:latin typeface="Calibri"/>
              </a:defRPr>
            </a:pPr>
            <a:r>
              <a:rPr lang="ru-RU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Деградания</a:t>
            </a:r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производительности 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</a:t>
            </a:r>
            <a:r>
              <a:rPr lang="ru-RU" sz="2400" dirty="0"/>
              <a:t>Конкуренция за структуры данных ОС. TLB </a:t>
            </a:r>
            <a:r>
              <a:rPr lang="ru-RU" sz="2400" dirty="0" err="1"/>
              <a:t>shootdowns</a:t>
            </a:r>
            <a:r>
              <a:rPr lang="ru-RU" sz="2400" dirty="0"/>
              <a:t> (сбросы TLB)</a:t>
            </a:r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  <a:defRPr sz="1800">
                <a:solidFill>
                  <a:srgbClr val="2B2B2B"/>
                </a:solidFill>
                <a:latin typeface="Calibri"/>
              </a:defRPr>
            </a:pP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  <a:defRPr sz="1800">
                <a:solidFill>
                  <a:srgbClr val="2B2B2B"/>
                </a:solidFill>
                <a:latin typeface="Calibri"/>
              </a:defRPr>
            </a:pP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Aft>
                <a:spcPts val="600"/>
              </a:spcAft>
              <a:defRPr sz="1800">
                <a:solidFill>
                  <a:srgbClr val="2B2B2B"/>
                </a:solidFill>
                <a:latin typeface="Calibri"/>
              </a:defRPr>
            </a:pPr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Потенциальные решения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все равно сложно и дорого, прирост – около 10%)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использовать в коде СУБД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madvise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mlock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msync</a:t>
            </a: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695287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50228" y="365760"/>
            <a:ext cx="6016199" cy="5539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F4E79"/>
                </a:solidFill>
                <a:latin typeface="Calibri"/>
              </a:defRPr>
            </a:pPr>
            <a:r>
              <a:rPr lang="ru-RU" sz="3000" dirty="0"/>
              <a:t>Политики освобождения буферов</a:t>
            </a:r>
            <a:endParaRPr sz="3000" dirty="0"/>
          </a:p>
        </p:txBody>
      </p:sp>
      <p:sp>
        <p:nvSpPr>
          <p:cNvPr id="3" name="Rectangle 2"/>
          <p:cNvSpPr/>
          <p:nvPr/>
        </p:nvSpPr>
        <p:spPr>
          <a:xfrm>
            <a:off x="550228" y="1188720"/>
            <a:ext cx="11064240" cy="25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50228" y="1425744"/>
            <a:ext cx="10823625" cy="38779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2B2B2B"/>
                </a:solidFill>
                <a:latin typeface="Calibri"/>
              </a:defRPr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Когда СУБД необходимо освободить фрейм в буфере, чтобы добавить в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RAM 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новую страницу, ей нужно решить, какие страницы </a:t>
            </a:r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удалить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из фреймов буферного пула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  <a:defRPr sz="1800">
                <a:solidFill>
                  <a:srgbClr val="2B2B2B"/>
                </a:solidFill>
                <a:latin typeface="Calibri"/>
              </a:defRPr>
            </a:pPr>
            <a:endParaRPr lang="ru-RU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Aft>
                <a:spcPts val="600"/>
              </a:spcAft>
              <a:defRPr sz="1800">
                <a:solidFill>
                  <a:srgbClr val="2B2B2B"/>
                </a:solidFill>
                <a:latin typeface="Calibri"/>
              </a:defRPr>
            </a:pPr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Цели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  <a:defRPr sz="1800">
                <a:solidFill>
                  <a:srgbClr val="2B2B2B"/>
                </a:solidFill>
                <a:latin typeface="Calibri"/>
              </a:defRPr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Корректность</a:t>
            </a:r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  <a:defRPr sz="1800">
                <a:solidFill>
                  <a:srgbClr val="2B2B2B"/>
                </a:solidFill>
                <a:latin typeface="Calibri"/>
              </a:defRPr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Точность</a:t>
            </a:r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  <a:defRPr sz="1800">
                <a:solidFill>
                  <a:srgbClr val="2B2B2B"/>
                </a:solidFill>
                <a:latin typeface="Calibri"/>
              </a:defRPr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Скорость</a:t>
            </a:r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  <a:defRPr sz="1800">
                <a:solidFill>
                  <a:srgbClr val="2B2B2B"/>
                </a:solidFill>
                <a:latin typeface="Calibri"/>
              </a:defRPr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Избегание раздувание метаданных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993478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50228" y="365760"/>
            <a:ext cx="4380366" cy="5539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F4E79"/>
                </a:solidFill>
                <a:latin typeface="Calibri"/>
              </a:defRPr>
            </a:pPr>
            <a:r>
              <a:rPr lang="en-US" sz="3000" dirty="0"/>
              <a:t>Least-recently used (1965)</a:t>
            </a:r>
            <a:endParaRPr sz="3000" dirty="0"/>
          </a:p>
        </p:txBody>
      </p:sp>
      <p:sp>
        <p:nvSpPr>
          <p:cNvPr id="3" name="Rectangle 2"/>
          <p:cNvSpPr/>
          <p:nvPr/>
        </p:nvSpPr>
        <p:spPr>
          <a:xfrm>
            <a:off x="550228" y="1188720"/>
            <a:ext cx="11064240" cy="25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50228" y="1425744"/>
            <a:ext cx="10823625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2B2B2B"/>
                </a:solidFill>
                <a:latin typeface="Calibri"/>
              </a:defRPr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Нужно хранить временную метку того, когда страница была запрошена. Когда нужно удалить – удалить страницы, которые были в буфере </a:t>
            </a:r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дольше всего.</a:t>
            </a: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01B4F29A-02A6-E2AD-3004-5D90519F2BC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0228" y="2543318"/>
            <a:ext cx="10365561" cy="35205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78943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50228" y="365760"/>
            <a:ext cx="2143536" cy="5539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F4E79"/>
                </a:solidFill>
                <a:latin typeface="Calibri"/>
              </a:defRPr>
            </a:pPr>
            <a:r>
              <a:rPr lang="en-US" sz="3000" dirty="0"/>
              <a:t>Clock (1969)</a:t>
            </a:r>
            <a:endParaRPr sz="3000" dirty="0"/>
          </a:p>
        </p:txBody>
      </p:sp>
      <p:sp>
        <p:nvSpPr>
          <p:cNvPr id="3" name="Rectangle 2"/>
          <p:cNvSpPr/>
          <p:nvPr/>
        </p:nvSpPr>
        <p:spPr>
          <a:xfrm>
            <a:off x="550228" y="1188720"/>
            <a:ext cx="11064240" cy="25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50228" y="1425744"/>
            <a:ext cx="10823625" cy="39549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2B2B2B"/>
                </a:solidFill>
                <a:latin typeface="Calibri"/>
              </a:defRPr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Вариация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LRU 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кэша, которой </a:t>
            </a:r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не нужен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timestamp 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на каждую страницу.</a:t>
            </a:r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  <a:defRPr sz="1800">
                <a:solidFill>
                  <a:srgbClr val="2B2B2B"/>
                </a:solidFill>
                <a:latin typeface="Calibri"/>
              </a:defRPr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У каждой страницы есть </a:t>
            </a:r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референсный бит.</a:t>
            </a:r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  <a:defRPr sz="1800">
                <a:solidFill>
                  <a:srgbClr val="2B2B2B"/>
                </a:solidFill>
                <a:latin typeface="Calibri"/>
              </a:defRPr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Когда страницу запрашивают в кэше -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bit = 1</a:t>
            </a:r>
            <a:endParaRPr lang="ru-RU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  <a:defRPr sz="1800">
                <a:solidFill>
                  <a:srgbClr val="2B2B2B"/>
                </a:solidFill>
                <a:latin typeface="Calibri"/>
              </a:defRPr>
            </a:pP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Aft>
                <a:spcPts val="600"/>
              </a:spcAft>
              <a:defRPr sz="1800">
                <a:solidFill>
                  <a:srgbClr val="2B2B2B"/>
                </a:solidFill>
                <a:latin typeface="Calibri"/>
              </a:defRPr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Страницы в буфере расположены </a:t>
            </a:r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 кольцу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Указатель на элемент смещается по часовой стрелке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  <a:defRPr sz="1800">
                <a:solidFill>
                  <a:srgbClr val="2B2B2B"/>
                </a:solidFill>
                <a:latin typeface="Calibri"/>
              </a:defRPr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Если бит у страницы </a:t>
            </a:r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1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поставить его </a:t>
            </a:r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0</a:t>
            </a:r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  <a:defRPr sz="1800">
                <a:solidFill>
                  <a:srgbClr val="2B2B2B"/>
                </a:solidFill>
                <a:latin typeface="Calibri"/>
              </a:defRPr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Если бит = 0 – </a:t>
            </a:r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удалить страницу</a:t>
            </a: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  <a:defRPr sz="1800">
                <a:solidFill>
                  <a:srgbClr val="2B2B2B"/>
                </a:solidFill>
                <a:latin typeface="Calibri"/>
              </a:defRPr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8527635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50228" y="365760"/>
            <a:ext cx="5846280" cy="5539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F4E79"/>
                </a:solidFill>
                <a:latin typeface="Calibri"/>
              </a:defRPr>
            </a:pPr>
            <a:r>
              <a:rPr lang="ru-RU" sz="3000" dirty="0"/>
              <a:t>Последовательное переполнение</a:t>
            </a:r>
            <a:endParaRPr sz="3000" dirty="0"/>
          </a:p>
        </p:txBody>
      </p:sp>
      <p:sp>
        <p:nvSpPr>
          <p:cNvPr id="3" name="Rectangle 2"/>
          <p:cNvSpPr/>
          <p:nvPr/>
        </p:nvSpPr>
        <p:spPr>
          <a:xfrm>
            <a:off x="550228" y="1188720"/>
            <a:ext cx="11064240" cy="25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-1" y="1281823"/>
            <a:ext cx="5317067" cy="39395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2B2B2B"/>
                </a:solidFill>
                <a:latin typeface="Calibri"/>
              </a:defRPr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LRU 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Clock 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уязвимы к последовательному переполнению </a:t>
            </a:r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sequential flooding)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Aft>
                <a:spcPts val="600"/>
              </a:spcAft>
              <a:defRPr sz="1800">
                <a:solidFill>
                  <a:srgbClr val="2B2B2B"/>
                </a:solidFill>
                <a:latin typeface="Calibri"/>
              </a:defRPr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  <a:defRPr sz="1800">
                <a:solidFill>
                  <a:srgbClr val="2B2B2B"/>
                </a:solidFill>
                <a:latin typeface="Calibri"/>
              </a:defRPr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Запрос выполняет последовательный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scan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страниц, который вычитывает все страницы таблицы 1 или более раз</a:t>
            </a:r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  <a:defRPr sz="1800">
                <a:solidFill>
                  <a:srgbClr val="2B2B2B"/>
                </a:solidFill>
                <a:latin typeface="Calibri"/>
              </a:defRPr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Эти страницы забивают пул буферов</a:t>
            </a:r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  <a:defRPr sz="1800">
                <a:solidFill>
                  <a:srgbClr val="2B2B2B"/>
                </a:solidFill>
                <a:latin typeface="Calibri"/>
              </a:defRPr>
            </a:pP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Aft>
                <a:spcPts val="600"/>
              </a:spcAft>
              <a:defRPr sz="1800">
                <a:solidFill>
                  <a:srgbClr val="2B2B2B"/>
                </a:solidFill>
                <a:latin typeface="Calibri"/>
              </a:defRPr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Для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OLAP 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лучше подходит принцип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MRU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(most recently used)</a:t>
            </a:r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  <a:defRPr sz="1800">
                <a:solidFill>
                  <a:srgbClr val="2B2B2B"/>
                </a:solidFill>
                <a:latin typeface="Calibri"/>
              </a:defRPr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1A94F031-E1BE-128F-1C2B-D977B0DC703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16628" y="2280355"/>
            <a:ext cx="9597840" cy="4291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901598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50228" y="365760"/>
            <a:ext cx="1883849" cy="5539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F4E79"/>
                </a:solidFill>
                <a:latin typeface="Calibri"/>
              </a:defRPr>
            </a:pPr>
            <a:r>
              <a:rPr lang="en-US" sz="3000" dirty="0"/>
              <a:t>LFU (1971)</a:t>
            </a:r>
            <a:endParaRPr sz="3000" dirty="0"/>
          </a:p>
        </p:txBody>
      </p:sp>
      <p:sp>
        <p:nvSpPr>
          <p:cNvPr id="3" name="Rectangle 2"/>
          <p:cNvSpPr/>
          <p:nvPr/>
        </p:nvSpPr>
        <p:spPr>
          <a:xfrm>
            <a:off x="550228" y="1188720"/>
            <a:ext cx="11064240" cy="25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50228" y="1444135"/>
            <a:ext cx="10174216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LRU + CLOCK отслеживают только момент последнего доступа к странице, но не то, как часто к странице обращаются.</a:t>
            </a:r>
          </a:p>
          <a:p>
            <a:endParaRPr lang="ru-RU" sz="240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24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Чтобы выявлять популярные страницы, можно поддерживать счётчик обращений для каждой страницы и вытеснять страницу с наименьшим значением.</a:t>
            </a:r>
          </a:p>
          <a:p>
            <a:endParaRPr lang="ru-RU" sz="240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2400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Но LFU (</a:t>
            </a:r>
            <a:r>
              <a:rPr lang="ru-RU" sz="2400" b="1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Least</a:t>
            </a:r>
            <a:r>
              <a:rPr lang="ru-RU" sz="2400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b="1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Frequently</a:t>
            </a:r>
            <a:r>
              <a:rPr lang="ru-RU" sz="2400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b="1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Used</a:t>
            </a:r>
            <a:r>
              <a:rPr lang="ru-RU" sz="2400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 создаёт дополнительные проблемы:</a:t>
            </a:r>
            <a:br>
              <a:rPr lang="ru-RU" sz="24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4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→ Логарифмическая сложность реализации относительно размера кэша.</a:t>
            </a:r>
            <a:br>
              <a:rPr lang="ru-RU" sz="24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4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→ Игнорирует время и накапливает устаревшие страницы с высокими значениями частоты, которые могут быть уже неактуальны.</a:t>
            </a:r>
          </a:p>
        </p:txBody>
      </p:sp>
    </p:spTree>
    <p:extLst>
      <p:ext uri="{BB962C8B-B14F-4D97-AF65-F5344CB8AC3E}">
        <p14:creationId xmlns:p14="http://schemas.microsoft.com/office/powerpoint/2010/main" val="386483984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50228" y="365760"/>
            <a:ext cx="2250937" cy="5539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F4E79"/>
                </a:solidFill>
                <a:latin typeface="Calibri"/>
              </a:defRPr>
            </a:pPr>
            <a:r>
              <a:rPr lang="en-US" sz="3000" dirty="0"/>
              <a:t>LRU-K (1993)</a:t>
            </a:r>
            <a:endParaRPr sz="3000" dirty="0"/>
          </a:p>
        </p:txBody>
      </p:sp>
      <p:sp>
        <p:nvSpPr>
          <p:cNvPr id="3" name="Rectangle 2"/>
          <p:cNvSpPr/>
          <p:nvPr/>
        </p:nvSpPr>
        <p:spPr>
          <a:xfrm>
            <a:off x="550228" y="1188720"/>
            <a:ext cx="11064240" cy="25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50228" y="1444135"/>
            <a:ext cx="10174216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/>
              <a:t>LRU-K </a:t>
            </a:r>
            <a:r>
              <a:rPr lang="ru-RU" sz="2400" b="1" dirty="0"/>
              <a:t>отслеживает историю последних K обращений к каждой странице в виде временных меток </a:t>
            </a:r>
            <a:r>
              <a:rPr lang="ru-RU" sz="2400" dirty="0"/>
              <a:t>и вычисляет интервал между последовательными обращениями.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400" dirty="0"/>
              <a:t>Позволяет различать типы обращений (</a:t>
            </a:r>
            <a:r>
              <a:rPr lang="ru-RU" sz="2400" dirty="0" err="1"/>
              <a:t>reference</a:t>
            </a:r>
            <a:r>
              <a:rPr lang="ru-RU" sz="2400" dirty="0"/>
              <a:t> </a:t>
            </a:r>
            <a:r>
              <a:rPr lang="ru-RU" sz="2400" dirty="0" err="1"/>
              <a:t>types</a:t>
            </a:r>
            <a:r>
              <a:rPr lang="ru-RU" sz="2400" dirty="0"/>
              <a:t>).</a:t>
            </a:r>
          </a:p>
          <a:p>
            <a:endParaRPr lang="ru-RU" sz="2400" dirty="0"/>
          </a:p>
          <a:p>
            <a:r>
              <a:rPr lang="ru-RU" sz="2400" b="1" dirty="0"/>
              <a:t>Использует эту историю обращений для оценки времени следующего обращения к странице.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400" dirty="0"/>
              <a:t>Вытесняет страницу с самым давним K-м обращением.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400" dirty="0"/>
              <a:t>Балансирует между давностью (</a:t>
            </a:r>
            <a:r>
              <a:rPr lang="ru-RU" sz="2400" dirty="0" err="1"/>
              <a:t>recency</a:t>
            </a:r>
            <a:r>
              <a:rPr lang="ru-RU" sz="2400" dirty="0"/>
              <a:t>) и частотой (</a:t>
            </a:r>
            <a:r>
              <a:rPr lang="ru-RU" sz="2400" dirty="0" err="1"/>
              <a:t>frequency</a:t>
            </a:r>
            <a:r>
              <a:rPr lang="ru-RU" sz="2400" dirty="0"/>
              <a:t>) обращений.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ru-RU" sz="2400" dirty="0"/>
          </a:p>
          <a:p>
            <a:r>
              <a:rPr lang="ru-RU" sz="2400" dirty="0"/>
              <a:t>Поддерживает</a:t>
            </a:r>
            <a:r>
              <a:rPr lang="ru-RU" sz="2400" b="1" dirty="0"/>
              <a:t> </a:t>
            </a:r>
            <a:r>
              <a:rPr lang="ru-RU" sz="2400" dirty="0"/>
              <a:t>"призрачный кэш" </a:t>
            </a:r>
            <a:r>
              <a:rPr lang="ru-RU" sz="2400" b="1" dirty="0"/>
              <a:t>(</a:t>
            </a:r>
            <a:r>
              <a:rPr lang="ru-RU" sz="2400" b="1" dirty="0" err="1"/>
              <a:t>ghost</a:t>
            </a:r>
            <a:r>
              <a:rPr lang="ru-RU" sz="2400" b="1" dirty="0"/>
              <a:t> </a:t>
            </a:r>
            <a:r>
              <a:rPr lang="ru-RU" sz="2400" b="1" dirty="0" err="1"/>
              <a:t>cache</a:t>
            </a:r>
            <a:r>
              <a:rPr lang="ru-RU" sz="2400" b="1" dirty="0"/>
              <a:t>) </a:t>
            </a:r>
            <a:r>
              <a:rPr lang="ru-RU" sz="2400" dirty="0"/>
              <a:t>в памяти для </a:t>
            </a:r>
            <a:r>
              <a:rPr lang="ru-RU" sz="2400" b="1" dirty="0"/>
              <a:t>недавно вытесненных страниц</a:t>
            </a:r>
            <a:r>
              <a:rPr lang="ru-RU" sz="2400" dirty="0"/>
              <a:t>, чтобы предотвратить их постоянное вытеснение.</a:t>
            </a:r>
          </a:p>
        </p:txBody>
      </p:sp>
    </p:spTree>
    <p:extLst>
      <p:ext uri="{BB962C8B-B14F-4D97-AF65-F5344CB8AC3E}">
        <p14:creationId xmlns:p14="http://schemas.microsoft.com/office/powerpoint/2010/main" val="2367811848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50228" y="365760"/>
            <a:ext cx="2250937" cy="5539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F4E79"/>
                </a:solidFill>
                <a:latin typeface="Calibri"/>
              </a:defRPr>
            </a:pPr>
            <a:r>
              <a:rPr lang="en-US" sz="3000" dirty="0"/>
              <a:t>LRU-K (1993)</a:t>
            </a:r>
            <a:endParaRPr sz="3000" dirty="0"/>
          </a:p>
        </p:txBody>
      </p:sp>
      <p:sp>
        <p:nvSpPr>
          <p:cNvPr id="3" name="Rectangle 2"/>
          <p:cNvSpPr/>
          <p:nvPr/>
        </p:nvSpPr>
        <p:spPr>
          <a:xfrm>
            <a:off x="550228" y="1188720"/>
            <a:ext cx="11064240" cy="25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AEB67A12-C403-FCA3-DF4D-448DFA3ED94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0228" y="2135815"/>
            <a:ext cx="11064240" cy="40950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450504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50228" y="365760"/>
            <a:ext cx="2028119" cy="5539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F4E79"/>
                </a:solidFill>
                <a:latin typeface="Calibri"/>
              </a:defRPr>
            </a:pPr>
            <a:r>
              <a:rPr lang="en-US" sz="3000" dirty="0"/>
              <a:t>MySQL LRU</a:t>
            </a:r>
            <a:endParaRPr sz="3000" dirty="0"/>
          </a:p>
        </p:txBody>
      </p:sp>
      <p:sp>
        <p:nvSpPr>
          <p:cNvPr id="3" name="Rectangle 2"/>
          <p:cNvSpPr/>
          <p:nvPr/>
        </p:nvSpPr>
        <p:spPr>
          <a:xfrm>
            <a:off x="550228" y="1188720"/>
            <a:ext cx="11064240" cy="25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E85A767-4E66-40DA-415A-D8D00759640E}"/>
              </a:ext>
            </a:extLst>
          </p:cNvPr>
          <p:cNvSpPr txBox="1"/>
          <p:nvPr/>
        </p:nvSpPr>
        <p:spPr>
          <a:xfrm>
            <a:off x="550228" y="1214120"/>
            <a:ext cx="8672794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600" b="1" dirty="0"/>
              <a:t>Единый связный список LRU, но с двумя точками входа («старые» и «молодые»</a:t>
            </a:r>
            <a:r>
              <a:rPr lang="en-US" sz="1600" b="1" dirty="0"/>
              <a:t> </a:t>
            </a:r>
            <a:r>
              <a:rPr lang="ru-RU" sz="1600" b="1" dirty="0"/>
              <a:t>записи).</a:t>
            </a:r>
            <a:endParaRPr lang="ru-RU" sz="1600" dirty="0"/>
          </a:p>
          <a:p>
            <a:pPr>
              <a:buFont typeface="Arial" panose="020B0604020202020204" pitchFamily="34" charset="0"/>
              <a:buChar char="•"/>
            </a:pPr>
            <a:r>
              <a:rPr lang="ru-RU" sz="1600" dirty="0"/>
              <a:t>Новые страницы всегда вставляются в начало «старого» списка.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1600" dirty="0"/>
              <a:t>Если к страницам из «старого» списка обращаются повторно, они вставляются в начало «молодого» списка.</a:t>
            </a:r>
          </a:p>
          <a:p>
            <a:pPr>
              <a:buFont typeface="Arial" panose="020B0604020202020204" pitchFamily="34" charset="0"/>
              <a:buChar char="•"/>
            </a:pPr>
            <a:endParaRPr lang="ru-RU" sz="1600" dirty="0"/>
          </a:p>
          <a:p>
            <a:pPr>
              <a:buFont typeface="+mj-lt"/>
              <a:buAutoNum type="arabicPeriod"/>
            </a:pPr>
            <a:r>
              <a:rPr lang="ru-RU" sz="1600" b="1" dirty="0">
                <a:effectLst/>
              </a:rPr>
              <a:t>«Молодая» зона (Young):</a:t>
            </a:r>
            <a:r>
              <a:rPr lang="ru-RU" sz="1600" dirty="0">
                <a:effectLst/>
              </a:rPr>
              <a:t> Горячие данные, которые часто используются (начало списка).</a:t>
            </a:r>
          </a:p>
          <a:p>
            <a:pPr>
              <a:buFont typeface="+mj-lt"/>
              <a:buAutoNum type="arabicPeriod"/>
            </a:pPr>
            <a:r>
              <a:rPr lang="ru-RU" sz="1600" b="1" dirty="0">
                <a:effectLst/>
              </a:rPr>
              <a:t>«Старая» зона (Old):</a:t>
            </a:r>
            <a:r>
              <a:rPr lang="ru-RU" sz="1600" dirty="0">
                <a:effectLst/>
              </a:rPr>
              <a:t> Данные, загруженные в пул, но пока не доказавшие свою полезность (конец списка, по умолчанию 3/8 от размера пула).</a:t>
            </a:r>
          </a:p>
          <a:p>
            <a:pPr>
              <a:buFont typeface="+mj-lt"/>
              <a:buAutoNum type="arabicPeriod"/>
            </a:pPr>
            <a:r>
              <a:rPr lang="ru-RU" sz="1600" b="1" dirty="0">
                <a:effectLst/>
              </a:rPr>
              <a:t>Точка вставки (</a:t>
            </a:r>
            <a:r>
              <a:rPr lang="ru-RU" sz="1600" b="1" dirty="0" err="1">
                <a:effectLst/>
              </a:rPr>
              <a:t>Midpoint</a:t>
            </a:r>
            <a:r>
              <a:rPr lang="ru-RU" sz="1600" b="1" dirty="0">
                <a:effectLst/>
              </a:rPr>
              <a:t>):</a:t>
            </a:r>
            <a:r>
              <a:rPr lang="ru-RU" sz="1600" dirty="0">
                <a:effectLst/>
              </a:rPr>
              <a:t> Новые страницы попадают именно, а не в самое начало всего списка, чтобы случайное полное сканирование таблицы не вытеснило все «молодые» горячие данные.</a:t>
            </a:r>
          </a:p>
          <a:p>
            <a:pPr>
              <a:buFont typeface="Arial" panose="020B0604020202020204" pitchFamily="34" charset="0"/>
              <a:buChar char="•"/>
            </a:pPr>
            <a:endParaRPr lang="ru-RU" sz="1600" dirty="0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BAD88D56-D77D-53D0-8ABE-7DE6BCA4727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94865" y="2214820"/>
            <a:ext cx="9725025" cy="4143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003014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50228" y="365760"/>
            <a:ext cx="7687554" cy="5539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F4E79"/>
                </a:solidFill>
                <a:latin typeface="Calibri"/>
              </a:defRPr>
            </a:pPr>
            <a:r>
              <a:rPr lang="en-US" sz="3000" dirty="0"/>
              <a:t>ARC: Adaptive replacement cache</a:t>
            </a:r>
            <a:r>
              <a:rPr lang="ru-RU" sz="3000" dirty="0"/>
              <a:t> (</a:t>
            </a:r>
            <a:r>
              <a:rPr lang="en-US" sz="3000" dirty="0"/>
              <a:t>PostgreSQL)</a:t>
            </a:r>
            <a:endParaRPr sz="3000" dirty="0"/>
          </a:p>
        </p:txBody>
      </p:sp>
      <p:sp>
        <p:nvSpPr>
          <p:cNvPr id="3" name="Rectangle 2"/>
          <p:cNvSpPr/>
          <p:nvPr/>
        </p:nvSpPr>
        <p:spPr>
          <a:xfrm>
            <a:off x="550228" y="1188720"/>
            <a:ext cx="11064240" cy="25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E85A767-4E66-40DA-415A-D8D00759640E}"/>
              </a:ext>
            </a:extLst>
          </p:cNvPr>
          <p:cNvSpPr txBox="1"/>
          <p:nvPr/>
        </p:nvSpPr>
        <p:spPr>
          <a:xfrm>
            <a:off x="234139" y="1183640"/>
            <a:ext cx="11957861" cy="47705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600" dirty="0"/>
              <a:t>Алгоритм начинается</a:t>
            </a:r>
            <a:r>
              <a:rPr lang="ru-RU" sz="1600" dirty="0">
                <a:effectLst/>
              </a:rPr>
              <a:t> с LRU-кэша размера </a:t>
            </a:r>
            <a:r>
              <a:rPr lang="ru-RU" sz="1600" b="1" dirty="0">
                <a:effectLst/>
              </a:rPr>
              <a:t>c</a:t>
            </a:r>
            <a:r>
              <a:rPr lang="ru-RU" sz="1600" dirty="0">
                <a:effectLst/>
              </a:rPr>
              <a:t>. Помимо самого кэша страниц, ведется каталог </a:t>
            </a:r>
            <a:r>
              <a:rPr lang="ru-RU" sz="1600" b="1" i="1" dirty="0">
                <a:effectLst/>
              </a:rPr>
              <a:t>T</a:t>
            </a:r>
            <a:r>
              <a:rPr lang="ru-RU" sz="1600" b="1" dirty="0">
                <a:effectLst/>
              </a:rPr>
              <a:t> такого же размера </a:t>
            </a:r>
            <a:r>
              <a:rPr lang="ru-RU" sz="1600" dirty="0">
                <a:effectLst/>
              </a:rPr>
              <a:t>—массив метаданных (например, физический адрес страницы на диске).</a:t>
            </a:r>
          </a:p>
          <a:p>
            <a:endParaRPr lang="ru-RU" sz="1600" dirty="0">
              <a:effectLst/>
            </a:endParaRPr>
          </a:p>
          <a:p>
            <a:r>
              <a:rPr lang="ru-RU" sz="1600" dirty="0"/>
              <a:t>Х</a:t>
            </a:r>
            <a:r>
              <a:rPr lang="ru-RU" sz="1600" dirty="0">
                <a:effectLst/>
              </a:rPr>
              <a:t>отим учитывать и давность (</a:t>
            </a:r>
            <a:r>
              <a:rPr lang="ru-RU" sz="1600" b="1" dirty="0" err="1">
                <a:effectLst/>
              </a:rPr>
              <a:t>recency</a:t>
            </a:r>
            <a:r>
              <a:rPr lang="ru-RU" sz="1600" dirty="0">
                <a:effectLst/>
              </a:rPr>
              <a:t>), и частоту (</a:t>
            </a:r>
            <a:r>
              <a:rPr lang="ru-RU" sz="1600" b="1" dirty="0" err="1">
                <a:effectLst/>
              </a:rPr>
              <a:t>frequency</a:t>
            </a:r>
            <a:r>
              <a:rPr lang="ru-RU" sz="1600" dirty="0">
                <a:effectLst/>
              </a:rPr>
              <a:t>). Избегаем </a:t>
            </a:r>
            <a:r>
              <a:rPr lang="en-US" sz="1600" b="1" dirty="0">
                <a:effectLst/>
              </a:rPr>
              <a:t>sequential flooding</a:t>
            </a:r>
            <a:endParaRPr lang="ru-RU" sz="1600" b="1" dirty="0">
              <a:effectLst/>
            </a:endParaRPr>
          </a:p>
          <a:p>
            <a:endParaRPr lang="ru-RU" sz="1600" dirty="0">
              <a:effectLst/>
            </a:endParaRPr>
          </a:p>
          <a:p>
            <a:r>
              <a:rPr lang="ru-RU" sz="1600" b="1" dirty="0">
                <a:effectLst/>
              </a:rPr>
              <a:t>Идея №1:</a:t>
            </a:r>
            <a:r>
              <a:rPr lang="ru-RU" sz="1600" dirty="0">
                <a:effectLst/>
              </a:rPr>
              <a:t> Делить кэш на два списка</a:t>
            </a:r>
            <a:r>
              <a:rPr lang="ru-RU" sz="1600" b="1" dirty="0">
                <a:effectLst/>
              </a:rPr>
              <a:t>: </a:t>
            </a:r>
            <a:r>
              <a:rPr lang="ru-RU" sz="1600" b="1" i="1" dirty="0">
                <a:effectLst/>
              </a:rPr>
              <a:t>T₁</a:t>
            </a:r>
            <a:r>
              <a:rPr lang="ru-RU" sz="1600" dirty="0">
                <a:effectLst/>
              </a:rPr>
              <a:t> и </a:t>
            </a:r>
            <a:r>
              <a:rPr lang="ru-RU" sz="1600" b="1" i="1" dirty="0">
                <a:effectLst/>
              </a:rPr>
              <a:t>T₂</a:t>
            </a:r>
            <a:r>
              <a:rPr lang="ru-RU" sz="1600" b="1" dirty="0">
                <a:effectLst/>
              </a:rPr>
              <a:t>. </a:t>
            </a:r>
            <a:r>
              <a:rPr lang="ru-RU" sz="1600" b="1" i="1" dirty="0">
                <a:effectLst/>
              </a:rPr>
              <a:t>T₁</a:t>
            </a:r>
            <a:r>
              <a:rPr lang="ru-RU" sz="1600" b="1" dirty="0">
                <a:effectLst/>
              </a:rPr>
              <a:t> </a:t>
            </a:r>
            <a:r>
              <a:rPr lang="ru-RU" sz="1600" dirty="0">
                <a:effectLst/>
              </a:rPr>
              <a:t>— </a:t>
            </a:r>
            <a:r>
              <a:rPr lang="ru-RU" sz="1600" b="1" dirty="0">
                <a:effectLst/>
              </a:rPr>
              <a:t>недавно</a:t>
            </a:r>
            <a:r>
              <a:rPr lang="ru-RU" sz="1600" dirty="0">
                <a:effectLst/>
              </a:rPr>
              <a:t> использованные страницы</a:t>
            </a:r>
            <a:r>
              <a:rPr lang="ru-RU" sz="1600" b="1" dirty="0">
                <a:effectLst/>
              </a:rPr>
              <a:t>, </a:t>
            </a:r>
            <a:r>
              <a:rPr lang="ru-RU" sz="1600" b="1" i="1" dirty="0">
                <a:effectLst/>
              </a:rPr>
              <a:t>T₂</a:t>
            </a:r>
            <a:r>
              <a:rPr lang="ru-RU" sz="1600" b="1" dirty="0">
                <a:effectLst/>
              </a:rPr>
              <a:t> </a:t>
            </a:r>
            <a:r>
              <a:rPr lang="ru-RU" sz="1600" dirty="0">
                <a:effectLst/>
              </a:rPr>
              <a:t>— </a:t>
            </a:r>
            <a:r>
              <a:rPr lang="ru-RU" sz="1600" b="1" dirty="0">
                <a:effectLst/>
              </a:rPr>
              <a:t>часто</a:t>
            </a:r>
            <a:r>
              <a:rPr lang="ru-RU" sz="1600" dirty="0">
                <a:effectLst/>
              </a:rPr>
              <a:t> используемые. Это даёт </a:t>
            </a:r>
            <a:r>
              <a:rPr lang="ru-RU" sz="1600" b="1" dirty="0">
                <a:effectLst/>
              </a:rPr>
              <a:t>устойчивость к сканированию</a:t>
            </a:r>
            <a:r>
              <a:rPr lang="ru-RU" sz="1600" dirty="0">
                <a:effectLst/>
              </a:rPr>
              <a:t>: массовое чтение опустошит </a:t>
            </a:r>
            <a:r>
              <a:rPr lang="ru-RU" sz="1600" b="1" i="1" dirty="0">
                <a:effectLst/>
              </a:rPr>
              <a:t>T₁</a:t>
            </a:r>
            <a:r>
              <a:rPr lang="ru-RU" sz="1600" dirty="0">
                <a:effectLst/>
              </a:rPr>
              <a:t>, но почти не затронет</a:t>
            </a:r>
            <a:r>
              <a:rPr lang="ru-RU" sz="1600" b="1" dirty="0">
                <a:effectLst/>
              </a:rPr>
              <a:t> </a:t>
            </a:r>
            <a:r>
              <a:rPr lang="ru-RU" sz="1600" b="1" i="1" dirty="0">
                <a:effectLst/>
              </a:rPr>
              <a:t>T₂</a:t>
            </a:r>
            <a:r>
              <a:rPr lang="ru-RU" sz="1600" b="1" dirty="0">
                <a:effectLst/>
              </a:rPr>
              <a:t>.</a:t>
            </a:r>
          </a:p>
          <a:p>
            <a:r>
              <a:rPr lang="ru-RU" sz="1600" dirty="0">
                <a:effectLst/>
              </a:rPr>
              <a:t>Когда кэш заполнен, нужно выбрать жертву — из </a:t>
            </a:r>
            <a:r>
              <a:rPr lang="ru-RU" sz="1600" b="1" i="1" dirty="0">
                <a:effectLst/>
              </a:rPr>
              <a:t>T₁</a:t>
            </a:r>
            <a:r>
              <a:rPr lang="ru-RU" sz="1600" b="1" dirty="0">
                <a:effectLst/>
              </a:rPr>
              <a:t> </a:t>
            </a:r>
            <a:r>
              <a:rPr lang="ru-RU" sz="1600" dirty="0">
                <a:effectLst/>
              </a:rPr>
              <a:t>или из </a:t>
            </a:r>
            <a:r>
              <a:rPr lang="ru-RU" sz="1600" b="1" i="1" dirty="0">
                <a:effectLst/>
              </a:rPr>
              <a:t>T₂</a:t>
            </a:r>
            <a:r>
              <a:rPr lang="ru-RU" sz="1600" b="1" dirty="0">
                <a:effectLst/>
              </a:rPr>
              <a:t>. </a:t>
            </a:r>
            <a:r>
              <a:rPr lang="ru-RU" sz="1600" dirty="0">
                <a:effectLst/>
              </a:rPr>
              <a:t>Размеры списков не фиксированы; можно динамически отдавать больше места </a:t>
            </a:r>
            <a:r>
              <a:rPr lang="ru-RU" sz="1600" b="1" dirty="0">
                <a:effectLst/>
              </a:rPr>
              <a:t>недавним</a:t>
            </a:r>
            <a:r>
              <a:rPr lang="ru-RU" sz="1600" dirty="0">
                <a:effectLst/>
              </a:rPr>
              <a:t> или </a:t>
            </a:r>
            <a:r>
              <a:rPr lang="ru-RU" sz="1600" b="1" dirty="0">
                <a:effectLst/>
              </a:rPr>
              <a:t>частым</a:t>
            </a:r>
            <a:r>
              <a:rPr lang="ru-RU" sz="1600" dirty="0">
                <a:effectLst/>
              </a:rPr>
              <a:t> страницам в зависимости от паттерна обращений. </a:t>
            </a:r>
          </a:p>
          <a:p>
            <a:endParaRPr lang="ru-RU" sz="1600" b="1" dirty="0"/>
          </a:p>
          <a:p>
            <a:r>
              <a:rPr lang="ru-RU" sz="1600" b="1" dirty="0">
                <a:effectLst/>
              </a:rPr>
              <a:t>Идея №2:</a:t>
            </a:r>
            <a:r>
              <a:rPr lang="ru-RU" sz="1600" dirty="0">
                <a:effectLst/>
              </a:rPr>
              <a:t> Хранить дополнительную историю. Списки </a:t>
            </a:r>
            <a:r>
              <a:rPr lang="ru-RU" sz="1600" b="1" i="1" dirty="0">
                <a:effectLst/>
              </a:rPr>
              <a:t>B₁</a:t>
            </a:r>
            <a:r>
              <a:rPr lang="ru-RU" sz="1600" b="1" dirty="0">
                <a:effectLst/>
              </a:rPr>
              <a:t> </a:t>
            </a:r>
            <a:r>
              <a:rPr lang="ru-RU" sz="1600" dirty="0">
                <a:effectLst/>
              </a:rPr>
              <a:t>и </a:t>
            </a:r>
            <a:r>
              <a:rPr lang="ru-RU" sz="1600" b="1" i="1" dirty="0">
                <a:effectLst/>
              </a:rPr>
              <a:t>B₂ расширяют T₁</a:t>
            </a:r>
            <a:r>
              <a:rPr lang="ru-RU" sz="1600" b="1" i="1" dirty="0"/>
              <a:t> и </a:t>
            </a:r>
            <a:r>
              <a:rPr lang="ru-RU" sz="1600" b="1" i="1" dirty="0">
                <a:effectLst/>
              </a:rPr>
              <a:t>T₂,</a:t>
            </a:r>
            <a:r>
              <a:rPr lang="ru-RU" sz="1600" b="1" dirty="0">
                <a:effectLst/>
              </a:rPr>
              <a:t> </a:t>
            </a:r>
            <a:r>
              <a:rPr lang="ru-RU" sz="1600" dirty="0">
                <a:effectLst/>
              </a:rPr>
              <a:t>отслеживают </a:t>
            </a:r>
            <a:r>
              <a:rPr lang="ru-RU" sz="1600" b="1" dirty="0">
                <a:effectLst/>
              </a:rPr>
              <a:t>метаданные</a:t>
            </a:r>
            <a:r>
              <a:rPr lang="ru-RU" sz="1600" dirty="0">
                <a:effectLst/>
              </a:rPr>
              <a:t> страниц, вытесненных из </a:t>
            </a:r>
            <a:r>
              <a:rPr lang="ru-RU" sz="1600" b="1" i="1" dirty="0">
                <a:effectLst/>
              </a:rPr>
              <a:t>T₁</a:t>
            </a:r>
            <a:r>
              <a:rPr lang="ru-RU" sz="1600" b="1" dirty="0">
                <a:effectLst/>
              </a:rPr>
              <a:t> и </a:t>
            </a:r>
            <a:r>
              <a:rPr lang="ru-RU" sz="1600" b="1" i="1" dirty="0">
                <a:effectLst/>
              </a:rPr>
              <a:t>T₂</a:t>
            </a:r>
            <a:r>
              <a:rPr lang="ru-RU" sz="1600" b="1" dirty="0">
                <a:effectLst/>
              </a:rPr>
              <a:t> </a:t>
            </a:r>
            <a:r>
              <a:rPr lang="ru-RU" sz="1600" dirty="0">
                <a:effectLst/>
              </a:rPr>
              <a:t>соответственно. Если видим много промахов в </a:t>
            </a:r>
            <a:r>
              <a:rPr lang="ru-RU" sz="1600" b="1" i="1" dirty="0">
                <a:effectLst/>
              </a:rPr>
              <a:t>T₁</a:t>
            </a:r>
            <a:r>
              <a:rPr lang="ru-RU" sz="1600" dirty="0">
                <a:effectLst/>
              </a:rPr>
              <a:t>, но попаданий в </a:t>
            </a:r>
            <a:r>
              <a:rPr lang="ru-RU" sz="1600" b="1" i="1" dirty="0">
                <a:effectLst/>
              </a:rPr>
              <a:t>B₁</a:t>
            </a:r>
            <a:r>
              <a:rPr lang="ru-RU" sz="1600" dirty="0">
                <a:effectLst/>
              </a:rPr>
              <a:t> — значит, зря вытеснили, и стоит увеличить долю кэша для </a:t>
            </a:r>
            <a:r>
              <a:rPr lang="ru-RU" sz="1600" b="1" i="1" dirty="0">
                <a:effectLst/>
              </a:rPr>
              <a:t>T₁</a:t>
            </a:r>
            <a:r>
              <a:rPr lang="ru-RU" sz="1600" b="1" dirty="0">
                <a:effectLst/>
              </a:rPr>
              <a:t>.</a:t>
            </a:r>
          </a:p>
          <a:p>
            <a:endParaRPr lang="ru-RU" sz="1600" dirty="0">
              <a:effectLst/>
            </a:endParaRPr>
          </a:p>
          <a:p>
            <a:r>
              <a:rPr lang="ru-RU" sz="1600" dirty="0">
                <a:effectLst/>
              </a:rPr>
              <a:t>ARC использует параметр </a:t>
            </a:r>
            <a:r>
              <a:rPr lang="ru-RU" sz="1600" b="1" dirty="0">
                <a:effectLst/>
              </a:rPr>
              <a:t>p</a:t>
            </a:r>
            <a:r>
              <a:rPr lang="ru-RU" sz="1600" dirty="0">
                <a:effectLst/>
              </a:rPr>
              <a:t> для разделения кэша между </a:t>
            </a:r>
            <a:r>
              <a:rPr lang="ru-RU" sz="1600" b="1" i="1" dirty="0">
                <a:effectLst/>
              </a:rPr>
              <a:t>T₁</a:t>
            </a:r>
            <a:r>
              <a:rPr lang="ru-RU" sz="1600" dirty="0">
                <a:effectLst/>
              </a:rPr>
              <a:t> и </a:t>
            </a:r>
            <a:r>
              <a:rPr lang="ru-RU" sz="1600" b="1" i="1" dirty="0">
                <a:effectLst/>
              </a:rPr>
              <a:t>T₂</a:t>
            </a:r>
            <a:r>
              <a:rPr lang="ru-RU" sz="1600" dirty="0">
                <a:effectLst/>
              </a:rPr>
              <a:t>.</a:t>
            </a:r>
          </a:p>
          <a:p>
            <a:endParaRPr lang="ru-RU" sz="1600" dirty="0">
              <a:effectLst/>
            </a:endParaRPr>
          </a:p>
          <a:p>
            <a:r>
              <a:rPr lang="ru-RU" sz="1600" b="1" dirty="0">
                <a:effectLst/>
              </a:rPr>
              <a:t>Идея №3:</a:t>
            </a:r>
            <a:r>
              <a:rPr lang="ru-RU" sz="1600" dirty="0">
                <a:effectLst/>
              </a:rPr>
              <a:t> При промахе в </a:t>
            </a:r>
            <a:r>
              <a:rPr lang="ru-RU" sz="1600" b="1" i="1" dirty="0">
                <a:effectLst/>
              </a:rPr>
              <a:t>T₁</a:t>
            </a:r>
            <a:r>
              <a:rPr lang="ru-RU" sz="1600" dirty="0">
                <a:effectLst/>
              </a:rPr>
              <a:t> и попадании в </a:t>
            </a:r>
            <a:r>
              <a:rPr lang="ru-RU" sz="1600" b="1" i="1" dirty="0">
                <a:effectLst/>
              </a:rPr>
              <a:t>B₁</a:t>
            </a:r>
            <a:r>
              <a:rPr lang="ru-RU" sz="1600" dirty="0">
                <a:effectLst/>
              </a:rPr>
              <a:t>, ARC увеличивает </a:t>
            </a:r>
            <a:r>
              <a:rPr lang="ru-RU" sz="1600" b="1" dirty="0">
                <a:effectLst/>
              </a:rPr>
              <a:t>p</a:t>
            </a:r>
            <a:r>
              <a:rPr lang="ru-RU" sz="1600" dirty="0">
                <a:effectLst/>
              </a:rPr>
              <a:t> на </a:t>
            </a:r>
            <a:r>
              <a:rPr lang="ru-RU" sz="1600" b="1" i="1" dirty="0">
                <a:effectLst/>
              </a:rPr>
              <a:t>|B₂| / |B₁|</a:t>
            </a:r>
            <a:r>
              <a:rPr lang="ru-RU" sz="1600" b="1" dirty="0">
                <a:effectLst/>
              </a:rPr>
              <a:t>.</a:t>
            </a:r>
            <a:r>
              <a:rPr lang="ru-RU" sz="1600" dirty="0">
                <a:effectLst/>
              </a:rPr>
              <a:t> Это  «коэффициент сожаления» — отношение вероятностей попадания в </a:t>
            </a:r>
            <a:r>
              <a:rPr lang="ru-RU" sz="1600" b="1" i="1" dirty="0">
                <a:effectLst/>
              </a:rPr>
              <a:t>B₁</a:t>
            </a:r>
            <a:r>
              <a:rPr lang="ru-RU" sz="1600" dirty="0">
                <a:effectLst/>
              </a:rPr>
              <a:t> и</a:t>
            </a:r>
            <a:r>
              <a:rPr lang="ru-RU" sz="1600" b="1" dirty="0">
                <a:effectLst/>
              </a:rPr>
              <a:t> </a:t>
            </a:r>
            <a:r>
              <a:rPr lang="ru-RU" sz="1600" b="1" i="1" dirty="0">
                <a:effectLst/>
              </a:rPr>
              <a:t>B₂</a:t>
            </a:r>
            <a:r>
              <a:rPr lang="ru-RU" sz="1600" b="1" dirty="0">
                <a:effectLst/>
              </a:rPr>
              <a:t> </a:t>
            </a:r>
            <a:r>
              <a:rPr lang="ru-RU" sz="1600" dirty="0">
                <a:effectLst/>
              </a:rPr>
              <a:t>в предположении равномерного распределения по всем страницам.</a:t>
            </a:r>
          </a:p>
          <a:p>
            <a:pPr>
              <a:buFont typeface="Arial" panose="020B0604020202020204" pitchFamily="34" charset="0"/>
              <a:buChar char="•"/>
            </a:pPr>
            <a:endParaRPr lang="ru-RU" sz="1600" dirty="0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9A2DD62D-A6A2-28ED-9241-8ED416939A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23310" y="5707584"/>
            <a:ext cx="7262285" cy="11695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040194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50228" y="365760"/>
            <a:ext cx="8948925" cy="5539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F4E79"/>
                </a:solidFill>
                <a:latin typeface="Calibri"/>
              </a:defRPr>
            </a:pPr>
            <a:r>
              <a:rPr lang="ru-RU" sz="3000" dirty="0"/>
              <a:t>Идеи для улучшения политик очистки</a:t>
            </a:r>
            <a:r>
              <a:rPr lang="en-US" sz="3000" dirty="0"/>
              <a:t>: </a:t>
            </a:r>
            <a:r>
              <a:rPr lang="ru-RU" sz="3000" dirty="0"/>
              <a:t>локализация</a:t>
            </a:r>
            <a:endParaRPr sz="3000" dirty="0"/>
          </a:p>
        </p:txBody>
      </p:sp>
      <p:sp>
        <p:nvSpPr>
          <p:cNvPr id="3" name="Rectangle 2"/>
          <p:cNvSpPr/>
          <p:nvPr/>
        </p:nvSpPr>
        <p:spPr>
          <a:xfrm>
            <a:off x="550228" y="1188720"/>
            <a:ext cx="11064240" cy="25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E85A767-4E66-40DA-415A-D8D00759640E}"/>
              </a:ext>
            </a:extLst>
          </p:cNvPr>
          <p:cNvSpPr txBox="1"/>
          <p:nvPr/>
        </p:nvSpPr>
        <p:spPr>
          <a:xfrm>
            <a:off x="1202266" y="2521059"/>
            <a:ext cx="9787467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ru-RU" sz="1600" dirty="0"/>
              <a:t>СУБД выбирает страницы для вытеснения в расчёте на каждый отдельный запрос. </a:t>
            </a:r>
          </a:p>
          <a:p>
            <a:pPr algn="just"/>
            <a:r>
              <a:rPr lang="ru-RU" sz="1600" dirty="0"/>
              <a:t>Это сводит к минимуму загрязнение буферного пула каждым конкретным запросом.</a:t>
            </a:r>
          </a:p>
          <a:p>
            <a:pPr algn="just"/>
            <a:endParaRPr lang="ru-RU" sz="1600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ru-RU" sz="1600" dirty="0"/>
              <a:t>Отслеживаются страницы, к </a:t>
            </a:r>
            <a:r>
              <a:rPr lang="ru-RU" sz="1600" b="1" dirty="0"/>
              <a:t>которым обращался запрос</a:t>
            </a:r>
            <a:r>
              <a:rPr lang="ru-RU" sz="1600" dirty="0"/>
              <a:t>.</a:t>
            </a:r>
          </a:p>
          <a:p>
            <a:pPr algn="just"/>
            <a:endParaRPr lang="ru-RU" sz="1600" dirty="0"/>
          </a:p>
          <a:p>
            <a:pPr algn="just"/>
            <a:r>
              <a:rPr lang="ru-RU" sz="1600" b="1" i="1" dirty="0"/>
              <a:t>Пример: </a:t>
            </a:r>
            <a:r>
              <a:rPr lang="ru-RU" sz="1600" i="1" dirty="0" err="1"/>
              <a:t>PostgreSQL</a:t>
            </a:r>
            <a:r>
              <a:rPr lang="ru-RU" sz="1600" i="1" dirty="0"/>
              <a:t> выделяет запросу ограниченное количество страниц буферного пула и использует их как кольцевой буфер.</a:t>
            </a:r>
            <a:endParaRPr lang="ru-RU" sz="1600" dirty="0"/>
          </a:p>
        </p:txBody>
      </p:sp>
    </p:spTree>
    <p:extLst>
      <p:ext uri="{BB962C8B-B14F-4D97-AF65-F5344CB8AC3E}">
        <p14:creationId xmlns:p14="http://schemas.microsoft.com/office/powerpoint/2010/main" val="332251103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50228" y="365760"/>
            <a:ext cx="9345700" cy="5539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F4E79"/>
                </a:solidFill>
                <a:latin typeface="Calibri"/>
              </a:defRPr>
            </a:pPr>
            <a:r>
              <a:rPr lang="ru-RU" sz="3000" dirty="0"/>
              <a:t>Идеи для улучшения политик очистки</a:t>
            </a:r>
            <a:r>
              <a:rPr lang="en-US" sz="3000" dirty="0"/>
              <a:t>: </a:t>
            </a:r>
            <a:r>
              <a:rPr lang="ru-RU" sz="3000" dirty="0"/>
              <a:t>приоритезация</a:t>
            </a:r>
            <a:endParaRPr sz="3000" dirty="0"/>
          </a:p>
        </p:txBody>
      </p:sp>
      <p:sp>
        <p:nvSpPr>
          <p:cNvPr id="3" name="Rectangle 2"/>
          <p:cNvSpPr/>
          <p:nvPr/>
        </p:nvSpPr>
        <p:spPr>
          <a:xfrm>
            <a:off x="550228" y="1188720"/>
            <a:ext cx="11064240" cy="25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E85A767-4E66-40DA-415A-D8D00759640E}"/>
              </a:ext>
            </a:extLst>
          </p:cNvPr>
          <p:cNvSpPr txBox="1"/>
          <p:nvPr/>
        </p:nvSpPr>
        <p:spPr>
          <a:xfrm>
            <a:off x="1202266" y="2521059"/>
            <a:ext cx="9787467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ru-RU" sz="1600" dirty="0"/>
              <a:t>СУБД знает </a:t>
            </a:r>
            <a:r>
              <a:rPr lang="ru-RU" sz="1600" b="1" dirty="0"/>
              <a:t>контекст</a:t>
            </a:r>
            <a:r>
              <a:rPr lang="ru-RU" sz="1600" dirty="0"/>
              <a:t> каждой страницы во время выполнения запроса.</a:t>
            </a:r>
          </a:p>
          <a:p>
            <a:pPr algn="just"/>
            <a:r>
              <a:rPr lang="ru-RU" sz="1600" dirty="0"/>
              <a:t>СУБД может </a:t>
            </a:r>
            <a:r>
              <a:rPr lang="ru-RU" sz="1600" b="1" dirty="0"/>
              <a:t>дать подсказки для буферного пула</a:t>
            </a:r>
            <a:r>
              <a:rPr lang="ru-RU" sz="1600" dirty="0"/>
              <a:t> по поводу важности той или иной страницы.</a:t>
            </a:r>
          </a:p>
          <a:p>
            <a:pPr algn="just"/>
            <a:endParaRPr lang="ru-RU" sz="1600" dirty="0"/>
          </a:p>
          <a:p>
            <a:pPr algn="just"/>
            <a:r>
              <a:rPr lang="ru-RU" sz="1600" dirty="0"/>
              <a:t>Пример</a:t>
            </a:r>
            <a:r>
              <a:rPr lang="en-US" sz="1600" dirty="0"/>
              <a:t>: </a:t>
            </a:r>
            <a:r>
              <a:rPr lang="ru-RU" sz="1600" dirty="0"/>
              <a:t>для </a:t>
            </a:r>
            <a:r>
              <a:rPr lang="en-US" sz="1600" dirty="0"/>
              <a:t>B+ </a:t>
            </a:r>
            <a:r>
              <a:rPr lang="ru-RU" sz="1600" dirty="0"/>
              <a:t>дерева </a:t>
            </a:r>
            <a:r>
              <a:rPr lang="ru-RU" sz="1600" b="1" dirty="0"/>
              <a:t>корень</a:t>
            </a:r>
            <a:r>
              <a:rPr lang="ru-RU" sz="1600" dirty="0"/>
              <a:t> дерева – очень важный элемент, </a:t>
            </a:r>
            <a:r>
              <a:rPr lang="ru-RU" sz="1600" b="1" dirty="0"/>
              <a:t>листья</a:t>
            </a:r>
            <a:r>
              <a:rPr lang="ru-RU" sz="1600" dirty="0"/>
              <a:t> – наименее важные.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91FA573E-DDC0-DB57-6E49-0D7FF6377D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13309" y="4158289"/>
            <a:ext cx="6039693" cy="23339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800939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50228" y="365760"/>
            <a:ext cx="5369483" cy="5539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F4E79"/>
                </a:solidFill>
                <a:latin typeface="Calibri"/>
              </a:defRPr>
            </a:pPr>
            <a:r>
              <a:rPr lang="ru-RU" sz="3000" dirty="0"/>
              <a:t>Грязные страницы (</a:t>
            </a:r>
            <a:r>
              <a:rPr lang="en-US" sz="3000" dirty="0"/>
              <a:t>dirty pages)</a:t>
            </a:r>
            <a:endParaRPr sz="3000" dirty="0"/>
          </a:p>
        </p:txBody>
      </p:sp>
      <p:sp>
        <p:nvSpPr>
          <p:cNvPr id="3" name="Rectangle 2"/>
          <p:cNvSpPr/>
          <p:nvPr/>
        </p:nvSpPr>
        <p:spPr>
          <a:xfrm>
            <a:off x="550228" y="1188720"/>
            <a:ext cx="11064240" cy="25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E85A767-4E66-40DA-415A-D8D00759640E}"/>
              </a:ext>
            </a:extLst>
          </p:cNvPr>
          <p:cNvSpPr txBox="1"/>
          <p:nvPr/>
        </p:nvSpPr>
        <p:spPr>
          <a:xfrm>
            <a:off x="1025977" y="1691382"/>
            <a:ext cx="9787467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Что если ы хотим очистить буферный пул от страницы, но она помечена как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dirty?</a:t>
            </a:r>
          </a:p>
          <a:p>
            <a:endParaRPr lang="ru-RU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Быстрый путь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Если страница в буферном пуле не "грязная" (не модифицирована), СУБД может просто "выбросить" её.</a:t>
            </a:r>
          </a:p>
          <a:p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Медленный путь: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Если страница "грязная" (модифицирована), СУБД обязана записать её обратно на диск, чтобы гарантировать сохранность изменений.</a:t>
            </a:r>
          </a:p>
          <a:p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Компромисс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между быстрым вытеснением и записью "грязных" страниц, которые в будущем уже не будут прочитаны.</a:t>
            </a:r>
          </a:p>
        </p:txBody>
      </p:sp>
    </p:spTree>
    <p:extLst>
      <p:ext uri="{BB962C8B-B14F-4D97-AF65-F5344CB8AC3E}">
        <p14:creationId xmlns:p14="http://schemas.microsoft.com/office/powerpoint/2010/main" val="77263311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50228" y="365760"/>
            <a:ext cx="7662803" cy="5539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F4E79"/>
                </a:solidFill>
                <a:latin typeface="Calibri"/>
              </a:defRPr>
            </a:pPr>
            <a:r>
              <a:rPr lang="ru-RU" sz="3000" dirty="0"/>
              <a:t>Фоновая запись на диск (</a:t>
            </a:r>
            <a:r>
              <a:rPr lang="en-US" sz="3000" dirty="0"/>
              <a:t>background writing)</a:t>
            </a:r>
            <a:endParaRPr sz="3000" dirty="0"/>
          </a:p>
        </p:txBody>
      </p:sp>
      <p:sp>
        <p:nvSpPr>
          <p:cNvPr id="3" name="Rectangle 2"/>
          <p:cNvSpPr/>
          <p:nvPr/>
        </p:nvSpPr>
        <p:spPr>
          <a:xfrm>
            <a:off x="550228" y="1188720"/>
            <a:ext cx="11064240" cy="25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E85A767-4E66-40DA-415A-D8D00759640E}"/>
              </a:ext>
            </a:extLst>
          </p:cNvPr>
          <p:cNvSpPr txBox="1"/>
          <p:nvPr/>
        </p:nvSpPr>
        <p:spPr>
          <a:xfrm>
            <a:off x="1188614" y="2252960"/>
            <a:ext cx="9787467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СУБД периодически проходится по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page table 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 превентивно записывает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dirty pages 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на диск.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Альтернативные названия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page cleaning, buffer flushing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Когда грязная страница успешно записана на диск – СУБД может либо убрать ее из кэша, либо просто убрать флаг.</a:t>
            </a:r>
          </a:p>
          <a:p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СУБД НЕ ЗАПИСЫВАЕТ 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данные на диск до тех пор, пока не запишет историю изменений </a:t>
            </a:r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WAL (write-ahead log).</a:t>
            </a:r>
            <a:endParaRPr lang="ru-RU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6740782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50228" y="365760"/>
            <a:ext cx="7662803" cy="5539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F4E79"/>
                </a:solidFill>
                <a:latin typeface="Calibri"/>
              </a:defRPr>
            </a:pPr>
            <a:r>
              <a:rPr lang="ru-RU" sz="3000" dirty="0"/>
              <a:t>Фоновая запись на диск (</a:t>
            </a:r>
            <a:r>
              <a:rPr lang="en-US" sz="3000" dirty="0"/>
              <a:t>background writing)</a:t>
            </a:r>
            <a:endParaRPr sz="3000" dirty="0"/>
          </a:p>
        </p:txBody>
      </p:sp>
      <p:sp>
        <p:nvSpPr>
          <p:cNvPr id="3" name="Rectangle 2"/>
          <p:cNvSpPr/>
          <p:nvPr/>
        </p:nvSpPr>
        <p:spPr>
          <a:xfrm>
            <a:off x="550228" y="1188720"/>
            <a:ext cx="11064240" cy="25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E85A767-4E66-40DA-415A-D8D00759640E}"/>
              </a:ext>
            </a:extLst>
          </p:cNvPr>
          <p:cNvSpPr txBox="1"/>
          <p:nvPr/>
        </p:nvSpPr>
        <p:spPr>
          <a:xfrm>
            <a:off x="1188614" y="2252960"/>
            <a:ext cx="9787467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СУБД поддерживает внутренние очереди для отслеживания запросов на чтение/запись страниц от всей системы.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Приоритет чтения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записи учитывает следующие метрики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Тип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I/O: 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последовательный или случайный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Фоновая или критическая задача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Тип данных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таблица, индекс,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WAL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Информация о транзакциях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Пользовательские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SLA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ОС не имеет понятия ни о чем из этого.</a:t>
            </a:r>
          </a:p>
        </p:txBody>
      </p:sp>
    </p:spTree>
    <p:extLst>
      <p:ext uri="{BB962C8B-B14F-4D97-AF65-F5344CB8AC3E}">
        <p14:creationId xmlns:p14="http://schemas.microsoft.com/office/powerpoint/2010/main" val="105267218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50228" y="365760"/>
            <a:ext cx="2847254" cy="5539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F4E79"/>
                </a:solidFill>
                <a:latin typeface="Calibri"/>
              </a:defRPr>
            </a:pPr>
            <a:r>
              <a:rPr lang="ru-RU" sz="3000" dirty="0"/>
              <a:t>Кэш страниц ОС</a:t>
            </a:r>
            <a:endParaRPr sz="3000" dirty="0"/>
          </a:p>
        </p:txBody>
      </p:sp>
      <p:sp>
        <p:nvSpPr>
          <p:cNvPr id="3" name="Rectangle 2"/>
          <p:cNvSpPr/>
          <p:nvPr/>
        </p:nvSpPr>
        <p:spPr>
          <a:xfrm>
            <a:off x="550228" y="1188720"/>
            <a:ext cx="11064240" cy="25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E85A767-4E66-40DA-415A-D8D00759640E}"/>
              </a:ext>
            </a:extLst>
          </p:cNvPr>
          <p:cNvSpPr txBox="1"/>
          <p:nvPr/>
        </p:nvSpPr>
        <p:spPr>
          <a:xfrm>
            <a:off x="550228" y="2066693"/>
            <a:ext cx="5093653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Большая часть дисковых операция осуществляется при помощи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API 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ОС.</a:t>
            </a:r>
          </a:p>
          <a:p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Если СУБД напрямую не говорит – ОС </a:t>
            </a:r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поддерживает свой кэш файловой системы.</a:t>
            </a:r>
          </a:p>
          <a:p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Большая часть СУБД использует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O_DIRECT, 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чтобы ОС </a:t>
            </a:r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не использовала свой кэш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2D282605-2CC4-0B4D-AA4C-37894D8B67F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48121" y="1838899"/>
            <a:ext cx="5093653" cy="45492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537707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50228" y="365760"/>
            <a:ext cx="4960140" cy="5539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F4E79"/>
                </a:solidFill>
                <a:latin typeface="Calibri"/>
              </a:defRPr>
            </a:pPr>
            <a:r>
              <a:rPr lang="ru-RU" sz="3000" dirty="0"/>
              <a:t>Критическая проблема </a:t>
            </a:r>
            <a:r>
              <a:rPr lang="en-US" sz="3000" dirty="0" err="1"/>
              <a:t>fsync</a:t>
            </a:r>
            <a:endParaRPr sz="3000" dirty="0"/>
          </a:p>
        </p:txBody>
      </p:sp>
      <p:sp>
        <p:nvSpPr>
          <p:cNvPr id="3" name="Rectangle 2"/>
          <p:cNvSpPr/>
          <p:nvPr/>
        </p:nvSpPr>
        <p:spPr>
          <a:xfrm>
            <a:off x="550228" y="1188720"/>
            <a:ext cx="11064240" cy="25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E85A767-4E66-40DA-415A-D8D00759640E}"/>
              </a:ext>
            </a:extLst>
          </p:cNvPr>
          <p:cNvSpPr txBox="1"/>
          <p:nvPr/>
        </p:nvSpPr>
        <p:spPr>
          <a:xfrm>
            <a:off x="550228" y="2066693"/>
            <a:ext cx="10016172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Если СУБД вызывает </a:t>
            </a:r>
            <a:r>
              <a:rPr lang="ru-RU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fwrite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что происходит? 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Если СУБД вызывает </a:t>
            </a:r>
            <a:r>
              <a:rPr lang="ru-RU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fsync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что происходит?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Если </a:t>
            </a:r>
            <a:r>
              <a:rPr lang="ru-RU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fsync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завершается с ошибкой (</a:t>
            </a:r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EIO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), что происходит? 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Linux помечает "грязные" страницы как чистые.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Если СУБД вызовет `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fsync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` повторно, Linux сообщит, что сброс прошёл успешно. 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Поскольку СУБД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расчитывала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на ОС, она полагала, что запись выполнена успешно.</a:t>
            </a:r>
            <a:endParaRPr lang="ru-RU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671456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50228" y="365760"/>
            <a:ext cx="6555897" cy="5539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F4E79"/>
                </a:solidFill>
                <a:latin typeface="Calibri"/>
              </a:defRPr>
            </a:pPr>
            <a:r>
              <a:rPr lang="ru-RU" sz="3000" dirty="0"/>
              <a:t>Оптимизации работы буферного пула</a:t>
            </a:r>
            <a:endParaRPr sz="3000" dirty="0"/>
          </a:p>
        </p:txBody>
      </p:sp>
      <p:sp>
        <p:nvSpPr>
          <p:cNvPr id="3" name="Rectangle 2"/>
          <p:cNvSpPr/>
          <p:nvPr/>
        </p:nvSpPr>
        <p:spPr>
          <a:xfrm>
            <a:off x="550228" y="1188720"/>
            <a:ext cx="11064240" cy="25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E85A767-4E66-40DA-415A-D8D00759640E}"/>
              </a:ext>
            </a:extLst>
          </p:cNvPr>
          <p:cNvSpPr txBox="1"/>
          <p:nvPr/>
        </p:nvSpPr>
        <p:spPr>
          <a:xfrm>
            <a:off x="550228" y="2066693"/>
            <a:ext cx="10016172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400" b="1" dirty="0"/>
              <a:t>Несколько буферных пулов</a:t>
            </a:r>
            <a:r>
              <a:rPr lang="ru-RU" sz="2400" dirty="0"/>
              <a:t> (</a:t>
            </a:r>
            <a:r>
              <a:rPr lang="en-US" sz="2400" dirty="0"/>
              <a:t>Multiple Buffer Pools)</a:t>
            </a:r>
            <a:endParaRPr lang="ru-RU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400" b="1" dirty="0"/>
              <a:t>Предвыборка / Упреждающее чтение</a:t>
            </a:r>
            <a:r>
              <a:rPr lang="ru-RU" sz="2400" dirty="0"/>
              <a:t> (</a:t>
            </a:r>
            <a:r>
              <a:rPr lang="en-US" sz="2400" dirty="0"/>
              <a:t>Pre-Fetching)</a:t>
            </a:r>
            <a:endParaRPr lang="ru-RU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400" b="1" dirty="0"/>
              <a:t>Совместное сканирование / Разделение сканирования</a:t>
            </a:r>
            <a:r>
              <a:rPr lang="ru-RU" sz="2400" dirty="0"/>
              <a:t> (</a:t>
            </a:r>
            <a:r>
              <a:rPr lang="en-US" sz="2400" dirty="0"/>
              <a:t>Scan Sharing)</a:t>
            </a:r>
            <a:endParaRPr lang="ru-RU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400" b="1" dirty="0"/>
              <a:t>Обход буферного пула</a:t>
            </a:r>
            <a:r>
              <a:rPr lang="ru-RU" sz="2400" dirty="0"/>
              <a:t> (</a:t>
            </a:r>
            <a:r>
              <a:rPr lang="en-US" sz="2400" dirty="0"/>
              <a:t>Buffer Pool Bypass)</a:t>
            </a:r>
          </a:p>
          <a:p>
            <a:endParaRPr lang="ru-RU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8482475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50228" y="365760"/>
            <a:ext cx="5730736" cy="5539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F4E79"/>
                </a:solidFill>
                <a:latin typeface="Calibri"/>
              </a:defRPr>
            </a:pPr>
            <a:r>
              <a:rPr lang="ru-RU" sz="3000" dirty="0"/>
              <a:t>Множественные буферные пулы</a:t>
            </a:r>
            <a:endParaRPr sz="3000" dirty="0"/>
          </a:p>
        </p:txBody>
      </p:sp>
      <p:sp>
        <p:nvSpPr>
          <p:cNvPr id="3" name="Rectangle 2"/>
          <p:cNvSpPr/>
          <p:nvPr/>
        </p:nvSpPr>
        <p:spPr>
          <a:xfrm>
            <a:off x="550228" y="1188720"/>
            <a:ext cx="11064240" cy="25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E85A767-4E66-40DA-415A-D8D00759640E}"/>
              </a:ext>
            </a:extLst>
          </p:cNvPr>
          <p:cNvSpPr txBox="1"/>
          <p:nvPr/>
        </p:nvSpPr>
        <p:spPr>
          <a:xfrm>
            <a:off x="550228" y="2066693"/>
            <a:ext cx="5049061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Создается множество буферных пулов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На каждую базу данных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На каждый тип страниц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Разделяя 1 пул на несколько, СУБД уменьшает время поиска элемента и конкуренции за блокировки.</a:t>
            </a:r>
          </a:p>
          <a:p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Поиск нужного элемента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Obje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tID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 хэшу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06CE32C0-B48F-3C7A-5C70-4790E50CB47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1718556"/>
            <a:ext cx="5744635" cy="42625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376927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50228" y="365760"/>
            <a:ext cx="3891450" cy="5539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F4E79"/>
                </a:solidFill>
                <a:latin typeface="Calibri"/>
              </a:defRPr>
            </a:pPr>
            <a:r>
              <a:rPr lang="ru-RU" sz="3000" dirty="0"/>
              <a:t>Упреждающее чтение</a:t>
            </a:r>
            <a:endParaRPr sz="3000" dirty="0"/>
          </a:p>
        </p:txBody>
      </p:sp>
      <p:sp>
        <p:nvSpPr>
          <p:cNvPr id="3" name="Rectangle 2"/>
          <p:cNvSpPr/>
          <p:nvPr/>
        </p:nvSpPr>
        <p:spPr>
          <a:xfrm>
            <a:off x="550228" y="1188720"/>
            <a:ext cx="11064240" cy="25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E85A767-4E66-40DA-415A-D8D00759640E}"/>
              </a:ext>
            </a:extLst>
          </p:cNvPr>
          <p:cNvSpPr txBox="1"/>
          <p:nvPr/>
        </p:nvSpPr>
        <p:spPr>
          <a:xfrm>
            <a:off x="550228" y="2066693"/>
            <a:ext cx="5049061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СУБД может выполнять упреждающее чтение данных в буфер на основе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Query Plan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запроса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Cron jobs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Статистики запросов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F7266AEB-4430-D02B-4BCE-1386131333E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74260" y="2943856"/>
            <a:ext cx="5153025" cy="3438525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946AE688-CA8E-12A8-6BD5-C2FF5AEDED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0228" y="4329763"/>
            <a:ext cx="4829849" cy="21624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222581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50228" y="365760"/>
            <a:ext cx="4129272" cy="5539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F4E79"/>
                </a:solidFill>
                <a:latin typeface="Calibri"/>
              </a:defRPr>
            </a:pPr>
            <a:r>
              <a:rPr lang="ru-RU" sz="3000" dirty="0"/>
              <a:t>Настройки в </a:t>
            </a:r>
            <a:r>
              <a:rPr lang="en-US" sz="3000" dirty="0"/>
              <a:t>PostgreSQL</a:t>
            </a:r>
            <a:endParaRPr sz="3000" dirty="0"/>
          </a:p>
        </p:txBody>
      </p:sp>
      <p:sp>
        <p:nvSpPr>
          <p:cNvPr id="3" name="Rectangle 2"/>
          <p:cNvSpPr/>
          <p:nvPr/>
        </p:nvSpPr>
        <p:spPr>
          <a:xfrm>
            <a:off x="550228" y="1188720"/>
            <a:ext cx="11064240" cy="25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E85A767-4E66-40DA-415A-D8D00759640E}"/>
              </a:ext>
            </a:extLst>
          </p:cNvPr>
          <p:cNvSpPr txBox="1"/>
          <p:nvPr/>
        </p:nvSpPr>
        <p:spPr>
          <a:xfrm>
            <a:off x="538062" y="1563495"/>
            <a:ext cx="8282876" cy="47089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shared_buffers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— 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обычно 25%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RAM, 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но не «чем больше, тем лучше». Часто 1–8 ГБ достаточно.</a:t>
            </a:r>
          </a:p>
          <a:p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PostgreSQL </a:t>
            </a:r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не кэширует всё только в 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shared_buffers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Часть данных живёт в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page cache 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ОС.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effective_cache_size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— 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это не выделение памяти, а подсказка планировщику: сколько всего кэша доступно системе. Обычно 50–75%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RAM.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bgwriter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заранее сбрасывает грязные страницы, чтобы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checkpoint 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не создавал пики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I/O.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Высокий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hit ratio — 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не всегда цель</a:t>
            </a:r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Большой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seq scan </a:t>
            </a:r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может быть быстрым, но давать низкий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hit ratio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7612381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50228" y="365760"/>
            <a:ext cx="3781420" cy="5539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F4E79"/>
                </a:solidFill>
                <a:latin typeface="Calibri"/>
              </a:defRPr>
            </a:pPr>
            <a:r>
              <a:rPr lang="ru-RU" sz="3000" dirty="0"/>
              <a:t>Запросы в </a:t>
            </a:r>
            <a:r>
              <a:rPr lang="en-US" sz="3000" dirty="0"/>
              <a:t>PostgreSQL</a:t>
            </a:r>
            <a:endParaRPr sz="3000" dirty="0"/>
          </a:p>
        </p:txBody>
      </p:sp>
      <p:sp>
        <p:nvSpPr>
          <p:cNvPr id="3" name="Rectangle 2"/>
          <p:cNvSpPr/>
          <p:nvPr/>
        </p:nvSpPr>
        <p:spPr>
          <a:xfrm>
            <a:off x="550228" y="1188720"/>
            <a:ext cx="11064240" cy="25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E85A767-4E66-40DA-415A-D8D00759640E}"/>
              </a:ext>
            </a:extLst>
          </p:cNvPr>
          <p:cNvSpPr txBox="1"/>
          <p:nvPr/>
        </p:nvSpPr>
        <p:spPr>
          <a:xfrm>
            <a:off x="550228" y="2084981"/>
            <a:ext cx="5545772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Топ таблиц в буферном пуле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c.relname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    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count(*) AS buffers,       </a:t>
            </a:r>
          </a:p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pg_size_pretty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(count(*) * 8192) AS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approx_size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pg_buffercache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JOIN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pg_class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  ON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b.relfilenode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pg_relation_filenode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c.oid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WHERE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b.reldatabase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(  SELECT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oid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FROM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pg_database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WHERE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datname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current_database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())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GROUP BY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c.relname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ORDER BY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buffers DESC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 10;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C61BC5D-C2C7-34F6-C36D-449D4CBCB85D}"/>
              </a:ext>
            </a:extLst>
          </p:cNvPr>
          <p:cNvSpPr txBox="1"/>
          <p:nvPr/>
        </p:nvSpPr>
        <p:spPr>
          <a:xfrm>
            <a:off x="5939028" y="2143832"/>
            <a:ext cx="6099048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Грязные страницы в пуле</a:t>
            </a:r>
          </a:p>
          <a:p>
            <a:endParaRPr lang="ru-RU" dirty="0"/>
          </a:p>
          <a:p>
            <a:r>
              <a:rPr lang="ru-RU" b="1" dirty="0"/>
              <a:t>SELECT</a:t>
            </a:r>
            <a:r>
              <a:rPr lang="ru-RU" dirty="0"/>
              <a:t> </a:t>
            </a:r>
            <a:r>
              <a:rPr lang="ru-RU" dirty="0" err="1"/>
              <a:t>count</a:t>
            </a:r>
            <a:r>
              <a:rPr lang="ru-RU" dirty="0"/>
              <a:t>(*)  FILTER (WHERE </a:t>
            </a:r>
            <a:r>
              <a:rPr lang="ru-RU" b="1" dirty="0" err="1"/>
              <a:t>isdirty</a:t>
            </a:r>
            <a:r>
              <a:rPr lang="ru-RU" dirty="0"/>
              <a:t>) AS </a:t>
            </a:r>
            <a:r>
              <a:rPr lang="ru-RU" b="1" dirty="0" err="1"/>
              <a:t>dirty</a:t>
            </a:r>
            <a:r>
              <a:rPr lang="ru-RU" dirty="0"/>
              <a:t>,</a:t>
            </a:r>
          </a:p>
          <a:p>
            <a:r>
              <a:rPr lang="ru-RU" dirty="0"/>
              <a:t>       </a:t>
            </a:r>
            <a:r>
              <a:rPr lang="ru-RU" dirty="0" err="1"/>
              <a:t>count</a:t>
            </a:r>
            <a:r>
              <a:rPr lang="ru-RU" dirty="0"/>
              <a:t>(*) AS </a:t>
            </a:r>
            <a:r>
              <a:rPr lang="ru-RU" b="1" dirty="0" err="1"/>
              <a:t>total</a:t>
            </a:r>
            <a:endParaRPr lang="ru-RU" b="1" dirty="0"/>
          </a:p>
          <a:p>
            <a:r>
              <a:rPr lang="ru-RU" b="1" dirty="0"/>
              <a:t>FROM </a:t>
            </a:r>
            <a:r>
              <a:rPr lang="ru-RU" b="1" dirty="0" err="1"/>
              <a:t>pg_buffercache</a:t>
            </a:r>
            <a:r>
              <a:rPr lang="ru-RU" dirty="0"/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353862635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50228" y="365760"/>
            <a:ext cx="2176558" cy="5539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F4E79"/>
                </a:solidFill>
                <a:latin typeface="Calibri"/>
              </a:defRPr>
            </a:pPr>
            <a:r>
              <a:rPr lang="en-US" sz="3000" dirty="0"/>
              <a:t>Scan sharing</a:t>
            </a:r>
            <a:endParaRPr sz="3000" dirty="0"/>
          </a:p>
        </p:txBody>
      </p:sp>
      <p:sp>
        <p:nvSpPr>
          <p:cNvPr id="3" name="Rectangle 2"/>
          <p:cNvSpPr/>
          <p:nvPr/>
        </p:nvSpPr>
        <p:spPr>
          <a:xfrm>
            <a:off x="550228" y="1188720"/>
            <a:ext cx="11064240" cy="25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E85A767-4E66-40DA-415A-D8D00759640E}"/>
              </a:ext>
            </a:extLst>
          </p:cNvPr>
          <p:cNvSpPr txBox="1"/>
          <p:nvPr/>
        </p:nvSpPr>
        <p:spPr>
          <a:xfrm>
            <a:off x="550228" y="2066693"/>
            <a:ext cx="1106424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СУБД может позволить нескольким запросам получить доступ к одному и тому же курсору, сканирующему таблицы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Это </a:t>
            </a:r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не равно 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кешированию результатов запросов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Еще </a:t>
            </a:r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называется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synchronized scans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Полностью поддерживается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PostgreSQL, DB2, Teradata,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MSSql</a:t>
            </a: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0726122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50228" y="365760"/>
            <a:ext cx="3970189" cy="5539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F4E79"/>
                </a:solidFill>
                <a:latin typeface="Calibri"/>
              </a:defRPr>
            </a:pPr>
            <a:r>
              <a:rPr lang="ru-RU" sz="3000" dirty="0"/>
              <a:t>Обход буферного пула</a:t>
            </a:r>
            <a:endParaRPr sz="3000" dirty="0"/>
          </a:p>
        </p:txBody>
      </p:sp>
      <p:sp>
        <p:nvSpPr>
          <p:cNvPr id="3" name="Rectangle 2"/>
          <p:cNvSpPr/>
          <p:nvPr/>
        </p:nvSpPr>
        <p:spPr>
          <a:xfrm>
            <a:off x="550228" y="1188720"/>
            <a:ext cx="11064240" cy="25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E85A767-4E66-40DA-415A-D8D00759640E}"/>
              </a:ext>
            </a:extLst>
          </p:cNvPr>
          <p:cNvSpPr txBox="1"/>
          <p:nvPr/>
        </p:nvSpPr>
        <p:spPr>
          <a:xfrm>
            <a:off x="550228" y="2066693"/>
            <a:ext cx="11064240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Запросы с последовательным сканированием не сохраняет полученные страницы в буферном пуле, чтобы избежать накладных расходов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Память локальна для выполняющегося запроса.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Хорошо работает, когда оператору нужно прочитать большую последовательность страниц, расположенных на диске непрерывно.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Может также использоваться для временных данных (сортировка,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JOIN-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ы).</a:t>
            </a:r>
          </a:p>
        </p:txBody>
      </p:sp>
    </p:spTree>
    <p:extLst>
      <p:ext uri="{BB962C8B-B14F-4D97-AF65-F5344CB8AC3E}">
        <p14:creationId xmlns:p14="http://schemas.microsoft.com/office/powerpoint/2010/main" val="400366660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50228" y="365760"/>
            <a:ext cx="2242922" cy="5539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F4E79"/>
                </a:solidFill>
                <a:latin typeface="Calibri"/>
              </a:defRPr>
            </a:pPr>
            <a:r>
              <a:rPr lang="ru-RU" sz="3000" dirty="0"/>
              <a:t>Заключение</a:t>
            </a:r>
            <a:endParaRPr sz="3000" dirty="0"/>
          </a:p>
        </p:txBody>
      </p:sp>
      <p:sp>
        <p:nvSpPr>
          <p:cNvPr id="3" name="Rectangle 2"/>
          <p:cNvSpPr/>
          <p:nvPr/>
        </p:nvSpPr>
        <p:spPr>
          <a:xfrm>
            <a:off x="550228" y="1188720"/>
            <a:ext cx="11064240" cy="25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E85A767-4E66-40DA-415A-D8D00759640E}"/>
              </a:ext>
            </a:extLst>
          </p:cNvPr>
          <p:cNvSpPr txBox="1"/>
          <p:nvPr/>
        </p:nvSpPr>
        <p:spPr>
          <a:xfrm>
            <a:off x="550228" y="2066693"/>
            <a:ext cx="11064240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СУБД способна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менеджить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нужные ей файлы </a:t>
            </a:r>
            <a:r>
              <a:rPr lang="ru-RU" sz="2400">
                <a:latin typeface="Times New Roman" panose="02020603050405020304" pitchFamily="18" charset="0"/>
                <a:cs typeface="Times New Roman" panose="02020603050405020304" pitchFamily="18" charset="0"/>
              </a:rPr>
              <a:t>лучше ОС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СУБД использует для оптимизации расходов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Предварительную загрузку данных в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RAM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Расчет эвристик использования данных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Иерархичные разделенные структуры в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RAM 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для быстрого поиска данных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48320977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482</TotalTime>
  <Words>2064</Words>
  <Application>Microsoft Office PowerPoint</Application>
  <PresentationFormat>Широкоэкранный</PresentationFormat>
  <Paragraphs>249</Paragraphs>
  <Slides>33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33</vt:i4>
      </vt:variant>
    </vt:vector>
  </HeadingPairs>
  <TitlesOfParts>
    <vt:vector size="38" baseType="lpstr">
      <vt:lpstr>Aptos</vt:lpstr>
      <vt:lpstr>Aptos Display</vt:lpstr>
      <vt:lpstr>Arial</vt:lpstr>
      <vt:lpstr>Times New Roman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User</dc:creator>
  <cp:lastModifiedBy>User</cp:lastModifiedBy>
  <cp:revision>33</cp:revision>
  <dcterms:created xsi:type="dcterms:W3CDTF">2026-06-15T10:40:23Z</dcterms:created>
  <dcterms:modified xsi:type="dcterms:W3CDTF">2026-10-05T05:41:29Z</dcterms:modified>
</cp:coreProperties>
</file>