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embeddedFontLst>
    <p:embeddedFont>
      <p:font typeface="MiSans" panose="020B0604020202020204" charset="-122"/>
      <p:regular r:id="rId24"/>
    </p:embeddedFont>
    <p:embeddedFont>
      <p:font typeface="Oswald" panose="00000500000000000000" pitchFamily="2" charset="-52"/>
      <p:regular r:id="rId25"/>
      <p:bold r:id="rId2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kavya1234/inverted-index-elasticsearch-e975201d07b1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om/blog/accelerated-vector-search-approximating-with-nvidia-cuvs-ivf-flat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11200" y="711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1EFF8F"/>
                </a:solidFill>
                <a:latin typeface="MiSans"/>
                <a:ea typeface="MiSans"/>
              </a:rPr>
              <a:t>ЛЕКЦИЯ #05 · СИСТЕМЫ ХРАНЕНИЯ ДАННЫХ</a:t>
            </a:r>
            <a:endParaRPr lang="en-US" sz="1000" noProof="1"/>
          </a:p>
        </p:txBody>
      </p:sp>
      <p:sp>
        <p:nvSpPr>
          <p:cNvPr id="3" name="rule-top"/>
          <p:cNvSpPr/>
          <p:nvPr/>
        </p:nvSpPr>
        <p:spPr>
          <a:xfrm>
            <a:off x="711200" y="1066800"/>
            <a:ext cx="7112000" cy="25400"/>
          </a:xfrm>
          <a:prstGeom prst="rect">
            <a:avLst/>
          </a:prstGeom>
          <a:solidFill>
            <a:srgbClr val="1EFF8F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1524000"/>
            <a:ext cx="78740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5200" b="1" kern="0" spc="50" noProof="1">
                <a:solidFill>
                  <a:srgbClr val="FFFFFF"/>
                </a:solidFill>
                <a:latin typeface="Oswald"/>
                <a:ea typeface="Oswald"/>
              </a:rPr>
              <a:t>B+-ДЕРЕВЬЯ</a:t>
            </a:r>
            <a:endParaRPr lang="en-US" sz="5200" noProof="1"/>
          </a:p>
          <a:p>
            <a:pPr>
              <a:lnSpc>
                <a:spcPct val="108000"/>
              </a:lnSpc>
            </a:pPr>
            <a:r>
              <a:rPr lang="en-US" sz="5200" b="1" kern="0" spc="50" noProof="1">
                <a:solidFill>
                  <a:srgbClr val="FFFFFF"/>
                </a:solidFill>
                <a:latin typeface="Oswald"/>
                <a:ea typeface="Oswald"/>
              </a:rPr>
              <a:t>И ИНДЕКСЫ</a:t>
            </a:r>
            <a:endParaRPr lang="en-US" sz="5200" noProof="1"/>
          </a:p>
          <a:p>
            <a:pPr>
              <a:lnSpc>
                <a:spcPct val="108000"/>
              </a:lnSpc>
            </a:pPr>
            <a:r>
              <a:rPr lang="en-US" sz="5200" b="1" kern="0" spc="50" noProof="1">
                <a:solidFill>
                  <a:srgbClr val="FFFFFF"/>
                </a:solidFill>
                <a:latin typeface="Oswald"/>
                <a:ea typeface="Oswald"/>
              </a:rPr>
              <a:t>В БАЗАХ ДАННЫХ</a:t>
            </a:r>
            <a:endParaRPr lang="en-US" sz="5200" noProof="1"/>
          </a:p>
        </p:txBody>
      </p:sp>
      <p:sp>
        <p:nvSpPr>
          <p:cNvPr id="5" name="subtitle"/>
          <p:cNvSpPr txBox="1"/>
          <p:nvPr/>
        </p:nvSpPr>
        <p:spPr>
          <a:xfrm>
            <a:off x="711200" y="40640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DAD7FF"/>
                </a:solidFill>
                <a:latin typeface="MiSans"/>
                <a:ea typeface="MiSans"/>
              </a:rPr>
              <a:t>B+-деревья, составные индексы, дубликаты и NULL, кластеризация,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DAD7FF"/>
                </a:solidFill>
                <a:latin typeface="MiSans"/>
                <a:ea typeface="MiSans"/>
              </a:rPr>
              <a:t>физическая упаковка страницы · фильтры Блума, skip-списки, trie,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DAD7FF"/>
                </a:solidFill>
                <a:latin typeface="MiSans"/>
                <a:ea typeface="MiSans"/>
              </a:rPr>
              <a:t>инвертированные и векторные индексы · реализация в PostgreSQL</a:t>
            </a:r>
            <a:endParaRPr lang="en-US" sz="1250" noProof="1"/>
          </a:p>
        </p:txBody>
      </p:sp>
      <p:sp>
        <p:nvSpPr>
          <p:cNvPr id="6" name="meta-rule"/>
          <p:cNvSpPr/>
          <p:nvPr/>
        </p:nvSpPr>
        <p:spPr>
          <a:xfrm>
            <a:off x="711200" y="5232400"/>
            <a:ext cx="7112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7" name="arrow-tile"/>
          <p:cNvSpPr/>
          <p:nvPr/>
        </p:nvSpPr>
        <p:spPr>
          <a:xfrm>
            <a:off x="9753600" y="711200"/>
            <a:ext cx="1727200" cy="1727200"/>
          </a:xfrm>
          <a:prstGeom prst="roundRect">
            <a:avLst>
              <a:gd name="adj" fmla="val 12000"/>
            </a:avLst>
          </a:prstGeom>
          <a:solidFill>
            <a:srgbClr val="1EFF8F"/>
          </a:solidFill>
          <a:ln>
            <a:noFill/>
          </a:ln>
        </p:spPr>
      </p:sp>
      <p:sp>
        <p:nvSpPr>
          <p:cNvPr id="8" name="arrow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10160000" y="11176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00533"/>
          </a:solidFill>
          <a:ln>
            <a:noFill/>
          </a:ln>
        </p:spPr>
      </p:sp>
      <p:sp>
        <p:nvSpPr>
          <p:cNvPr id="9" name="mos-1"/>
          <p:cNvSpPr/>
          <p:nvPr/>
        </p:nvSpPr>
        <p:spPr>
          <a:xfrm>
            <a:off x="9753600" y="26924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A29AFF"/>
          </a:solidFill>
          <a:ln>
            <a:noFill/>
          </a:ln>
        </p:spPr>
      </p:sp>
      <p:sp>
        <p:nvSpPr>
          <p:cNvPr id="10" name="mos-2"/>
          <p:cNvSpPr/>
          <p:nvPr/>
        </p:nvSpPr>
        <p:spPr>
          <a:xfrm>
            <a:off x="10668000" y="26924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1EFF8F">
              <a:alpha val="30196"/>
            </a:srgbClr>
          </a:solidFill>
          <a:ln>
            <a:noFill/>
          </a:ln>
        </p:spPr>
      </p:sp>
      <p:sp>
        <p:nvSpPr>
          <p:cNvPr id="11" name="mos-3"/>
          <p:cNvSpPr/>
          <p:nvPr/>
        </p:nvSpPr>
        <p:spPr>
          <a:xfrm>
            <a:off x="9753600" y="36068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A29AFF">
              <a:alpha val="40000"/>
            </a:srgbClr>
          </a:solidFill>
          <a:ln>
            <a:noFill/>
          </a:ln>
        </p:spPr>
      </p:sp>
      <p:sp>
        <p:nvSpPr>
          <p:cNvPr id="12" name="mos-4"/>
          <p:cNvSpPr/>
          <p:nvPr/>
        </p:nvSpPr>
        <p:spPr>
          <a:xfrm>
            <a:off x="10668000" y="36068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DAD7FF"/>
          </a:solidFill>
          <a:ln>
            <a:noFill/>
          </a:ln>
        </p:spPr>
      </p:sp>
      <p:sp>
        <p:nvSpPr>
          <p:cNvPr id="13" name="mos-5"/>
          <p:cNvSpPr/>
          <p:nvPr/>
        </p:nvSpPr>
        <p:spPr>
          <a:xfrm>
            <a:off x="9753600" y="45212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</p:sp>
      <p:sp>
        <p:nvSpPr>
          <p:cNvPr id="14" name="mos-6"/>
          <p:cNvSpPr/>
          <p:nvPr/>
        </p:nvSpPr>
        <p:spPr>
          <a:xfrm>
            <a:off x="10668000" y="45212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1EFF8F"/>
          </a:solidFill>
          <a:ln>
            <a:noFill/>
          </a:ln>
        </p:spPr>
      </p:sp>
      <p:sp>
        <p:nvSpPr>
          <p:cNvPr id="15" name="mos-label"/>
          <p:cNvSpPr txBox="1"/>
          <p:nvPr/>
        </p:nvSpPr>
        <p:spPr>
          <a:xfrm>
            <a:off x="8890000" y="5588000"/>
            <a:ext cx="2590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FFFFFF">
                    <a:alpha val="50196"/>
                  </a:srgbClr>
                </a:solidFill>
                <a:latin typeface="MiSans"/>
                <a:ea typeface="MiSans"/>
              </a:rPr>
              <a:t>структуры данных · алгоритмы</a:t>
            </a:r>
            <a:endParaRPr lang="en-US" sz="900" noProof="1"/>
          </a:p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FFFFFF">
                    <a:alpha val="50196"/>
                  </a:srgbClr>
                </a:solidFill>
                <a:latin typeface="MiSans"/>
                <a:ea typeface="MiSans"/>
              </a:rPr>
              <a:t>· инженерные компромиссы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01 · ЗАЧЕМ НУЖНЫ ИНДЕКСЫ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Без индекса СУБД читает таблицу целиком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Seq Scan проверяет каждую строку каждой страницы — на миллиардах записей это неприемлемо</a:t>
            </a:r>
            <a:endParaRPr lang="en-US" sz="1100" noProof="1"/>
          </a:p>
        </p:txBody>
      </p:sp>
      <p:sp>
        <p:nvSpPr>
          <p:cNvPr id="5" name="h-what"/>
          <p:cNvSpPr txBox="1"/>
          <p:nvPr/>
        </p:nvSpPr>
        <p:spPr>
          <a:xfrm>
            <a:off x="508000" y="15494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Что такое индекс</a:t>
            </a:r>
            <a:endParaRPr lang="en-US" sz="1250" noProof="1"/>
          </a:p>
        </p:txBody>
      </p:sp>
      <p:sp>
        <p:nvSpPr>
          <p:cNvPr id="6" name="what-body"/>
          <p:cNvSpPr txBox="1"/>
          <p:nvPr/>
        </p:nvSpPr>
        <p:spPr>
          <a:xfrm>
            <a:off x="508000" y="1803400"/>
            <a:ext cx="5334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Индекс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вспомогательная структура данных: реплика подмножества столбцов таблицы, организованная для быстрого поиска нужных кортежей.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Индекс отвечает на вопрос: </a:t>
            </a:r>
            <a:r>
              <a:rPr lang="en-US" sz="1100" i="1" noProof="1">
                <a:solidFill>
                  <a:srgbClr val="000533"/>
                </a:solidFill>
                <a:latin typeface="MiSans"/>
                <a:ea typeface="MiSans"/>
              </a:rPr>
              <a:t>«Где находятся строки с заданным значением ключа?»</a:t>
            </a:r>
            <a:endParaRPr lang="en-US" sz="1100" noProof="1"/>
          </a:p>
        </p:txBody>
      </p:sp>
      <p:sp>
        <p:nvSpPr>
          <p:cNvPr id="7" name="quote-panel"/>
          <p:cNvSpPr/>
          <p:nvPr/>
        </p:nvSpPr>
        <p:spPr>
          <a:xfrm>
            <a:off x="508000" y="2997200"/>
            <a:ext cx="5334000" cy="1168400"/>
          </a:xfrm>
          <a:prstGeom prst="roundRect">
            <a:avLst>
              <a:gd name="adj" fmla="val 8000"/>
            </a:avLst>
          </a:prstGeom>
          <a:solidFill>
            <a:srgbClr val="DAD7FF"/>
          </a:solidFill>
          <a:ln>
            <a:noFill/>
          </a:ln>
        </p:spPr>
      </p:sp>
      <p:sp>
        <p:nvSpPr>
          <p:cNvPr id="8" name="quote-text"/>
          <p:cNvSpPr txBox="1"/>
          <p:nvPr/>
        </p:nvSpPr>
        <p:spPr>
          <a:xfrm>
            <a:off x="736600" y="3124200"/>
            <a:ext cx="48768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i="1" noProof="1">
                <a:solidFill>
                  <a:srgbClr val="000533"/>
                </a:solidFill>
                <a:latin typeface="MiSans"/>
                <a:ea typeface="MiSans"/>
              </a:rPr>
              <a:t>«Индекс — это реплика подмножества атрибутов таблицы, организованная и/или отсортированная для эффективного доступа к местоположению конкретных кортежей».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900" noProof="1">
                <a:solidFill>
                  <a:srgbClr val="000000"/>
                </a:solidFill>
                <a:latin typeface="MiSans"/>
                <a:ea typeface="MiSans"/>
              </a:rPr>
              <a:t>— формальное определение, CMU 15-445/645 (Andy Pavlo)</a:t>
            </a:r>
            <a:endParaRPr lang="en-US" sz="1600" noProof="1"/>
          </a:p>
        </p:txBody>
      </p:sp>
      <p:sp>
        <p:nvSpPr>
          <p:cNvPr id="9" name="h-req"/>
          <p:cNvSpPr txBox="1"/>
          <p:nvPr/>
        </p:nvSpPr>
        <p:spPr>
          <a:xfrm>
            <a:off x="508000" y="43942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Требования к индексу</a:t>
            </a:r>
            <a:endParaRPr lang="en-US" sz="1250" noProof="1"/>
          </a:p>
        </p:txBody>
      </p:sp>
      <p:sp>
        <p:nvSpPr>
          <p:cNvPr id="10" name="req-body"/>
          <p:cNvSpPr txBox="1"/>
          <p:nvPr/>
        </p:nvSpPr>
        <p:spPr>
          <a:xfrm>
            <a:off x="508000" y="4648200"/>
            <a:ext cx="5334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быстрый точечный поиск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диапазонные запросы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эффективная вставка и удаление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минимизация операций ввода-вывода (I/O)</a:t>
            </a:r>
            <a:endParaRPr lang="en-US" sz="1100" noProof="1"/>
          </a:p>
        </p:txBody>
      </p:sp>
      <p:sp>
        <p:nvSpPr>
          <p:cNvPr id="11" name="db-note"/>
          <p:cNvSpPr txBox="1"/>
          <p:nvPr/>
        </p:nvSpPr>
        <p:spPr>
          <a:xfrm>
            <a:off x="508000" y="589280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Почти все реляционные СУБД — Oracle, MySQL/InnoDB, PostgreSQL, SQLite, SQL Server — используют B+-дерево или его варианты.</a:t>
            </a:r>
            <a:endParaRPr lang="en-US" sz="950" noProof="1"/>
          </a:p>
        </p:txBody>
      </p:sp>
      <p:sp>
        <p:nvSpPr>
          <p:cNvPr id="12" name="h-cmp"/>
          <p:cNvSpPr txBox="1"/>
          <p:nvPr/>
        </p:nvSpPr>
        <p:spPr>
          <a:xfrm>
            <a:off x="6350000" y="15494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Индекс — не фильтр</a:t>
            </a:r>
            <a:endParaRPr lang="en-US" sz="1250" noProof="1"/>
          </a:p>
        </p:txBody>
      </p:sp>
      <p:graphicFrame>
        <p:nvGraphicFramePr>
          <p:cNvPr id="13" name="cmp-table"/>
          <p:cNvGraphicFramePr>
            <a:graphicFrameLocks noGrp="1"/>
          </p:cNvGraphicFramePr>
          <p:nvPr/>
        </p:nvGraphicFramePr>
        <p:xfrm>
          <a:off x="6350000" y="1803400"/>
          <a:ext cx="5334000" cy="1732154"/>
        </p:xfrm>
        <a:graphic>
          <a:graphicData uri="http://schemas.openxmlformats.org/drawingml/2006/table">
            <a:tbl>
              <a:tblPr/>
              <a:tblGrid>
                <a:gridCol w="138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Аспект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Индекс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Фильтр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Что хранит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Подмножество атрибутов + местоположение кортежей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Только факт принадлежности множеству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Вопрос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«Где лежат строки с этим ключом?»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«Есть ли ключ?» (без «где»)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Пример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B+-дерево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Фильтр Блума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h-trade"/>
          <p:cNvSpPr txBox="1"/>
          <p:nvPr/>
        </p:nvSpPr>
        <p:spPr>
          <a:xfrm>
            <a:off x="6350000" y="37084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Компромисс индексирования</a:t>
            </a:r>
            <a:endParaRPr lang="en-US" sz="1250" noProof="1"/>
          </a:p>
        </p:txBody>
      </p:sp>
      <p:sp>
        <p:nvSpPr>
          <p:cNvPr id="15" name="trade-body"/>
          <p:cNvSpPr txBox="1"/>
          <p:nvPr/>
        </p:nvSpPr>
        <p:spPr>
          <a:xfrm>
            <a:off x="6350000" y="3962400"/>
            <a:ext cx="5334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Больше индексов — быстрее запросы на чтение, но индексы занимают место и требуют обслуживания при каждом обновлении данных.</a:t>
            </a:r>
            <a:endParaRPr lang="en-US" sz="1100" noProof="1"/>
          </a:p>
        </p:txBody>
      </p:sp>
      <p:sp>
        <p:nvSpPr>
          <p:cNvPr id="16" name="concl-panel"/>
          <p:cNvSpPr/>
          <p:nvPr/>
        </p:nvSpPr>
        <p:spPr>
          <a:xfrm>
            <a:off x="6350000" y="4953000"/>
            <a:ext cx="5334000" cy="1371600"/>
          </a:xfrm>
          <a:prstGeom prst="roundRect">
            <a:avLst>
              <a:gd name="adj" fmla="val 8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17" name="concl-text"/>
          <p:cNvSpPr txBox="1"/>
          <p:nvPr/>
        </p:nvSpPr>
        <p:spPr>
          <a:xfrm>
            <a:off x="6578600" y="5105400"/>
            <a:ext cx="4876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Ключевая мысль: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не разработчик прописывает индекс в запросе — какие индексы использовать для каждого запроса, решает сама СУБД (планировщик).</a:t>
            </a:r>
            <a:endParaRPr lang="en-US" sz="1100" noProof="1"/>
          </a:p>
        </p:txBody>
      </p:sp>
      <p:sp>
        <p:nvSpPr>
          <p:cNvPr id="18" name="foot-line"/>
          <p:cNvSpPr/>
          <p:nvPr/>
        </p:nvSpPr>
        <p:spPr>
          <a:xfrm>
            <a:off x="508000" y="6527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19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02 / 22</a:t>
            </a:r>
            <a:endParaRPr lang="en-US" sz="8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01 · ПРОИСХОЖДЕНИЕ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От B-дерева к B-link-дереву — пятьдесят лет одной идеи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Современные реализации B+-деревьев комбинируют возможности нескольких вариантов структуры</a:t>
            </a:r>
            <a:endParaRPr lang="en-US" sz="1100" noProof="1"/>
          </a:p>
        </p:txBody>
      </p:sp>
      <p:sp>
        <p:nvSpPr>
          <p:cNvPr id="5" name="tl-line"/>
          <p:cNvSpPr/>
          <p:nvPr/>
        </p:nvSpPr>
        <p:spPr>
          <a:xfrm>
            <a:off x="508000" y="1981200"/>
            <a:ext cx="11176000" cy="25400"/>
          </a:xfrm>
          <a:prstGeom prst="rect">
            <a:avLst/>
          </a:prstGeom>
          <a:solidFill>
            <a:srgbClr val="DAD7FF"/>
          </a:solidFill>
          <a:ln>
            <a:noFill/>
          </a:ln>
        </p:spPr>
      </p:sp>
      <p:sp>
        <p:nvSpPr>
          <p:cNvPr id="6" name="tl-dot1"/>
          <p:cNvSpPr/>
          <p:nvPr/>
        </p:nvSpPr>
        <p:spPr>
          <a:xfrm>
            <a:off x="609600" y="187960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EFF8F"/>
          </a:solidFill>
          <a:ln>
            <a:noFill/>
          </a:ln>
        </p:spPr>
      </p:sp>
      <p:sp>
        <p:nvSpPr>
          <p:cNvPr id="7" name="tl-year1"/>
          <p:cNvSpPr txBox="1"/>
          <p:nvPr/>
        </p:nvSpPr>
        <p:spPr>
          <a:xfrm>
            <a:off x="508000" y="22352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01AFF"/>
                </a:solidFill>
                <a:latin typeface="Oswald"/>
                <a:ea typeface="Oswald"/>
              </a:rPr>
              <a:t>1970–1972</a:t>
            </a:r>
            <a:endParaRPr lang="en-US" sz="2200" noProof="1"/>
          </a:p>
        </p:txBody>
      </p:sp>
      <p:sp>
        <p:nvSpPr>
          <p:cNvPr id="8" name="tl-body1"/>
          <p:cNvSpPr txBox="1"/>
          <p:nvPr/>
        </p:nvSpPr>
        <p:spPr>
          <a:xfrm>
            <a:off x="508000" y="26416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Bayer &amp; McCreight (Boeing) описали B-дерево в техническом отчёте 1970 года; каноническая статья вышла в Acta Informatica в 1972.</a:t>
            </a:r>
            <a:endParaRPr lang="en-US" sz="1100" noProof="1"/>
          </a:p>
        </p:txBody>
      </p:sp>
      <p:sp>
        <p:nvSpPr>
          <p:cNvPr id="9" name="tl-dot2"/>
          <p:cNvSpPr/>
          <p:nvPr/>
        </p:nvSpPr>
        <p:spPr>
          <a:xfrm>
            <a:off x="4419600" y="187960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EFF8F"/>
          </a:solidFill>
          <a:ln>
            <a:noFill/>
          </a:ln>
        </p:spPr>
      </p:sp>
      <p:sp>
        <p:nvSpPr>
          <p:cNvPr id="10" name="tl-year2"/>
          <p:cNvSpPr txBox="1"/>
          <p:nvPr/>
        </p:nvSpPr>
        <p:spPr>
          <a:xfrm>
            <a:off x="4318000" y="22352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01AFF"/>
                </a:solidFill>
                <a:latin typeface="Oswald"/>
                <a:ea typeface="Oswald"/>
              </a:rPr>
              <a:t>1979</a:t>
            </a:r>
            <a:endParaRPr lang="en-US" sz="2200" noProof="1"/>
          </a:p>
        </p:txBody>
      </p:sp>
      <p:sp>
        <p:nvSpPr>
          <p:cNvPr id="11" name="tl-body2"/>
          <p:cNvSpPr txBox="1"/>
          <p:nvPr/>
        </p:nvSpPr>
        <p:spPr>
          <a:xfrm>
            <a:off x="4318000" y="26416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Douglas Comer, «The Ubiquitous B-Tree»: закрепил B+-дерево — значения только в листьях, связный список листьев — как универсальный индекс СУБД.</a:t>
            </a:r>
            <a:endParaRPr lang="en-US" sz="1100" noProof="1"/>
          </a:p>
        </p:txBody>
      </p:sp>
      <p:sp>
        <p:nvSpPr>
          <p:cNvPr id="12" name="tl-dot3"/>
          <p:cNvSpPr/>
          <p:nvPr/>
        </p:nvSpPr>
        <p:spPr>
          <a:xfrm>
            <a:off x="8229600" y="187960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EFF8F"/>
          </a:solidFill>
          <a:ln>
            <a:noFill/>
          </a:ln>
        </p:spPr>
      </p:sp>
      <p:sp>
        <p:nvSpPr>
          <p:cNvPr id="13" name="tl-year3"/>
          <p:cNvSpPr txBox="1"/>
          <p:nvPr/>
        </p:nvSpPr>
        <p:spPr>
          <a:xfrm>
            <a:off x="8128000" y="2235200"/>
            <a:ext cx="355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01AFF"/>
                </a:solidFill>
                <a:latin typeface="Oswald"/>
                <a:ea typeface="Oswald"/>
              </a:rPr>
              <a:t>1981</a:t>
            </a:r>
            <a:endParaRPr lang="en-US" sz="2200" noProof="1"/>
          </a:p>
        </p:txBody>
      </p:sp>
      <p:sp>
        <p:nvSpPr>
          <p:cNvPr id="14" name="tl-body3"/>
          <p:cNvSpPr txBox="1"/>
          <p:nvPr/>
        </p:nvSpPr>
        <p:spPr>
          <a:xfrm>
            <a:off x="8128000" y="2641600"/>
            <a:ext cx="355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Lehman &amp; Yao добавили rightlinks на всех уровнях и high key на каждой странице. Этот B-link-алгоритм лежит в основе nbtree в PostgreSQL.</a:t>
            </a:r>
            <a:endParaRPr lang="en-US" sz="1100" noProof="1"/>
          </a:p>
        </p:txBody>
      </p:sp>
      <p:graphicFrame>
        <p:nvGraphicFramePr>
          <p:cNvPr id="15" name="cmp-table"/>
          <p:cNvGraphicFramePr>
            <a:graphicFrameLocks noGrp="1"/>
          </p:cNvGraphicFramePr>
          <p:nvPr/>
        </p:nvGraphicFramePr>
        <p:xfrm>
          <a:off x="508000" y="3759200"/>
          <a:ext cx="7112000" cy="20828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Аспект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B-дерево (1970)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B+-дерево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35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Где хранятся значения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Во всех узлах дерева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Только в листовых узлах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5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Роль внутренних узлов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Ключи + данные + потомки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Направляющие ключи (guideposts) + указатели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52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Связность листьев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Нет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Sibling pointers; в PostgreSQL — двусвязный список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concl-panel"/>
          <p:cNvSpPr/>
          <p:nvPr/>
        </p:nvSpPr>
        <p:spPr>
          <a:xfrm>
            <a:off x="8128000" y="3759200"/>
            <a:ext cx="3556000" cy="2082800"/>
          </a:xfrm>
          <a:prstGeom prst="roundRect">
            <a:avLst>
              <a:gd name="adj" fmla="val 8000"/>
            </a:avLst>
          </a:prstGeom>
          <a:solidFill>
            <a:srgbClr val="DAD7FF"/>
          </a:solidFill>
          <a:ln>
            <a:noFill/>
          </a:ln>
        </p:spPr>
      </p:sp>
      <p:sp>
        <p:nvSpPr>
          <p:cNvPr id="17" name="concl-text"/>
          <p:cNvSpPr txBox="1"/>
          <p:nvPr/>
        </p:nvSpPr>
        <p:spPr>
          <a:xfrm>
            <a:off x="8331200" y="3911600"/>
            <a:ext cx="314960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b="1" noProof="1">
                <a:solidFill>
                  <a:srgbClr val="000533"/>
                </a:solidFill>
                <a:latin typeface="MiSans"/>
                <a:ea typeface="MiSans"/>
              </a:rPr>
              <a:t>Терминологическая ловушка:</a:t>
            </a: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 «B-дерево» — и конкретная структура, и общее название класса. B+-дерево хранит значения только в листьях; современные реализации добавляют идеи B-link tree.</a:t>
            </a:r>
            <a:endParaRPr lang="en-US" sz="1050" noProof="1"/>
          </a:p>
        </p:txBody>
      </p:sp>
      <p:sp>
        <p:nvSpPr>
          <p:cNvPr id="18" name="foot-line"/>
          <p:cNvSpPr/>
          <p:nvPr/>
        </p:nvSpPr>
        <p:spPr>
          <a:xfrm>
            <a:off x="508000" y="6527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19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03 / 22</a:t>
            </a:r>
            <a:endParaRPr lang="en-US" sz="8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02 · ОПРЕДЕЛЕНИЕ И СТРУКТУРА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B+-дерево — m-арное и идеально сбалансированное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Все данные — только в листьях; внутренние узлы хранят направляющие ключи и указатели на дочерние страницы</a:t>
            </a:r>
            <a:endParaRPr lang="en-US" sz="1100" noProof="1"/>
          </a:p>
        </p:txBody>
      </p:sp>
      <p:sp>
        <p:nvSpPr>
          <p:cNvPr id="5" name="h-props"/>
          <p:cNvSpPr txBox="1"/>
          <p:nvPr/>
        </p:nvSpPr>
        <p:spPr>
          <a:xfrm>
            <a:off x="508000" y="15494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Формальные свойства</a:t>
            </a:r>
            <a:endParaRPr lang="en-US" sz="1250" noProof="1"/>
          </a:p>
        </p:txBody>
      </p:sp>
      <p:sp>
        <p:nvSpPr>
          <p:cNvPr id="6" name="props-body"/>
          <p:cNvSpPr txBox="1"/>
          <p:nvPr/>
        </p:nvSpPr>
        <p:spPr>
          <a:xfrm>
            <a:off x="508000" y="1828800"/>
            <a:ext cx="4826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1. Идеальная сбалансированность: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все листья на одной глубине — расстояние от корня до любого листа одинаково.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2. Заполненность: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каждый внутренний узел (кроме корня) заполнен не менее чем наполовину: ⌈m/2⌉−1 ≤ ключей ≤ m−1.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3. Ветвление: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узел с k ключами имеет k+1 указателей на потомков.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4. Узел = страница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фиксированного размера (в PostgreSQL — 8 КБ).</a:t>
            </a:r>
            <a:endParaRPr lang="en-US" sz="1100" noProof="1"/>
          </a:p>
        </p:txBody>
      </p:sp>
      <p:sp>
        <p:nvSpPr>
          <p:cNvPr id="7" name="h-leaves"/>
          <p:cNvSpPr txBox="1"/>
          <p:nvPr/>
        </p:nvSpPr>
        <p:spPr>
          <a:xfrm>
            <a:off x="508000" y="45212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Связанные листья</a:t>
            </a:r>
            <a:endParaRPr lang="en-US" sz="1250" noProof="1"/>
          </a:p>
        </p:txBody>
      </p:sp>
      <p:sp>
        <p:nvSpPr>
          <p:cNvPr id="8" name="leaves-body"/>
          <p:cNvSpPr txBox="1"/>
          <p:nvPr/>
        </p:nvSpPr>
        <p:spPr>
          <a:xfrm>
            <a:off x="508000" y="4800600"/>
            <a:ext cx="4826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Листовые узлы связаны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двусвязным списком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(sibling pointers): диапазонное сканирование идёт по листьям вперёд-назад, не возвращаясь к родительским узлам.</a:t>
            </a:r>
            <a:endParaRPr lang="en-US" sz="1100" noProof="1"/>
          </a:p>
        </p:txBody>
      </p:sp>
      <p:sp>
        <p:nvSpPr>
          <p:cNvPr id="9" name="concl-panel"/>
          <p:cNvSpPr/>
          <p:nvPr/>
        </p:nvSpPr>
        <p:spPr>
          <a:xfrm>
            <a:off x="508000" y="5994400"/>
            <a:ext cx="11176000" cy="431800"/>
          </a:xfrm>
          <a:prstGeom prst="roundRect">
            <a:avLst>
              <a:gd name="adj" fmla="val 12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10" name="concl-text"/>
          <p:cNvSpPr txBox="1"/>
          <p:nvPr/>
        </p:nvSpPr>
        <p:spPr>
          <a:xfrm>
            <a:off x="736600" y="6070600"/>
            <a:ext cx="10718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Важно: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направляющий ключ во внутреннем узле — лишь разделитель; он может отсутствовать среди реальных ключей в листьях.</a:t>
            </a:r>
            <a:endParaRPr lang="en-US" sz="1100" noProof="1"/>
          </a:p>
        </p:txBody>
      </p:sp>
      <p:sp>
        <p:nvSpPr>
          <p:cNvPr id="11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2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04 / 22</a:t>
            </a:r>
            <a:endParaRPr lang="en-US" sz="850" noProof="1"/>
          </a:p>
        </p:txBody>
      </p:sp>
      <p:pic>
        <p:nvPicPr>
          <p:cNvPr id="1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5374640" y="1447800"/>
            <a:ext cx="6309360" cy="34620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02 · АНАТОМИЯ УЗЛА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Внутренний узел хранит указатели, листовой хранит данные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Каждый узел — массив пар «ключ/значение», отсортированный по ключам; смысл «значения» зависит от уровня</a:t>
            </a:r>
            <a:endParaRPr lang="en-US" sz="1100" noProof="1"/>
          </a:p>
        </p:txBody>
      </p:sp>
      <p:sp>
        <p:nvSpPr>
          <p:cNvPr id="5" name="h-internal"/>
          <p:cNvSpPr txBox="1"/>
          <p:nvPr/>
        </p:nvSpPr>
        <p:spPr>
          <a:xfrm>
            <a:off x="508000" y="14986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Внутренний узел: [ptr₀, key₁, ptr₁, key₂, ptr₂, …]</a:t>
            </a:r>
            <a:endParaRPr lang="en-US" sz="1250" noProof="1"/>
          </a:p>
        </p:txBody>
      </p:sp>
      <p:graphicFrame>
        <p:nvGraphicFramePr>
          <p:cNvPr id="6" name="internal-node"/>
          <p:cNvGraphicFramePr>
            <a:graphicFrameLocks noGrp="1"/>
          </p:cNvGraphicFramePr>
          <p:nvPr/>
        </p:nvGraphicFramePr>
        <p:xfrm>
          <a:off x="508000" y="1778000"/>
          <a:ext cx="5588000" cy="584200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en-US" sz="1300" i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ptr₀</a:t>
                      </a:r>
                    </a:p>
                  </a:txBody>
                  <a:tcPr anchor="ctr">
                    <a:lnL w="12700">
                      <a:solidFill>
                        <a:srgbClr val="000533"/>
                      </a:solidFill>
                    </a:lnL>
                    <a:lnR w="12700">
                      <a:solidFill>
                        <a:srgbClr val="000533"/>
                      </a:solidFill>
                    </a:lnR>
                    <a:lnT w="12700">
                      <a:solidFill>
                        <a:srgbClr val="000533"/>
                      </a:solidFill>
                    </a:lnT>
                    <a:lnB w="12700">
                      <a:solidFill>
                        <a:srgbClr val="000533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key₁</a:t>
                      </a:r>
                    </a:p>
                  </a:txBody>
                  <a:tcPr anchor="ctr">
                    <a:lnL w="12700">
                      <a:solidFill>
                        <a:srgbClr val="000533"/>
                      </a:solidFill>
                    </a:lnL>
                    <a:lnR w="12700">
                      <a:solidFill>
                        <a:srgbClr val="000533"/>
                      </a:solidFill>
                    </a:lnR>
                    <a:lnT w="12700">
                      <a:solidFill>
                        <a:srgbClr val="000533"/>
                      </a:solidFill>
                    </a:lnT>
                    <a:lnB w="12700">
                      <a:solidFill>
                        <a:srgbClr val="000533"/>
                      </a:solidFill>
                    </a:lnB>
                    <a:solidFill>
                      <a:srgbClr val="DAD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ptr₁</a:t>
                      </a:r>
                    </a:p>
                  </a:txBody>
                  <a:tcPr anchor="ctr">
                    <a:lnL w="12700">
                      <a:solidFill>
                        <a:srgbClr val="000533"/>
                      </a:solidFill>
                    </a:lnL>
                    <a:lnR w="12700">
                      <a:solidFill>
                        <a:srgbClr val="000533"/>
                      </a:solidFill>
                    </a:lnR>
                    <a:lnT w="12700">
                      <a:solidFill>
                        <a:srgbClr val="000533"/>
                      </a:solidFill>
                    </a:lnT>
                    <a:lnB w="12700">
                      <a:solidFill>
                        <a:srgbClr val="000533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key₂</a:t>
                      </a:r>
                    </a:p>
                  </a:txBody>
                  <a:tcPr anchor="ctr">
                    <a:lnL w="12700">
                      <a:solidFill>
                        <a:srgbClr val="000533"/>
                      </a:solidFill>
                    </a:lnL>
                    <a:lnR w="12700">
                      <a:solidFill>
                        <a:srgbClr val="000533"/>
                      </a:solidFill>
                    </a:lnR>
                    <a:lnT w="12700">
                      <a:solidFill>
                        <a:srgbClr val="000533"/>
                      </a:solidFill>
                    </a:lnT>
                    <a:lnB w="12700">
                      <a:solidFill>
                        <a:srgbClr val="000533"/>
                      </a:solidFill>
                    </a:lnB>
                    <a:solidFill>
                      <a:srgbClr val="DAD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ptr₂</a:t>
                      </a:r>
                    </a:p>
                  </a:txBody>
                  <a:tcPr anchor="ctr">
                    <a:lnL w="12700">
                      <a:solidFill>
                        <a:srgbClr val="000533"/>
                      </a:solidFill>
                    </a:lnL>
                    <a:lnR w="12700">
                      <a:solidFill>
                        <a:srgbClr val="000533"/>
                      </a:solidFill>
                    </a:lnR>
                    <a:lnT w="12700">
                      <a:solidFill>
                        <a:srgbClr val="000533"/>
                      </a:solidFill>
                    </a:lnT>
                    <a:lnB w="12700">
                      <a:solidFill>
                        <a:srgbClr val="000533"/>
                      </a:solidFill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internal-cap"/>
          <p:cNvSpPr txBox="1"/>
          <p:nvPr/>
        </p:nvSpPr>
        <p:spPr>
          <a:xfrm>
            <a:off x="508000" y="2463800"/>
            <a:ext cx="558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Ключи keyᵢ — </a:t>
            </a:r>
            <a:r>
              <a:rPr lang="en-US" sz="950" b="1" noProof="1">
                <a:solidFill>
                  <a:srgbClr val="5B5F7A"/>
                </a:solidFill>
                <a:latin typeface="MiSans"/>
                <a:ea typeface="MiSans"/>
              </a:rPr>
              <a:t>направляющие (guideposts)</a:t>
            </a: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: все ключи поддерева ptrᵢ меньше keyᵢ₊₁ (при возрастающем порядке). Направляющий ключ может не встречаться в данных.</a:t>
            </a:r>
            <a:endParaRPr lang="en-US" sz="950" noProof="1"/>
          </a:p>
        </p:txBody>
      </p:sp>
      <p:sp>
        <p:nvSpPr>
          <p:cNvPr id="8" name="h-leaf"/>
          <p:cNvSpPr txBox="1"/>
          <p:nvPr/>
        </p:nvSpPr>
        <p:spPr>
          <a:xfrm>
            <a:off x="6604000" y="1498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Листовой узел: пары (key, value)</a:t>
            </a:r>
            <a:endParaRPr lang="en-US" sz="1250" noProof="1"/>
          </a:p>
        </p:txBody>
      </p:sp>
      <p:graphicFrame>
        <p:nvGraphicFramePr>
          <p:cNvPr id="9" name="leaf-node"/>
          <p:cNvGraphicFramePr>
            <a:graphicFrameLocks noGrp="1"/>
          </p:cNvGraphicFramePr>
          <p:nvPr/>
        </p:nvGraphicFramePr>
        <p:xfrm>
          <a:off x="6604000" y="1778000"/>
          <a:ext cx="5080000" cy="58420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(k₁, TID)</a:t>
                      </a:r>
                    </a:p>
                  </a:txBody>
                  <a:tcPr anchor="ctr">
                    <a:lnL w="12700">
                      <a:solidFill>
                        <a:srgbClr val="000533"/>
                      </a:solidFill>
                    </a:lnL>
                    <a:lnR w="12700">
                      <a:solidFill>
                        <a:srgbClr val="000533"/>
                      </a:solidFill>
                    </a:lnR>
                    <a:lnT w="12700">
                      <a:solidFill>
                        <a:srgbClr val="000533"/>
                      </a:solidFill>
                    </a:lnT>
                    <a:lnB w="12700">
                      <a:solidFill>
                        <a:srgbClr val="000533"/>
                      </a:solidFill>
                    </a:lnB>
                    <a:solidFill>
                      <a:srgbClr val="D2F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(k₂, TID)</a:t>
                      </a:r>
                    </a:p>
                  </a:txBody>
                  <a:tcPr anchor="ctr">
                    <a:lnL w="12700">
                      <a:solidFill>
                        <a:srgbClr val="000533"/>
                      </a:solidFill>
                    </a:lnL>
                    <a:lnR w="12700">
                      <a:solidFill>
                        <a:srgbClr val="000533"/>
                      </a:solidFill>
                    </a:lnR>
                    <a:lnT w="12700">
                      <a:solidFill>
                        <a:srgbClr val="000533"/>
                      </a:solidFill>
                    </a:lnT>
                    <a:lnB w="12700">
                      <a:solidFill>
                        <a:srgbClr val="000533"/>
                      </a:solidFill>
                    </a:lnB>
                    <a:solidFill>
                      <a:srgbClr val="D2F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(k₃, TID)</a:t>
                      </a:r>
                    </a:p>
                  </a:txBody>
                  <a:tcPr anchor="ctr">
                    <a:lnL w="12700">
                      <a:solidFill>
                        <a:srgbClr val="000533"/>
                      </a:solidFill>
                    </a:lnL>
                    <a:lnR w="12700">
                      <a:solidFill>
                        <a:srgbClr val="000533"/>
                      </a:solidFill>
                    </a:lnR>
                    <a:lnT w="12700">
                      <a:solidFill>
                        <a:srgbClr val="000533"/>
                      </a:solidFill>
                    </a:lnT>
                    <a:lnB w="12700">
                      <a:solidFill>
                        <a:srgbClr val="000533"/>
                      </a:solidFill>
                    </a:lnB>
                    <a:solidFill>
                      <a:srgbClr val="D2F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→ next</a:t>
                      </a:r>
                    </a:p>
                  </a:txBody>
                  <a:tcPr anchor="ctr">
                    <a:lnL w="12700">
                      <a:solidFill>
                        <a:srgbClr val="000533"/>
                      </a:solidFill>
                    </a:lnL>
                    <a:lnR w="12700">
                      <a:solidFill>
                        <a:srgbClr val="000533"/>
                      </a:solidFill>
                    </a:lnR>
                    <a:lnT w="12700">
                      <a:solidFill>
                        <a:srgbClr val="000533"/>
                      </a:solidFill>
                    </a:lnT>
                    <a:lnB w="12700">
                      <a:solidFill>
                        <a:srgbClr val="000533"/>
                      </a:solidFill>
                    </a:lnB>
                    <a:solidFill>
                      <a:srgbClr val="1EF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leaf-cap"/>
          <p:cNvSpPr txBox="1"/>
          <p:nvPr/>
        </p:nvSpPr>
        <p:spPr>
          <a:xfrm>
            <a:off x="6604000" y="24638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Value — либо физический идентификатор строки (</a:t>
            </a:r>
            <a:r>
              <a:rPr lang="en-US" sz="950" b="1" noProof="1">
                <a:solidFill>
                  <a:srgbClr val="5B5F7A"/>
                </a:solidFill>
                <a:latin typeface="MiSans"/>
                <a:ea typeface="MiSans"/>
              </a:rPr>
              <a:t>TID</a:t>
            </a: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), либо сама строка (кластеризованный индекс). Последний указатель — sibling pointer на следующий лист.</a:t>
            </a:r>
            <a:endParaRPr lang="en-US" sz="950" noProof="1"/>
          </a:p>
        </p:txBody>
      </p:sp>
      <p:graphicFrame>
        <p:nvGraphicFramePr>
          <p:cNvPr id="11" name="cmp-table"/>
          <p:cNvGraphicFramePr>
            <a:graphicFrameLocks noGrp="1"/>
          </p:cNvGraphicFramePr>
          <p:nvPr/>
        </p:nvGraphicFramePr>
        <p:xfrm>
          <a:off x="508000" y="3403600"/>
          <a:ext cx="11176000" cy="2540000"/>
        </p:xfrm>
        <a:graphic>
          <a:graphicData uri="http://schemas.openxmlformats.org/drawingml/2006/table">
            <a:tbl>
              <a:tblPr/>
              <a:tblGrid>
                <a:gridCol w="245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Аспект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Внутренний узел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Листовой узел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Содержимое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Направляющие ключи + указатели на дочерние страницы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Пары (ключ, TID) или сами строки таблицы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Роль ключей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Разделители диапазонов; могут отсутствовать в данных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Реальные ключи записей, отсортированы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Указатели ведут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На дочерние страницы индекса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На строки таблицы (TID) и на соседний лист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Задача при поиске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Выбрать ветвь обхода бинарным поиском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Найти точный ключ и вернуть TID / запись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concl-panel"/>
          <p:cNvSpPr/>
          <p:nvPr/>
        </p:nvSpPr>
        <p:spPr>
          <a:xfrm>
            <a:off x="508000" y="6070600"/>
            <a:ext cx="11176000" cy="381000"/>
          </a:xfrm>
          <a:prstGeom prst="roundRect">
            <a:avLst>
              <a:gd name="adj" fmla="val 14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13" name="concl-text"/>
          <p:cNvSpPr txBox="1"/>
          <p:nvPr/>
        </p:nvSpPr>
        <p:spPr>
          <a:xfrm>
            <a:off x="736600" y="6121400"/>
            <a:ext cx="10718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Указатели в листьях указывают на записи — кроме «указателя последовательности» (sibling pointer).</a:t>
            </a:r>
            <a:endParaRPr lang="en-US" sz="1050" noProof="1"/>
          </a:p>
        </p:txBody>
      </p:sp>
      <p:sp>
        <p:nvSpPr>
          <p:cNvPr id="14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5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05 / 22</a:t>
            </a:r>
            <a:endParaRPr lang="en-US" sz="8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02 · СОСТАВНЫЕ ИНДЕКСЫ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Составной индекс ищет по префиксу — порядок столбцов критичен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Ключ составного индекса — кортеж значений; сортировка лексикографическая, как слова в словаре</a:t>
            </a:r>
            <a:endParaRPr lang="en-US" sz="1100" noProof="1"/>
          </a:p>
        </p:txBody>
      </p:sp>
      <p:sp>
        <p:nvSpPr>
          <p:cNvPr id="5" name="h-key"/>
          <p:cNvSpPr txBox="1"/>
          <p:nvPr/>
        </p:nvSpPr>
        <p:spPr>
          <a:xfrm>
            <a:off x="508000" y="15494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Ключ = кортеж</a:t>
            </a:r>
            <a:endParaRPr lang="en-US" sz="1250" noProof="1"/>
          </a:p>
        </p:txBody>
      </p:sp>
      <p:sp>
        <p:nvSpPr>
          <p:cNvPr id="6" name="key-body"/>
          <p:cNvSpPr txBox="1"/>
          <p:nvPr/>
        </p:nvSpPr>
        <p:spPr>
          <a:xfrm>
            <a:off x="508000" y="1828800"/>
            <a:ext cx="4826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Индекс по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(a, b DESC, c NULLS FIRST)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: ключом становится кортеж значений трёх столбцов со своим порядком сортировки каждого.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B+-дерево позволяет искать по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префиксу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кортежа: сначала спуск по a, затем последовательное сканирование листьев по sibling pointers, пока выполняется условие на a.</a:t>
            </a:r>
            <a:endParaRPr lang="en-US" sz="1100" noProof="1"/>
          </a:p>
        </p:txBody>
      </p:sp>
      <p:sp>
        <p:nvSpPr>
          <p:cNvPr id="7" name="hash-panel"/>
          <p:cNvSpPr/>
          <p:nvPr/>
        </p:nvSpPr>
        <p:spPr>
          <a:xfrm>
            <a:off x="508000" y="3657600"/>
            <a:ext cx="4826000" cy="939800"/>
          </a:xfrm>
          <a:prstGeom prst="roundRect">
            <a:avLst>
              <a:gd name="adj" fmla="val 9000"/>
            </a:avLst>
          </a:prstGeom>
          <a:solidFill>
            <a:srgbClr val="DAD7FF"/>
          </a:solidFill>
          <a:ln>
            <a:noFill/>
          </a:ln>
        </p:spPr>
      </p:sp>
      <p:sp>
        <p:nvSpPr>
          <p:cNvPr id="8" name="hash-text"/>
          <p:cNvSpPr txBox="1"/>
          <p:nvPr/>
        </p:nvSpPr>
        <p:spPr>
          <a:xfrm>
            <a:off x="711200" y="3784600"/>
            <a:ext cx="4419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000533"/>
                </a:solidFill>
                <a:latin typeface="MiSans"/>
                <a:ea typeface="MiSans"/>
              </a:rPr>
              <a:t>Hash-индекс так не умеет:</a:t>
            </a: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 ему для вычисления хеша нужны все атрибуты ключа целиком — префиксный поиск невозможен.</a:t>
            </a:r>
            <a:endParaRPr lang="en-US" sz="1050" noProof="1"/>
          </a:p>
        </p:txBody>
      </p:sp>
      <p:sp>
        <p:nvSpPr>
          <p:cNvPr id="9" name="h-queries"/>
          <p:cNvSpPr txBox="1"/>
          <p:nvPr/>
        </p:nvSpPr>
        <p:spPr>
          <a:xfrm>
            <a:off x="5842000" y="15494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Как запросы используют индекс (a, b)</a:t>
            </a:r>
            <a:endParaRPr lang="en-US" sz="1250" noProof="1"/>
          </a:p>
        </p:txBody>
      </p:sp>
      <p:graphicFrame>
        <p:nvGraphicFramePr>
          <p:cNvPr id="10" name="q-table"/>
          <p:cNvGraphicFramePr>
            <a:graphicFrameLocks noGrp="1"/>
          </p:cNvGraphicFramePr>
          <p:nvPr/>
        </p:nvGraphicFramePr>
        <p:xfrm>
          <a:off x="5842000" y="1828800"/>
          <a:ext cx="5842000" cy="2768600"/>
        </p:xfrm>
        <a:graphic>
          <a:graphicData uri="http://schemas.openxmlformats.org/drawingml/2006/table">
            <a:tbl>
              <a:tblPr/>
              <a:tblGrid>
                <a:gridCol w="245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Запрос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Индекс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Как выполняется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52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WHERE a = x AND b =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0A8A4A"/>
                          </a:solidFill>
                          <a:latin typeface="Times New Roman"/>
                          <a:ea typeface="Times New Roman"/>
                        </a:rPr>
                        <a:t>✔ полный ключ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Точечный спуск по обоим атрибутам кортежа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52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WHERE a = 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0A8A4A"/>
                          </a:solidFill>
                          <a:latin typeface="Times New Roman"/>
                          <a:ea typeface="Times New Roman"/>
                        </a:rPr>
                        <a:t>✔ префикс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Поиск первого a = x, затем скан листьев, пока a = 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20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WHERE b =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</a:rPr>
                        <a:t>✘ неэффективен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b — не префикс кортежа; дерево по b не отсортировано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oncl-panel"/>
          <p:cNvSpPr/>
          <p:nvPr/>
        </p:nvSpPr>
        <p:spPr>
          <a:xfrm>
            <a:off x="5842000" y="3657600"/>
            <a:ext cx="5842000" cy="939800"/>
          </a:xfrm>
          <a:prstGeom prst="roundRect">
            <a:avLst>
              <a:gd name="adj" fmla="val 9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12" name="concl-text"/>
          <p:cNvSpPr txBox="1"/>
          <p:nvPr/>
        </p:nvSpPr>
        <p:spPr>
          <a:xfrm>
            <a:off x="6070600" y="3784600"/>
            <a:ext cx="5384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000533"/>
                </a:solidFill>
                <a:latin typeface="MiSans"/>
                <a:ea typeface="MiSans"/>
              </a:rPr>
              <a:t>Prefix search</a:t>
            </a: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 — главное преимущество B+-дерева над hash-индексом: один составной индекс обслуживает семейство запросов по префиксам ключа.</a:t>
            </a:r>
            <a:endParaRPr lang="en-US" sz="1050" noProof="1"/>
          </a:p>
        </p:txBody>
      </p:sp>
      <p:sp>
        <p:nvSpPr>
          <p:cNvPr id="13" name="bottom-note"/>
          <p:cNvSpPr txBox="1"/>
          <p:nvPr/>
        </p:nvSpPr>
        <p:spPr>
          <a:xfrm>
            <a:off x="508000" y="4927600"/>
            <a:ext cx="11176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Практический вывод: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при проектировании составного индекса столбцы, по которым чаще фильтруют равенством, ставят в начало ключа; порядок столбцов определяет, какие запросы вообще смогут использовать индекс.</a:t>
            </a:r>
            <a:endParaRPr lang="en-US" sz="1100" noProof="1"/>
          </a:p>
        </p:txBody>
      </p:sp>
      <p:sp>
        <p:nvSpPr>
          <p:cNvPr id="14" name="foot-line"/>
          <p:cNvSpPr/>
          <p:nvPr/>
        </p:nvSpPr>
        <p:spPr>
          <a:xfrm>
            <a:off x="508000" y="6527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15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06 / 22</a:t>
            </a:r>
            <a:endParaRPr lang="en-US" sz="8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02 · ДУБЛИКАТЫ И NULL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Дубликаты разрешаются через TID, NULL — через порядок сортировки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5B5F7A"/>
                </a:solidFill>
                <a:latin typeface="MiSans"/>
                <a:ea typeface="MiSans"/>
              </a:rPr>
              <a:t>Два краевых случая, которые индекс обязан обрабатывать корректно и эффективно</a:t>
            </a:r>
            <a:endParaRPr lang="en-US" sz="1100" noProof="1"/>
          </a:p>
        </p:txBody>
      </p:sp>
      <p:sp>
        <p:nvSpPr>
          <p:cNvPr id="5" name="h-dup"/>
          <p:cNvSpPr txBox="1"/>
          <p:nvPr/>
        </p:nvSpPr>
        <p:spPr>
          <a:xfrm>
            <a:off x="508000" y="15748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Дубликаты ключей: два классических подхода</a:t>
            </a:r>
            <a:endParaRPr lang="en-US" sz="1250" noProof="1"/>
          </a:p>
        </p:txBody>
      </p:sp>
      <p:graphicFrame>
        <p:nvGraphicFramePr>
          <p:cNvPr id="6" name="dup-table"/>
          <p:cNvGraphicFramePr>
            <a:graphicFrameLocks noGrp="1"/>
          </p:cNvGraphicFramePr>
          <p:nvPr/>
        </p:nvGraphicFramePr>
        <p:xfrm>
          <a:off x="508000" y="1854200"/>
          <a:ext cx="6858000" cy="21336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Подход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Идея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Применение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Append Record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К ключу добавляется уникальный TID — все ключи становятся уникальными, структура дерева не меняется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PostgreSQL: heap TID — неявный последний столбец nbtree-ключа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Overflow 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Лист содержит цепочку страниц переполнения для повторяющихся ключей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Сложно в обслуживании, почти не применяется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h-null"/>
          <p:cNvSpPr txBox="1"/>
          <p:nvPr/>
        </p:nvSpPr>
        <p:spPr>
          <a:xfrm>
            <a:off x="7874000" y="1574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NULL-значения</a:t>
            </a:r>
            <a:endParaRPr lang="en-US" sz="1250" noProof="1"/>
          </a:p>
        </p:txBody>
      </p:sp>
      <p:sp>
        <p:nvSpPr>
          <p:cNvPr id="8" name="null-body"/>
          <p:cNvSpPr txBox="1"/>
          <p:nvPr/>
        </p:nvSpPr>
        <p:spPr>
          <a:xfrm>
            <a:off x="7874000" y="1854200"/>
            <a:ext cx="3810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При создании индекса задаётся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NULLS FIRST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или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NULLS LAST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. По умолчанию в PostgreSQL —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NULLS LAST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при ASC; при DESC — наоборот. NULL-ключи размещаются в начале или конце листового списка.</a:t>
            </a:r>
            <a:endParaRPr lang="en-US" sz="1100" noProof="1"/>
          </a:p>
        </p:txBody>
      </p:sp>
      <p:sp>
        <p:nvSpPr>
          <p:cNvPr id="9" name="h-why"/>
          <p:cNvSpPr txBox="1"/>
          <p:nvPr/>
        </p:nvSpPr>
        <p:spPr>
          <a:xfrm>
            <a:off x="508000" y="43180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Почему это важно</a:t>
            </a:r>
            <a:endParaRPr lang="en-US" sz="1250" noProof="1"/>
          </a:p>
        </p:txBody>
      </p:sp>
      <p:sp>
        <p:nvSpPr>
          <p:cNvPr id="10" name="why-body"/>
          <p:cNvSpPr txBox="1"/>
          <p:nvPr/>
        </p:nvSpPr>
        <p:spPr>
          <a:xfrm>
            <a:off x="508000" y="4597400"/>
            <a:ext cx="685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Реальные данные почти всегда содержат повторы: индекс по городу, статусу или дате неуникален по определению.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Подход с TID сохраняет единый алгоритм поиска и балансировки: дерево «не знает», что ключи повторяются.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Порядок NULL влияет на планы запросов с ORDER BY и на эффективность IS NULL / IS NOT NULL.</a:t>
            </a:r>
            <a:endParaRPr lang="en-US" sz="1100" noProof="1"/>
          </a:p>
        </p:txBody>
      </p:sp>
      <p:sp>
        <p:nvSpPr>
          <p:cNvPr id="11" name="concl-panel"/>
          <p:cNvSpPr/>
          <p:nvPr/>
        </p:nvSpPr>
        <p:spPr>
          <a:xfrm>
            <a:off x="7874000" y="4318000"/>
            <a:ext cx="3810000" cy="1549400"/>
          </a:xfrm>
          <a:prstGeom prst="roundRect">
            <a:avLst>
              <a:gd name="adj" fmla="val 8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12" name="concl-text"/>
          <p:cNvSpPr txBox="1"/>
          <p:nvPr/>
        </p:nvSpPr>
        <p:spPr>
          <a:xfrm>
            <a:off x="8077200" y="4445000"/>
            <a:ext cx="34036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b="1" noProof="1">
                <a:solidFill>
                  <a:srgbClr val="000533"/>
                </a:solidFill>
                <a:latin typeface="MiSans"/>
                <a:ea typeface="MiSans"/>
              </a:rPr>
              <a:t>Инженерный принцип:</a:t>
            </a: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 краевые случаи решаются не усложнением структуры, а включением различителя (TID) или явным правилом порядка (NULLS FIRST/LAST).</a:t>
            </a:r>
            <a:endParaRPr lang="en-US" sz="1050" noProof="1"/>
          </a:p>
        </p:txBody>
      </p:sp>
      <p:sp>
        <p:nvSpPr>
          <p:cNvPr id="13" name="foot-line"/>
          <p:cNvSpPr/>
          <p:nvPr/>
        </p:nvSpPr>
        <p:spPr>
          <a:xfrm>
            <a:off x="508000" y="6527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14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5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07 / 22</a:t>
            </a:r>
            <a:endParaRPr lang="en-US" sz="8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03 · ОПЕРАЦИИ: ПОИСК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Поиск — это O(log_m N) чтений страниц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На каждом уровне — одна страница и бинарный поиск внутри неё; глубина дерева определяет стоимость</a:t>
            </a:r>
            <a:endParaRPr lang="en-US" sz="1100" noProof="1"/>
          </a:p>
        </p:txBody>
      </p:sp>
      <p:sp>
        <p:nvSpPr>
          <p:cNvPr id="5" name="h-steps"/>
          <p:cNvSpPr txBox="1"/>
          <p:nvPr/>
        </p:nvSpPr>
        <p:spPr>
          <a:xfrm>
            <a:off x="508000" y="15748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Алгоритм:</a:t>
            </a:r>
            <a:endParaRPr lang="en-US" sz="1250" noProof="1"/>
          </a:p>
        </p:txBody>
      </p:sp>
      <p:sp>
        <p:nvSpPr>
          <p:cNvPr id="6" name="steps"/>
          <p:cNvSpPr txBox="1"/>
          <p:nvPr/>
        </p:nvSpPr>
        <p:spPr>
          <a:xfrm>
            <a:off x="508000" y="1879600"/>
            <a:ext cx="4064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1.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Начать с корня.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2.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На внутреннем узле бинарным поиском найти интервал, содержащий искомый ключ K, и перейти по соответствующему указателю.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3.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В листе — бинарный поиск точного ключа; если запись найдена, вернуть её TID (RID).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Сложность: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O(log_m N) чтений страниц.</a:t>
            </a:r>
            <a:endParaRPr lang="en-US" sz="1100" noProof="1"/>
          </a:p>
        </p:txBody>
      </p:sp>
      <p:sp>
        <p:nvSpPr>
          <p:cNvPr id="7" name="fan-panel"/>
          <p:cNvSpPr/>
          <p:nvPr/>
        </p:nvSpPr>
        <p:spPr>
          <a:xfrm>
            <a:off x="508000" y="4775200"/>
            <a:ext cx="4064000" cy="1219200"/>
          </a:xfrm>
          <a:prstGeom prst="roundRect">
            <a:avLst>
              <a:gd name="adj" fmla="val 9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8" name="fan-text"/>
          <p:cNvSpPr txBox="1"/>
          <p:nvPr/>
        </p:nvSpPr>
        <p:spPr>
          <a:xfrm>
            <a:off x="711200" y="4902200"/>
            <a:ext cx="3657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b="1" noProof="1">
                <a:solidFill>
                  <a:srgbClr val="000533"/>
                </a:solidFill>
                <a:latin typeface="MiSans"/>
                <a:ea typeface="MiSans"/>
              </a:rPr>
              <a:t>Почему так быстро:</a:t>
            </a: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 на странице 8 КБ помещаются сотни ключей (высокий fanout) — даже миллиарды записей укладываются в 3–4 уровня дерева.</a:t>
            </a:r>
            <a:endParaRPr lang="en-US" sz="1050" noProof="1"/>
          </a:p>
        </p:txBody>
      </p:sp>
      <p:sp>
        <p:nvSpPr>
          <p:cNvPr id="9" name="h-ex"/>
          <p:cNvSpPr txBox="1"/>
          <p:nvPr/>
        </p:nvSpPr>
        <p:spPr>
          <a:xfrm>
            <a:off x="5080000" y="157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Пример (m = 3): найти ключ 7</a:t>
            </a:r>
            <a:endParaRPr lang="en-US" sz="1250" noProof="1"/>
          </a:p>
        </p:txBody>
      </p:sp>
      <p:sp>
        <p:nvSpPr>
          <p:cNvPr id="10" name="n-root"/>
          <p:cNvSpPr/>
          <p:nvPr/>
        </p:nvSpPr>
        <p:spPr>
          <a:xfrm>
            <a:off x="8191500" y="1905000"/>
            <a:ext cx="711200" cy="406400"/>
          </a:xfrm>
          <a:prstGeom prst="rect">
            <a:avLst/>
          </a:prstGeom>
          <a:solidFill>
            <a:srgbClr val="DAD7FF"/>
          </a:solidFill>
          <a:ln w="15875">
            <a:solidFill>
              <a:srgbClr val="000533"/>
            </a:solidFill>
          </a:ln>
        </p:spPr>
      </p:sp>
      <p:sp>
        <p:nvSpPr>
          <p:cNvPr id="11" name="t-root"/>
          <p:cNvSpPr txBox="1"/>
          <p:nvPr/>
        </p:nvSpPr>
        <p:spPr>
          <a:xfrm>
            <a:off x="8191500" y="1905000"/>
            <a:ext cx="7112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0533"/>
                </a:solidFill>
                <a:latin typeface="MiSans"/>
                <a:ea typeface="MiSans"/>
              </a:rPr>
              <a:t>5</a:t>
            </a:r>
            <a:endParaRPr lang="en-US" sz="1300" noProof="1"/>
          </a:p>
        </p:txBody>
      </p:sp>
      <p:sp>
        <p:nvSpPr>
          <p:cNvPr id="12" name="e-r-left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eyJ2aWV3Qm94IjpbMTI1LDYwXSwicG9pbnRzIjoiMTI1LDAgMCw2MCIsImN1cnZlIjoic2hhcnAifQ</pptd:line>
              </p:ext>
            </p:extLst>
          </p:nvPr>
        </p:nvSpPr>
        <p:spPr>
          <a:xfrm>
            <a:off x="6604000" y="2311400"/>
            <a:ext cx="1587500" cy="762000"/>
          </a:xfrm>
          <a:custGeom>
            <a:avLst/>
            <a:gdLst/>
            <a:ahLst/>
            <a:cxnLst/>
            <a:rect l="l" t="t" r="r" b="b"/>
            <a:pathLst>
              <a:path w="125" h="60">
                <a:moveTo>
                  <a:pt x="125" y="0"/>
                </a:moveTo>
                <a:lnTo>
                  <a:pt x="0" y="60"/>
                </a:lnTo>
              </a:path>
            </a:pathLst>
          </a:custGeom>
          <a:noFill/>
          <a:ln w="15875">
            <a:solidFill>
              <a:srgbClr val="5B5F7A"/>
            </a:solidFill>
            <a:tailEnd type="arrow"/>
          </a:ln>
        </p:spPr>
      </p:sp>
      <p:sp>
        <p:nvSpPr>
          <p:cNvPr id="13" name="e-r-right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eyJ2aWV3Qm94IjpbODksNTJdLCJwb2ludHMiOiIwLDAgODksNTIiLCJjdXJ2ZSI6InNoYXJwIn0</pptd:line>
              </p:ext>
            </p:extLst>
          </p:nvPr>
        </p:nvSpPr>
        <p:spPr>
          <a:xfrm>
            <a:off x="8902700" y="2311400"/>
            <a:ext cx="1130300" cy="660400"/>
          </a:xfrm>
          <a:custGeom>
            <a:avLst/>
            <a:gdLst/>
            <a:ahLst/>
            <a:cxnLst/>
            <a:rect l="l" t="t" r="r" b="b"/>
            <a:pathLst>
              <a:path w="89" h="52">
                <a:moveTo>
                  <a:pt x="0" y="0"/>
                </a:moveTo>
                <a:lnTo>
                  <a:pt x="89" y="52"/>
                </a:lnTo>
              </a:path>
            </a:pathLst>
          </a:custGeom>
          <a:noFill/>
          <a:ln w="22225">
            <a:solidFill>
              <a:srgbClr val="001AFF"/>
            </a:solidFill>
            <a:tailEnd type="arrow"/>
          </a:ln>
        </p:spPr>
      </p:sp>
      <p:sp>
        <p:nvSpPr>
          <p:cNvPr id="14" name="l-ge5"/>
          <p:cNvSpPr txBox="1"/>
          <p:nvPr/>
        </p:nvSpPr>
        <p:spPr>
          <a:xfrm>
            <a:off x="9042400" y="23876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b="1" noProof="1">
                <a:solidFill>
                  <a:srgbClr val="001AFF"/>
                </a:solidFill>
                <a:latin typeface="MiSans"/>
                <a:ea typeface="MiSans"/>
              </a:rPr>
              <a:t>7 ≥ 5 →</a:t>
            </a:r>
            <a:endParaRPr lang="en-US" sz="950" noProof="1"/>
          </a:p>
        </p:txBody>
      </p:sp>
      <p:sp>
        <p:nvSpPr>
          <p:cNvPr id="15" name="l-lt5"/>
          <p:cNvSpPr txBox="1"/>
          <p:nvPr/>
        </p:nvSpPr>
        <p:spPr>
          <a:xfrm>
            <a:off x="6350000" y="2489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← </a:t>
            </a:r>
            <a:endParaRPr lang="en-US" sz="950" noProof="1"/>
          </a:p>
        </p:txBody>
      </p:sp>
      <p:sp>
        <p:nvSpPr>
          <p:cNvPr id="16" name="n-leaf1"/>
          <p:cNvSpPr/>
          <p:nvPr/>
        </p:nvSpPr>
        <p:spPr>
          <a:xfrm>
            <a:off x="5588000" y="3098800"/>
            <a:ext cx="1270000" cy="406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533"/>
            </a:solidFill>
          </a:ln>
        </p:spPr>
      </p:sp>
      <p:sp>
        <p:nvSpPr>
          <p:cNvPr id="17" name="t-leaf1"/>
          <p:cNvSpPr txBox="1"/>
          <p:nvPr/>
        </p:nvSpPr>
        <p:spPr>
          <a:xfrm>
            <a:off x="5588000" y="30988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000533"/>
                </a:solidFill>
                <a:latin typeface="MiSans"/>
                <a:ea typeface="MiSans"/>
              </a:rPr>
              <a:t>[1, 3]</a:t>
            </a:r>
            <a:endParaRPr lang="en-US" sz="1200" noProof="1"/>
          </a:p>
        </p:txBody>
      </p:sp>
      <p:sp>
        <p:nvSpPr>
          <p:cNvPr id="18" name="n-int9"/>
          <p:cNvSpPr/>
          <p:nvPr/>
        </p:nvSpPr>
        <p:spPr>
          <a:xfrm>
            <a:off x="10033000" y="2997200"/>
            <a:ext cx="711200" cy="406400"/>
          </a:xfrm>
          <a:prstGeom prst="rect">
            <a:avLst/>
          </a:prstGeom>
          <a:solidFill>
            <a:srgbClr val="DAD7FF"/>
          </a:solidFill>
          <a:ln w="15875">
            <a:solidFill>
              <a:srgbClr val="000533"/>
            </a:solidFill>
          </a:ln>
        </p:spPr>
      </p:sp>
      <p:sp>
        <p:nvSpPr>
          <p:cNvPr id="19" name="t-int9"/>
          <p:cNvSpPr txBox="1"/>
          <p:nvPr/>
        </p:nvSpPr>
        <p:spPr>
          <a:xfrm>
            <a:off x="10033000" y="2997200"/>
            <a:ext cx="7112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0533"/>
                </a:solidFill>
                <a:latin typeface="MiSans"/>
                <a:ea typeface="MiSans"/>
              </a:rPr>
              <a:t>9</a:t>
            </a:r>
            <a:endParaRPr lang="en-US" sz="1300" noProof="1"/>
          </a:p>
        </p:txBody>
      </p:sp>
      <p:sp>
        <p:nvSpPr>
          <p:cNvPr id="20" name="e-9-left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eyJ2aWV3Qm94IjpbOTAsNTJdLCJwb2ludHMiOiI5MCwwIDAsNTIiLCJjdXJ2ZSI6InNoYXJwIn0</pptd:line>
              </p:ext>
            </p:extLst>
          </p:nvPr>
        </p:nvSpPr>
        <p:spPr>
          <a:xfrm>
            <a:off x="8890000" y="3403600"/>
            <a:ext cx="1143000" cy="660400"/>
          </a:xfrm>
          <a:custGeom>
            <a:avLst/>
            <a:gdLst/>
            <a:ahLst/>
            <a:cxnLst/>
            <a:rect l="l" t="t" r="r" b="b"/>
            <a:pathLst>
              <a:path w="90" h="52">
                <a:moveTo>
                  <a:pt x="90" y="0"/>
                </a:moveTo>
                <a:lnTo>
                  <a:pt x="0" y="52"/>
                </a:lnTo>
              </a:path>
            </a:pathLst>
          </a:custGeom>
          <a:noFill/>
          <a:ln w="22225">
            <a:solidFill>
              <a:srgbClr val="001AFF"/>
            </a:solidFill>
            <a:tailEnd type="arrow"/>
          </a:ln>
        </p:spPr>
      </p:sp>
      <p:sp>
        <p:nvSpPr>
          <p:cNvPr id="21" name="e-9-right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eyJ2aWV3Qm94IjpbNDAsNTJdLCJwb2ludHMiOiIwLDAgNDAsNTIiLCJjdXJ2ZSI6InNoYXJwIn0</pptd:line>
              </p:ext>
            </p:extLst>
          </p:nvPr>
        </p:nvSpPr>
        <p:spPr>
          <a:xfrm>
            <a:off x="10744200" y="3403600"/>
            <a:ext cx="508000" cy="660400"/>
          </a:xfrm>
          <a:custGeom>
            <a:avLst/>
            <a:gdLst/>
            <a:ahLst/>
            <a:cxnLst/>
            <a:rect l="l" t="t" r="r" b="b"/>
            <a:pathLst>
              <a:path w="40" h="52">
                <a:moveTo>
                  <a:pt x="0" y="0"/>
                </a:moveTo>
                <a:lnTo>
                  <a:pt x="40" y="52"/>
                </a:lnTo>
              </a:path>
            </a:pathLst>
          </a:custGeom>
          <a:noFill/>
          <a:ln w="15875">
            <a:solidFill>
              <a:srgbClr val="5B5F7A"/>
            </a:solidFill>
            <a:tailEnd type="arrow"/>
          </a:ln>
        </p:spPr>
      </p:sp>
      <p:sp>
        <p:nvSpPr>
          <p:cNvPr id="22" name="l-lt9"/>
          <p:cNvSpPr txBox="1"/>
          <p:nvPr/>
        </p:nvSpPr>
        <p:spPr>
          <a:xfrm>
            <a:off x="8890000" y="35052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b="1" noProof="1">
                <a:solidFill>
                  <a:srgbClr val="001AFF"/>
                </a:solidFill>
                <a:latin typeface="MiSans"/>
                <a:ea typeface="MiSans"/>
              </a:rPr>
              <a:t>← 7 &lt; 9</a:t>
            </a:r>
            <a:endParaRPr lang="en-US" sz="950" noProof="1"/>
          </a:p>
        </p:txBody>
      </p:sp>
      <p:sp>
        <p:nvSpPr>
          <p:cNvPr id="23" name="l-ge9"/>
          <p:cNvSpPr txBox="1"/>
          <p:nvPr/>
        </p:nvSpPr>
        <p:spPr>
          <a:xfrm>
            <a:off x="10820400" y="3556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≥ 9 →</a:t>
            </a:r>
            <a:endParaRPr lang="en-US" sz="950" noProof="1"/>
          </a:p>
        </p:txBody>
      </p:sp>
      <p:sp>
        <p:nvSpPr>
          <p:cNvPr id="24" name="n-leaf2"/>
          <p:cNvSpPr/>
          <p:nvPr/>
        </p:nvSpPr>
        <p:spPr>
          <a:xfrm>
            <a:off x="7747000" y="4089400"/>
            <a:ext cx="1270000" cy="406400"/>
          </a:xfrm>
          <a:prstGeom prst="rect">
            <a:avLst/>
          </a:prstGeom>
          <a:solidFill>
            <a:srgbClr val="1EFF8F"/>
          </a:solidFill>
          <a:ln w="19050">
            <a:solidFill>
              <a:srgbClr val="000533"/>
            </a:solidFill>
          </a:ln>
        </p:spPr>
      </p:sp>
      <p:sp>
        <p:nvSpPr>
          <p:cNvPr id="25" name="t-leaf2"/>
          <p:cNvSpPr txBox="1"/>
          <p:nvPr/>
        </p:nvSpPr>
        <p:spPr>
          <a:xfrm>
            <a:off x="7747000" y="40894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00533"/>
                </a:solidFill>
                <a:latin typeface="MiSans"/>
                <a:ea typeface="MiSans"/>
              </a:rPr>
              <a:t>[6, 7] ✓</a:t>
            </a:r>
            <a:endParaRPr lang="en-US" sz="1200" noProof="1"/>
          </a:p>
        </p:txBody>
      </p:sp>
      <p:sp>
        <p:nvSpPr>
          <p:cNvPr id="26" name="n-leaf3"/>
          <p:cNvSpPr/>
          <p:nvPr/>
        </p:nvSpPr>
        <p:spPr>
          <a:xfrm>
            <a:off x="10414000" y="4089400"/>
            <a:ext cx="1270000" cy="406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533"/>
            </a:solidFill>
          </a:ln>
        </p:spPr>
      </p:sp>
      <p:sp>
        <p:nvSpPr>
          <p:cNvPr id="27" name="t-leaf3"/>
          <p:cNvSpPr txBox="1"/>
          <p:nvPr/>
        </p:nvSpPr>
        <p:spPr>
          <a:xfrm>
            <a:off x="10414000" y="40894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000533"/>
                </a:solidFill>
                <a:latin typeface="MiSans"/>
                <a:ea typeface="MiSans"/>
              </a:rPr>
              <a:t>[9, 13]</a:t>
            </a:r>
            <a:endParaRPr lang="en-US" sz="1200" noProof="1"/>
          </a:p>
        </p:txBody>
      </p:sp>
      <p:sp>
        <p:nvSpPr>
          <p:cNvPr id="28" name="ex-cap"/>
          <p:cNvSpPr txBox="1"/>
          <p:nvPr/>
        </p:nvSpPr>
        <p:spPr>
          <a:xfrm>
            <a:off x="5080000" y="48260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Путь: корень [5] — 7 ≥ 5, вправо → узел [9] — 7 &lt; 9, влево → лист [6, 7]: ключ найден.</a:t>
            </a:r>
            <a:endParaRPr lang="en-US" sz="950" noProof="1"/>
          </a:p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Прочитано 3 страницы — по одной на уровень дерева.</a:t>
            </a:r>
            <a:endParaRPr lang="en-US" sz="950" noProof="1"/>
          </a:p>
        </p:txBody>
      </p:sp>
      <p:sp>
        <p:nvSpPr>
          <p:cNvPr id="29" name="foot-line"/>
          <p:cNvSpPr/>
          <p:nvPr/>
        </p:nvSpPr>
        <p:spPr>
          <a:xfrm>
            <a:off x="508000" y="6527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30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31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08 / 22</a:t>
            </a:r>
            <a:endParaRPr lang="en-US" sz="8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03 · ОПЕРАЦИИ: ВСТАВКА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Вставка: расщепление идёт снизу вверх — дерево растёт в высоту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Пример: m = 3 (максимум 2 ключа на узел); сначала вставляем 8, затем 17 — второй сплит доходит до корня</a:t>
            </a:r>
            <a:endParaRPr lang="en-US" sz="1100" noProof="1"/>
          </a:p>
        </p:txBody>
      </p:sp>
      <p:sp>
        <p:nvSpPr>
          <p:cNvPr id="5" name="h-steps"/>
          <p:cNvSpPr txBox="1"/>
          <p:nvPr/>
        </p:nvSpPr>
        <p:spPr>
          <a:xfrm>
            <a:off x="508000" y="1574800"/>
            <a:ext cx="419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Алгоритм вставки</a:t>
            </a:r>
            <a:endParaRPr lang="en-US" sz="1250" noProof="1"/>
          </a:p>
        </p:txBody>
      </p:sp>
      <p:sp>
        <p:nvSpPr>
          <p:cNvPr id="6" name="steps"/>
          <p:cNvSpPr txBox="1"/>
          <p:nvPr/>
        </p:nvSpPr>
        <p:spPr>
          <a:xfrm>
            <a:off x="508000" y="1879600"/>
            <a:ext cx="41910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1.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Найти лист L для нового ключа.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2.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Вставить запись, сохраняя сортировку.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3.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L переполнен (&gt; m−1 ключей): создать лист L2, равномерно распределить записи,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скопировать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разделяющий ключ в родителя.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4.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Родитель переполнен — расщепить и его, но средний ключ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поднять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наверх (push up), удалив из узла.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5.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Расщепление корня → новый корень: высота дерева увеличивается на 1.</a:t>
            </a:r>
            <a:endParaRPr lang="en-US" sz="1100" noProof="1"/>
          </a:p>
        </p:txBody>
      </p:sp>
      <p:sp>
        <p:nvSpPr>
          <p:cNvPr id="7" name="h-before"/>
          <p:cNvSpPr txBox="1"/>
          <p:nvPr/>
        </p:nvSpPr>
        <p:spPr>
          <a:xfrm>
            <a:off x="5080000" y="15748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До вставки</a:t>
            </a:r>
            <a:endParaRPr lang="en-US" sz="1250" noProof="1"/>
          </a:p>
        </p:txBody>
      </p:sp>
      <p:sp>
        <p:nvSpPr>
          <p:cNvPr id="8" name="b-root"/>
          <p:cNvSpPr/>
          <p:nvPr/>
        </p:nvSpPr>
        <p:spPr>
          <a:xfrm>
            <a:off x="6223000" y="1879600"/>
            <a:ext cx="609600" cy="355600"/>
          </a:xfrm>
          <a:prstGeom prst="rect">
            <a:avLst/>
          </a:prstGeom>
          <a:solidFill>
            <a:srgbClr val="DAD7FF"/>
          </a:solidFill>
          <a:ln w="15875">
            <a:solidFill>
              <a:srgbClr val="000533"/>
            </a:solidFill>
          </a:ln>
        </p:spPr>
      </p:sp>
      <p:sp>
        <p:nvSpPr>
          <p:cNvPr id="9" name="b-root-t"/>
          <p:cNvSpPr txBox="1"/>
          <p:nvPr/>
        </p:nvSpPr>
        <p:spPr>
          <a:xfrm>
            <a:off x="6223000" y="1879600"/>
            <a:ext cx="609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00533"/>
                </a:solidFill>
                <a:latin typeface="MiSans"/>
                <a:ea typeface="MiSans"/>
              </a:rPr>
              <a:t>10</a:t>
            </a:r>
            <a:endParaRPr lang="en-US" sz="1200" noProof="1"/>
          </a:p>
        </p:txBody>
      </p:sp>
      <p:sp>
        <p:nvSpPr>
          <p:cNvPr id="10" name="b-e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eyJ2aWV3Qm94IjpbNTAsNDBdLCJwb2ludHMiOiI1MCwwIDAsNDAiLCJjdXJ2ZSI6InNoYXJwIn0</pptd:line>
              </p:ext>
            </p:extLst>
          </p:nvPr>
        </p:nvSpPr>
        <p:spPr>
          <a:xfrm>
            <a:off x="5588000" y="22352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50" h="40">
                <a:moveTo>
                  <a:pt x="50" y="0"/>
                </a:moveTo>
                <a:lnTo>
                  <a:pt x="0" y="40"/>
                </a:lnTo>
              </a:path>
            </a:pathLst>
          </a:custGeom>
          <a:noFill/>
          <a:ln w="12700">
            <a:solidFill>
              <a:srgbClr val="5B5F7A"/>
            </a:solidFill>
            <a:tailEnd type="arrow"/>
          </a:ln>
        </p:spPr>
      </p:sp>
      <p:sp>
        <p:nvSpPr>
          <p:cNvPr id="11" name="b-e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eyJ2aWV3Qm94IjpbNTAsNDBdLCJwb2ludHMiOiIwLDAgNTAsNDAiLCJjdXJ2ZSI6InNoYXJwIn0</pptd:line>
              </p:ext>
            </p:extLst>
          </p:nvPr>
        </p:nvSpPr>
        <p:spPr>
          <a:xfrm>
            <a:off x="6832600" y="22352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50" h="40">
                <a:moveTo>
                  <a:pt x="0" y="0"/>
                </a:moveTo>
                <a:lnTo>
                  <a:pt x="50" y="40"/>
                </a:lnTo>
              </a:path>
            </a:pathLst>
          </a:custGeom>
          <a:noFill/>
          <a:ln w="12700">
            <a:solidFill>
              <a:srgbClr val="5B5F7A"/>
            </a:solidFill>
            <a:tailEnd type="arrow"/>
          </a:ln>
        </p:spPr>
      </p:sp>
      <p:sp>
        <p:nvSpPr>
          <p:cNvPr id="12" name="b-l1"/>
          <p:cNvSpPr/>
          <p:nvPr/>
        </p:nvSpPr>
        <p:spPr>
          <a:xfrm>
            <a:off x="5080000" y="2768600"/>
            <a:ext cx="762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533"/>
            </a:solidFill>
          </a:ln>
        </p:spPr>
      </p:sp>
      <p:sp>
        <p:nvSpPr>
          <p:cNvPr id="13" name="b-l1-t"/>
          <p:cNvSpPr txBox="1"/>
          <p:nvPr/>
        </p:nvSpPr>
        <p:spPr>
          <a:xfrm>
            <a:off x="5080000" y="27686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000533"/>
                </a:solidFill>
                <a:latin typeface="MiSans"/>
                <a:ea typeface="MiSans"/>
              </a:rPr>
              <a:t>[5, 7]</a:t>
            </a:r>
            <a:endParaRPr lang="en-US" sz="1200" noProof="1"/>
          </a:p>
        </p:txBody>
      </p:sp>
      <p:sp>
        <p:nvSpPr>
          <p:cNvPr id="14" name="b-l2"/>
          <p:cNvSpPr/>
          <p:nvPr/>
        </p:nvSpPr>
        <p:spPr>
          <a:xfrm>
            <a:off x="7112000" y="2768600"/>
            <a:ext cx="889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533"/>
            </a:solidFill>
          </a:ln>
        </p:spPr>
      </p:sp>
      <p:sp>
        <p:nvSpPr>
          <p:cNvPr id="15" name="b-l2-t"/>
          <p:cNvSpPr txBox="1"/>
          <p:nvPr/>
        </p:nvSpPr>
        <p:spPr>
          <a:xfrm>
            <a:off x="7112000" y="2768600"/>
            <a:ext cx="889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000533"/>
                </a:solidFill>
                <a:latin typeface="MiSans"/>
                <a:ea typeface="MiSans"/>
              </a:rPr>
              <a:t>[12, 15]</a:t>
            </a:r>
            <a:endParaRPr lang="en-US" sz="1200" noProof="1"/>
          </a:p>
        </p:txBody>
      </p:sp>
      <p:sp>
        <p:nvSpPr>
          <p:cNvPr id="16" name="b-cap"/>
          <p:cNvSpPr txBox="1"/>
          <p:nvPr/>
        </p:nvSpPr>
        <p:spPr>
          <a:xfrm>
            <a:off x="5363952" y="32258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8 → лист [5, 7] переполняется: [5, 7, 8]. Делим на [5] и [7, 8]; разделитель 7 копируется в родителя → [7, 10], переполнения нет.</a:t>
            </a:r>
            <a:endParaRPr lang="en-US" sz="950" noProof="1"/>
          </a:p>
        </p:txBody>
      </p:sp>
      <p:sp>
        <p:nvSpPr>
          <p:cNvPr id="17" name="mid-arrow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eyJ2aWV3Qm94IjpbNTYsMjRdLCJwb2ludHMiOiIwLDEyIDU2LDEyIiwiY3VydmUiOiJzaGFycCJ9</pptd:line>
              </p:ext>
            </p:extLst>
          </p:nvPr>
        </p:nvSpPr>
        <p:spPr>
          <a:xfrm>
            <a:off x="8026400" y="2235200"/>
            <a:ext cx="711200" cy="304800"/>
          </a:xfrm>
          <a:custGeom>
            <a:avLst/>
            <a:gdLst/>
            <a:ahLst/>
            <a:cxnLst/>
            <a:rect l="l" t="t" r="r" b="b"/>
            <a:pathLst>
              <a:path w="56" h="24">
                <a:moveTo>
                  <a:pt x="0" y="12"/>
                </a:moveTo>
                <a:lnTo>
                  <a:pt x="56" y="12"/>
                </a:lnTo>
              </a:path>
            </a:pathLst>
          </a:custGeom>
          <a:noFill/>
          <a:ln w="25400">
            <a:solidFill>
              <a:srgbClr val="001AFF"/>
            </a:solidFill>
            <a:tailEnd type="arrow"/>
          </a:ln>
        </p:spPr>
      </p:sp>
      <p:sp>
        <p:nvSpPr>
          <p:cNvPr id="18" name="h-after"/>
          <p:cNvSpPr txBox="1"/>
          <p:nvPr/>
        </p:nvSpPr>
        <p:spPr>
          <a:xfrm>
            <a:off x="8890000" y="15748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После вставок 8 и 17</a:t>
            </a:r>
            <a:endParaRPr lang="en-US" sz="1250" noProof="1"/>
          </a:p>
        </p:txBody>
      </p:sp>
      <p:sp>
        <p:nvSpPr>
          <p:cNvPr id="19" name="a-root"/>
          <p:cNvSpPr/>
          <p:nvPr/>
        </p:nvSpPr>
        <p:spPr>
          <a:xfrm>
            <a:off x="9982200" y="1879600"/>
            <a:ext cx="609600" cy="355600"/>
          </a:xfrm>
          <a:prstGeom prst="rect">
            <a:avLst/>
          </a:prstGeom>
          <a:solidFill>
            <a:srgbClr val="1EFF8F"/>
          </a:solidFill>
          <a:ln w="19050">
            <a:solidFill>
              <a:srgbClr val="000533"/>
            </a:solidFill>
          </a:ln>
        </p:spPr>
      </p:sp>
      <p:sp>
        <p:nvSpPr>
          <p:cNvPr id="20" name="a-root-t"/>
          <p:cNvSpPr txBox="1"/>
          <p:nvPr/>
        </p:nvSpPr>
        <p:spPr>
          <a:xfrm>
            <a:off x="9982200" y="1879600"/>
            <a:ext cx="609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00533"/>
                </a:solidFill>
                <a:latin typeface="MiSans"/>
                <a:ea typeface="MiSans"/>
              </a:rPr>
              <a:t>10</a:t>
            </a:r>
            <a:endParaRPr lang="en-US" sz="1200" noProof="1"/>
          </a:p>
        </p:txBody>
      </p:sp>
      <p:sp>
        <p:nvSpPr>
          <p:cNvPr id="21" name="a-e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eyJ2aWV3Qm94IjpbNjIsMzZdLCJwb2ludHMiOiI2MiwwIDAsMzYiLCJjdXJ2ZSI6InNoYXJwIn0</pptd:line>
              </p:ext>
            </p:extLst>
          </p:nvPr>
        </p:nvSpPr>
        <p:spPr>
          <a:xfrm>
            <a:off x="9194800" y="2235200"/>
            <a:ext cx="787400" cy="457200"/>
          </a:xfrm>
          <a:custGeom>
            <a:avLst/>
            <a:gdLst/>
            <a:ahLst/>
            <a:cxnLst/>
            <a:rect l="l" t="t" r="r" b="b"/>
            <a:pathLst>
              <a:path w="62" h="36">
                <a:moveTo>
                  <a:pt x="62" y="0"/>
                </a:moveTo>
                <a:lnTo>
                  <a:pt x="0" y="36"/>
                </a:lnTo>
              </a:path>
            </a:pathLst>
          </a:custGeom>
          <a:noFill/>
          <a:ln w="12700">
            <a:solidFill>
              <a:srgbClr val="5B5F7A"/>
            </a:solidFill>
            <a:tailEnd type="arrow"/>
          </a:ln>
        </p:spPr>
      </p:sp>
      <p:sp>
        <p:nvSpPr>
          <p:cNvPr id="22" name="a-e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eyJ2aWV3Qm94IjpbNjIsMzZdLCJwb2ludHMiOiIwLDAgNjIsMzYiLCJjdXJ2ZSI6InNoYXJwIn0</pptd:line>
              </p:ext>
            </p:extLst>
          </p:nvPr>
        </p:nvSpPr>
        <p:spPr>
          <a:xfrm>
            <a:off x="10591800" y="2235200"/>
            <a:ext cx="787400" cy="457200"/>
          </a:xfrm>
          <a:custGeom>
            <a:avLst/>
            <a:gdLst/>
            <a:ahLst/>
            <a:cxnLst/>
            <a:rect l="l" t="t" r="r" b="b"/>
            <a:pathLst>
              <a:path w="62" h="36">
                <a:moveTo>
                  <a:pt x="0" y="0"/>
                </a:moveTo>
                <a:lnTo>
                  <a:pt x="62" y="36"/>
                </a:lnTo>
              </a:path>
            </a:pathLst>
          </a:custGeom>
          <a:noFill/>
          <a:ln w="12700">
            <a:solidFill>
              <a:srgbClr val="5B5F7A"/>
            </a:solidFill>
            <a:tailEnd type="arrow"/>
          </a:ln>
        </p:spPr>
      </p:sp>
      <p:sp>
        <p:nvSpPr>
          <p:cNvPr id="23" name="a-i1"/>
          <p:cNvSpPr/>
          <p:nvPr/>
        </p:nvSpPr>
        <p:spPr>
          <a:xfrm>
            <a:off x="8788400" y="2692400"/>
            <a:ext cx="609600" cy="355600"/>
          </a:xfrm>
          <a:prstGeom prst="rect">
            <a:avLst/>
          </a:prstGeom>
          <a:solidFill>
            <a:srgbClr val="DAD7FF"/>
          </a:solidFill>
          <a:ln w="15875">
            <a:solidFill>
              <a:srgbClr val="000533"/>
            </a:solidFill>
          </a:ln>
        </p:spPr>
      </p:sp>
      <p:sp>
        <p:nvSpPr>
          <p:cNvPr id="24" name="a-i1-t"/>
          <p:cNvSpPr txBox="1"/>
          <p:nvPr/>
        </p:nvSpPr>
        <p:spPr>
          <a:xfrm>
            <a:off x="8788400" y="2692400"/>
            <a:ext cx="609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00533"/>
                </a:solidFill>
                <a:latin typeface="MiSans"/>
                <a:ea typeface="MiSans"/>
              </a:rPr>
              <a:t>7</a:t>
            </a:r>
            <a:endParaRPr lang="en-US" sz="1200" noProof="1"/>
          </a:p>
        </p:txBody>
      </p:sp>
      <p:sp>
        <p:nvSpPr>
          <p:cNvPr id="25" name="a-i2"/>
          <p:cNvSpPr/>
          <p:nvPr/>
        </p:nvSpPr>
        <p:spPr>
          <a:xfrm>
            <a:off x="11074400" y="2692400"/>
            <a:ext cx="609600" cy="355600"/>
          </a:xfrm>
          <a:prstGeom prst="rect">
            <a:avLst/>
          </a:prstGeom>
          <a:solidFill>
            <a:srgbClr val="DAD7FF"/>
          </a:solidFill>
          <a:ln w="15875">
            <a:solidFill>
              <a:srgbClr val="000533"/>
            </a:solidFill>
          </a:ln>
        </p:spPr>
      </p:sp>
      <p:sp>
        <p:nvSpPr>
          <p:cNvPr id="26" name="a-i2-t"/>
          <p:cNvSpPr txBox="1"/>
          <p:nvPr/>
        </p:nvSpPr>
        <p:spPr>
          <a:xfrm>
            <a:off x="11074400" y="2692400"/>
            <a:ext cx="609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00533"/>
                </a:solidFill>
                <a:latin typeface="MiSans"/>
                <a:ea typeface="MiSans"/>
              </a:rPr>
              <a:t>15</a:t>
            </a:r>
            <a:endParaRPr lang="en-US" sz="1200" noProof="1"/>
          </a:p>
        </p:txBody>
      </p:sp>
      <p:sp>
        <p:nvSpPr>
          <p:cNvPr id="27" name="a-e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eyJ2aWV3Qm94IjpbNDAsMzBdLCJwb2ludHMiOiI0MCwwIDAsMzAiLCJjdXJ2ZSI6InNoYXJwIn0</pptd:line>
              </p:ext>
            </p:extLst>
          </p:nvPr>
        </p:nvSpPr>
        <p:spPr>
          <a:xfrm>
            <a:off x="8280400" y="3048000"/>
            <a:ext cx="508000" cy="381000"/>
          </a:xfrm>
          <a:custGeom>
            <a:avLst/>
            <a:gdLst/>
            <a:ahLst/>
            <a:cxnLst/>
            <a:rect l="l" t="t" r="r" b="b"/>
            <a:pathLst>
              <a:path w="40" h="30">
                <a:moveTo>
                  <a:pt x="40" y="0"/>
                </a:moveTo>
                <a:lnTo>
                  <a:pt x="0" y="30"/>
                </a:lnTo>
              </a:path>
            </a:pathLst>
          </a:custGeom>
          <a:noFill/>
          <a:ln w="12700">
            <a:solidFill>
              <a:srgbClr val="5B5F7A"/>
            </a:solidFill>
            <a:tailEnd type="arrow"/>
          </a:ln>
        </p:spPr>
      </p:sp>
      <p:sp>
        <p:nvSpPr>
          <p:cNvPr id="28" name="a-e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eyJ2aWV3Qm94IjpbMzIsMzBdLCJwb2ludHMiOiIwLDAgMzIsMzAiLCJjdXJ2ZSI6InNoYXJwIn0</pptd:line>
              </p:ext>
            </p:extLst>
          </p:nvPr>
        </p:nvSpPr>
        <p:spPr>
          <a:xfrm>
            <a:off x="9398000" y="3048000"/>
            <a:ext cx="406400" cy="381000"/>
          </a:xfrm>
          <a:custGeom>
            <a:avLst/>
            <a:gdLst/>
            <a:ahLst/>
            <a:cxnLst/>
            <a:rect l="l" t="t" r="r" b="b"/>
            <a:pathLst>
              <a:path w="32" h="30">
                <a:moveTo>
                  <a:pt x="0" y="0"/>
                </a:moveTo>
                <a:lnTo>
                  <a:pt x="32" y="30"/>
                </a:lnTo>
              </a:path>
            </a:pathLst>
          </a:custGeom>
          <a:noFill/>
          <a:ln w="12700">
            <a:solidFill>
              <a:srgbClr val="5B5F7A"/>
            </a:solidFill>
            <a:tailEnd type="arrow"/>
          </a:ln>
        </p:spPr>
      </p:sp>
      <p:sp>
        <p:nvSpPr>
          <p:cNvPr id="29" name="a-e5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eyJ2aWV3Qm94IjpbMzIsMzBdLCJwb2ludHMiOiIzMiwwIDAsMzAiLCJjdXJ2ZSI6InNoYXJwIn0</pptd:line>
              </p:ext>
            </p:extLst>
          </p:nvPr>
        </p:nvSpPr>
        <p:spPr>
          <a:xfrm>
            <a:off x="10668000" y="3048000"/>
            <a:ext cx="406400" cy="381000"/>
          </a:xfrm>
          <a:custGeom>
            <a:avLst/>
            <a:gdLst/>
            <a:ahLst/>
            <a:cxnLst/>
            <a:rect l="l" t="t" r="r" b="b"/>
            <a:pathLst>
              <a:path w="32" h="30">
                <a:moveTo>
                  <a:pt x="32" y="0"/>
                </a:moveTo>
                <a:lnTo>
                  <a:pt x="0" y="30"/>
                </a:lnTo>
              </a:path>
            </a:pathLst>
          </a:custGeom>
          <a:noFill/>
          <a:ln w="12700">
            <a:solidFill>
              <a:srgbClr val="5B5F7A"/>
            </a:solidFill>
            <a:tailEnd type="arrow"/>
          </a:ln>
        </p:spPr>
      </p:sp>
      <p:sp>
        <p:nvSpPr>
          <p:cNvPr id="30" name="a-e6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eyJ2aWV3Qm94IjpbMjAsMzBdLCJwb2ludHMiOiIwLDAgMjAsMzAiLCJjdXJ2ZSI6InNoYXJwIn0</pptd:line>
              </p:ext>
            </p:extLst>
          </p:nvPr>
        </p:nvSpPr>
        <p:spPr>
          <a:xfrm>
            <a:off x="11506200" y="3048000"/>
            <a:ext cx="254000" cy="381000"/>
          </a:xfrm>
          <a:custGeom>
            <a:avLst/>
            <a:gdLst/>
            <a:ahLst/>
            <a:cxnLst/>
            <a:rect l="l" t="t" r="r" b="b"/>
            <a:pathLst>
              <a:path w="20" h="30">
                <a:moveTo>
                  <a:pt x="0" y="0"/>
                </a:moveTo>
                <a:lnTo>
                  <a:pt x="20" y="30"/>
                </a:lnTo>
              </a:path>
            </a:pathLst>
          </a:custGeom>
          <a:noFill/>
          <a:ln w="12700">
            <a:solidFill>
              <a:srgbClr val="5B5F7A"/>
            </a:solidFill>
            <a:tailEnd type="arrow"/>
          </a:ln>
        </p:spPr>
      </p:sp>
      <p:sp>
        <p:nvSpPr>
          <p:cNvPr id="31" name="a-l1"/>
          <p:cNvSpPr/>
          <p:nvPr/>
        </p:nvSpPr>
        <p:spPr>
          <a:xfrm>
            <a:off x="7975600" y="3454400"/>
            <a:ext cx="5588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533"/>
            </a:solidFill>
          </a:ln>
        </p:spPr>
      </p:sp>
      <p:sp>
        <p:nvSpPr>
          <p:cNvPr id="32" name="a-l1-t"/>
          <p:cNvSpPr txBox="1"/>
          <p:nvPr/>
        </p:nvSpPr>
        <p:spPr>
          <a:xfrm>
            <a:off x="7975600" y="34544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000533"/>
                </a:solidFill>
                <a:latin typeface="MiSans"/>
                <a:ea typeface="MiSans"/>
              </a:rPr>
              <a:t>[5]</a:t>
            </a:r>
            <a:endParaRPr lang="en-US" sz="1200" noProof="1"/>
          </a:p>
        </p:txBody>
      </p:sp>
      <p:sp>
        <p:nvSpPr>
          <p:cNvPr id="33" name="a-l2"/>
          <p:cNvSpPr/>
          <p:nvPr/>
        </p:nvSpPr>
        <p:spPr>
          <a:xfrm>
            <a:off x="8966200" y="3454400"/>
            <a:ext cx="762000" cy="355600"/>
          </a:xfrm>
          <a:prstGeom prst="rect">
            <a:avLst/>
          </a:prstGeom>
          <a:solidFill>
            <a:srgbClr val="1EFF8F"/>
          </a:solidFill>
          <a:ln w="19050">
            <a:solidFill>
              <a:srgbClr val="000533"/>
            </a:solidFill>
          </a:ln>
        </p:spPr>
      </p:sp>
      <p:sp>
        <p:nvSpPr>
          <p:cNvPr id="34" name="a-l2-t"/>
          <p:cNvSpPr txBox="1"/>
          <p:nvPr/>
        </p:nvSpPr>
        <p:spPr>
          <a:xfrm>
            <a:off x="8966200" y="3454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00533"/>
                </a:solidFill>
                <a:latin typeface="MiSans"/>
                <a:ea typeface="MiSans"/>
              </a:rPr>
              <a:t>[7, 8]</a:t>
            </a:r>
            <a:endParaRPr lang="en-US" sz="1200" noProof="1"/>
          </a:p>
        </p:txBody>
      </p:sp>
      <p:sp>
        <p:nvSpPr>
          <p:cNvPr id="35" name="a-l3"/>
          <p:cNvSpPr/>
          <p:nvPr/>
        </p:nvSpPr>
        <p:spPr>
          <a:xfrm>
            <a:off x="10160000" y="3454400"/>
            <a:ext cx="6096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533"/>
            </a:solidFill>
          </a:ln>
        </p:spPr>
      </p:sp>
      <p:sp>
        <p:nvSpPr>
          <p:cNvPr id="36" name="a-l3-t"/>
          <p:cNvSpPr txBox="1"/>
          <p:nvPr/>
        </p:nvSpPr>
        <p:spPr>
          <a:xfrm>
            <a:off x="10160000" y="3454400"/>
            <a:ext cx="609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000533"/>
                </a:solidFill>
                <a:latin typeface="MiSans"/>
                <a:ea typeface="MiSans"/>
              </a:rPr>
              <a:t>[12]</a:t>
            </a:r>
            <a:endParaRPr lang="en-US" sz="1200" noProof="1"/>
          </a:p>
        </p:txBody>
      </p:sp>
      <p:sp>
        <p:nvSpPr>
          <p:cNvPr id="37" name="a-l4"/>
          <p:cNvSpPr/>
          <p:nvPr/>
        </p:nvSpPr>
        <p:spPr>
          <a:xfrm>
            <a:off x="11074400" y="3454400"/>
            <a:ext cx="6096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533"/>
            </a:solidFill>
          </a:ln>
        </p:spPr>
      </p:sp>
      <p:sp>
        <p:nvSpPr>
          <p:cNvPr id="38" name="a-l4-t"/>
          <p:cNvSpPr txBox="1"/>
          <p:nvPr/>
        </p:nvSpPr>
        <p:spPr>
          <a:xfrm>
            <a:off x="11074400" y="3454400"/>
            <a:ext cx="609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000533"/>
                </a:solidFill>
                <a:latin typeface="MiSans"/>
                <a:ea typeface="MiSans"/>
              </a:rPr>
              <a:t>[15, 17]</a:t>
            </a:r>
            <a:endParaRPr lang="en-US" sz="1200" noProof="1"/>
          </a:p>
        </p:txBody>
      </p:sp>
      <p:sp>
        <p:nvSpPr>
          <p:cNvPr id="39" name="a-cap"/>
          <p:cNvSpPr txBox="1"/>
          <p:nvPr/>
        </p:nvSpPr>
        <p:spPr>
          <a:xfrm>
            <a:off x="8890000" y="39370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17 → лист [12, 15] делится на [12] и [15, 17]; 15 копируется наверх → [7, 10, 15] переполнен. Средний ключ 10 поднимается в новый корень.</a:t>
            </a:r>
            <a:endParaRPr lang="en-US" sz="950" noProof="1"/>
          </a:p>
        </p:txBody>
      </p:sp>
      <p:sp>
        <p:nvSpPr>
          <p:cNvPr id="40" name="concl-panel"/>
          <p:cNvSpPr/>
          <p:nvPr/>
        </p:nvSpPr>
        <p:spPr>
          <a:xfrm>
            <a:off x="508000" y="5384800"/>
            <a:ext cx="11176000" cy="914400"/>
          </a:xfrm>
          <a:prstGeom prst="roundRect">
            <a:avLst>
              <a:gd name="adj" fmla="val 9000"/>
            </a:avLst>
          </a:prstGeom>
          <a:solidFill>
            <a:srgbClr val="DAD7FF"/>
          </a:solidFill>
          <a:ln>
            <a:noFill/>
          </a:ln>
        </p:spPr>
      </p:sp>
      <p:sp>
        <p:nvSpPr>
          <p:cNvPr id="41" name="concl-text"/>
          <p:cNvSpPr txBox="1"/>
          <p:nvPr/>
        </p:nvSpPr>
        <p:spPr>
          <a:xfrm>
            <a:off x="736600" y="5511800"/>
            <a:ext cx="10718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Copy up vs push up: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при расщеплении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листа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первый ключ правого листа </a:t>
            </a:r>
            <a:r>
              <a:rPr lang="en-US" sz="1100" i="1" noProof="1">
                <a:solidFill>
                  <a:srgbClr val="000533"/>
                </a:solidFill>
                <a:latin typeface="MiSans"/>
                <a:ea typeface="MiSans"/>
              </a:rPr>
              <a:t>копируется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в родителя и остаётся в листе; при расщеплении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внутреннего узла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средний ключ </a:t>
            </a:r>
            <a:r>
              <a:rPr lang="en-US" sz="1100" i="1" noProof="1">
                <a:solidFill>
                  <a:srgbClr val="000533"/>
                </a:solidFill>
                <a:latin typeface="MiSans"/>
                <a:ea typeface="MiSans"/>
              </a:rPr>
              <a:t>перемещается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наверх и удаляется из узла. Это критичное различие редко объясняют в учебниках.</a:t>
            </a:r>
            <a:endParaRPr lang="en-US" sz="1100" noProof="1"/>
          </a:p>
        </p:txBody>
      </p:sp>
      <p:sp>
        <p:nvSpPr>
          <p:cNvPr id="42" name="foot-line"/>
          <p:cNvSpPr/>
          <p:nvPr/>
        </p:nvSpPr>
        <p:spPr>
          <a:xfrm>
            <a:off x="508000" y="6527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43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44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09 / 22</a:t>
            </a:r>
            <a:endParaRPr lang="en-US" sz="8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03 · ОПЕРАЦИИ: УДАЛЕНИЕ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Удаление: заимствование, слияние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В учебном алгоритме перед слиянием сначала проверяется возможность заимствования у соседа</a:t>
            </a:r>
            <a:endParaRPr lang="en-US" sz="1100" noProof="1"/>
          </a:p>
        </p:txBody>
      </p:sp>
      <p:sp>
        <p:nvSpPr>
          <p:cNvPr id="5" name="h-steps"/>
          <p:cNvSpPr txBox="1"/>
          <p:nvPr/>
        </p:nvSpPr>
        <p:spPr>
          <a:xfrm>
            <a:off x="508000" y="1574800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Алгоритм удаления</a:t>
            </a:r>
            <a:endParaRPr lang="en-US" sz="1250" noProof="1"/>
          </a:p>
        </p:txBody>
      </p:sp>
      <p:sp>
        <p:nvSpPr>
          <p:cNvPr id="6" name="steps"/>
          <p:cNvSpPr txBox="1"/>
          <p:nvPr/>
        </p:nvSpPr>
        <p:spPr>
          <a:xfrm>
            <a:off x="508000" y="1879600"/>
            <a:ext cx="5461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1.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Найти лист L и удалить запись.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2.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Если L заполнен менее чем наполовину:</a:t>
            </a:r>
            <a:endParaRPr lang="en-US" sz="1100" noProof="1"/>
          </a:p>
          <a:p>
            <a:pPr marL="177800">
              <a:lnSpc>
                <a:spcPct val="145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Заимствование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если соседний узел может отдать запись, не упав ниже половины: перераспределить записи и обновить разделяющий ключ в родителе.</a:t>
            </a:r>
            <a:endParaRPr lang="en-US" sz="1100" noProof="1"/>
          </a:p>
          <a:p>
            <a:pPr marL="177800">
              <a:lnSpc>
                <a:spcPct val="145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Слияние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иначе объединить L с соседом, удалив разделяющий ключ и указатель в родителе.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3.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Каскадное слияние может дойти до корня; если корень потерял все ключи, он удаляется — высота дерева уменьшается.</a:t>
            </a:r>
            <a:endParaRPr lang="en-US" sz="1100" noProof="1"/>
          </a:p>
        </p:txBody>
      </p:sp>
      <p:graphicFrame>
        <p:nvGraphicFramePr>
          <p:cNvPr id="7" name="cmp-table"/>
          <p:cNvGraphicFramePr>
            <a:graphicFrameLocks noGrp="1"/>
          </p:cNvGraphicFramePr>
          <p:nvPr/>
        </p:nvGraphicFramePr>
        <p:xfrm>
          <a:off x="6477000" y="1879600"/>
          <a:ext cx="5207000" cy="1676400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80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Действие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Условие и результат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79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Заимствование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Сосед отдаёт запись и остаётся ≥ ½; обновляется разделяющий ключ в родителе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79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Слияние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Заимствовать нельзя; узлы объединяются, из родителя удаляется ключ и указатель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lazy-panel"/>
          <p:cNvSpPr/>
          <p:nvPr/>
        </p:nvSpPr>
        <p:spPr>
          <a:xfrm>
            <a:off x="6477000" y="3759200"/>
            <a:ext cx="5207000" cy="1219200"/>
          </a:xfrm>
          <a:prstGeom prst="roundRect">
            <a:avLst>
              <a:gd name="adj" fmla="val 9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9" name="lazy-text"/>
          <p:cNvSpPr txBox="1"/>
          <p:nvPr/>
        </p:nvSpPr>
        <p:spPr>
          <a:xfrm>
            <a:off x="6680200" y="3886200"/>
            <a:ext cx="4800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b="1" noProof="1">
                <a:solidFill>
                  <a:srgbClr val="000533"/>
                </a:solidFill>
                <a:latin typeface="MiSans"/>
                <a:ea typeface="MiSans"/>
              </a:rPr>
              <a:t>Практика PostgreSQL (nbtree):</a:t>
            </a: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 заимствование и слияние полупустых страниц не реализованы. Объединяются только полностью пустые страницы; с PostgreSQL 14 их автоматически удаляет VACUUM.</a:t>
            </a:r>
            <a:endParaRPr lang="en-US" sz="1050" noProof="1"/>
          </a:p>
        </p:txBody>
      </p:sp>
      <p:sp>
        <p:nvSpPr>
          <p:cNvPr id="10" name="tomb-panel"/>
          <p:cNvSpPr/>
          <p:nvPr/>
        </p:nvSpPr>
        <p:spPr>
          <a:xfrm>
            <a:off x="6477000" y="5130800"/>
            <a:ext cx="5207000" cy="863600"/>
          </a:xfrm>
          <a:prstGeom prst="roundRect">
            <a:avLst>
              <a:gd name="adj" fmla="val 10000"/>
            </a:avLst>
          </a:prstGeom>
          <a:solidFill>
            <a:srgbClr val="DAD7FF"/>
          </a:solidFill>
          <a:ln>
            <a:noFill/>
          </a:ln>
        </p:spPr>
      </p:sp>
      <p:sp>
        <p:nvSpPr>
          <p:cNvPr id="11" name="tomb-text"/>
          <p:cNvSpPr txBox="1"/>
          <p:nvPr/>
        </p:nvSpPr>
        <p:spPr>
          <a:xfrm>
            <a:off x="6680200" y="5232400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000533"/>
                </a:solidFill>
                <a:latin typeface="MiSans"/>
                <a:ea typeface="MiSans"/>
              </a:rPr>
              <a:t>Почему так:</a:t>
            </a: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 корректное удаление сложно, поэтому системы применяют lazy deletion и tombstones. До PG 14 пустые страницы переиспользовались; место ОС возвращал REINDEX.</a:t>
            </a:r>
            <a:endParaRPr lang="en-US" sz="1050" noProof="1"/>
          </a:p>
        </p:txBody>
      </p:sp>
      <p:sp>
        <p:nvSpPr>
          <p:cNvPr id="12" name="h-note"/>
          <p:cNvSpPr txBox="1"/>
          <p:nvPr/>
        </p:nvSpPr>
        <p:spPr>
          <a:xfrm>
            <a:off x="508000" y="5257800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Что запомнить</a:t>
            </a:r>
            <a:endParaRPr lang="en-US" sz="1250" noProof="1"/>
          </a:p>
        </p:txBody>
      </p:sp>
      <p:sp>
        <p:nvSpPr>
          <p:cNvPr id="13" name="note-body"/>
          <p:cNvSpPr txBox="1"/>
          <p:nvPr/>
        </p:nvSpPr>
        <p:spPr>
          <a:xfrm>
            <a:off x="508000" y="5537200"/>
            <a:ext cx="546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Дерево остаётся строго сбалансированным по высоте. Деградация выражается в разреженности страниц (низкой заполненности), а не в разбалансировке.</a:t>
            </a:r>
            <a:endParaRPr lang="en-US" sz="1100" noProof="1"/>
          </a:p>
        </p:txBody>
      </p:sp>
      <p:sp>
        <p:nvSpPr>
          <p:cNvPr id="14" name="foot-line"/>
          <p:cNvSpPr/>
          <p:nvPr/>
        </p:nvSpPr>
        <p:spPr>
          <a:xfrm>
            <a:off x="508000" y="6527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15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10 / 22</a:t>
            </a:r>
            <a:endParaRPr lang="en-US" sz="8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04 · ПРОЕКТНЫЕ РЕШЕНИЯ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Размер узла подбирают под носитель, а не под абстракцию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Узел B+-дерева — страница фиксированного размера; её размер и внутренний поиск зависят от устройства хранения</a:t>
            </a:r>
            <a:endParaRPr lang="en-US" sz="1100" noProof="1"/>
          </a:p>
        </p:txBody>
      </p:sp>
      <p:sp>
        <p:nvSpPr>
          <p:cNvPr id="5" name="h-size"/>
          <p:cNvSpPr txBox="1"/>
          <p:nvPr/>
        </p:nvSpPr>
        <p:spPr>
          <a:xfrm>
            <a:off x="508000" y="1574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Размер страницы по типам носителей</a:t>
            </a:r>
            <a:endParaRPr lang="en-US" sz="1250" noProof="1"/>
          </a:p>
        </p:txBody>
      </p:sp>
      <p:graphicFrame>
        <p:nvGraphicFramePr>
          <p:cNvPr id="6" name="size-table"/>
          <p:cNvGraphicFramePr>
            <a:graphicFrameLocks noGrp="1"/>
          </p:cNvGraphicFramePr>
          <p:nvPr/>
        </p:nvGraphicFramePr>
        <p:xfrm>
          <a:off x="508000" y="1854200"/>
          <a:ext cx="5334000" cy="2133600"/>
        </p:xfrm>
        <a:graphic>
          <a:graphicData uri="http://schemas.openxmlformats.org/drawingml/2006/table">
            <a:tbl>
              <a:tblPr/>
              <a:tblGrid>
                <a:gridCol w="181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Носитель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Размер узла и логика выбора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HDD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Крупные страницы — амортизировать seek-время диска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SSD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8–16 КБ — баланс latency и пропускной способности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73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In-memory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Мельче — важна локальность кеша CPU, а не I/O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pg-note"/>
          <p:cNvSpPr txBox="1"/>
          <p:nvPr/>
        </p:nvSpPr>
        <p:spPr>
          <a:xfrm>
            <a:off x="508000" y="41402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В PostgreSQL размер страницы фиксирован: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8 КБ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и для таблиц (heap), и для индексов.</a:t>
            </a:r>
            <a:endParaRPr lang="en-US" sz="1100" noProof="1"/>
          </a:p>
        </p:txBody>
      </p:sp>
      <p:sp>
        <p:nvSpPr>
          <p:cNvPr id="8" name="h-search"/>
          <p:cNvSpPr txBox="1"/>
          <p:nvPr/>
        </p:nvSpPr>
        <p:spPr>
          <a:xfrm>
            <a:off x="6350000" y="1574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Поиск внутри страницы</a:t>
            </a:r>
            <a:endParaRPr lang="en-US" sz="1250" noProof="1"/>
          </a:p>
        </p:txBody>
      </p:sp>
      <p:sp>
        <p:nvSpPr>
          <p:cNvPr id="9" name="search-body"/>
          <p:cNvSpPr txBox="1"/>
          <p:nvPr/>
        </p:nvSpPr>
        <p:spPr>
          <a:xfrm>
            <a:off x="6350000" y="1854200"/>
            <a:ext cx="5334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Бинарный поиск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стандарт: ключи на странице отсортированы.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Линейный (векторизованный)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реже; выигрывает на очень маленьких узлах за счёт SIMD.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Интерполяционный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при равномерном распределении ключей.</a:t>
            </a:r>
            <a:endParaRPr lang="en-US" sz="1100" noProof="1"/>
          </a:p>
        </p:txBody>
      </p:sp>
      <p:sp>
        <p:nvSpPr>
          <p:cNvPr id="10" name="h-varlen"/>
          <p:cNvSpPr txBox="1"/>
          <p:nvPr/>
        </p:nvSpPr>
        <p:spPr>
          <a:xfrm>
            <a:off x="6350000" y="37084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Ключи переменной длины</a:t>
            </a:r>
            <a:endParaRPr lang="en-US" sz="1250" noProof="1"/>
          </a:p>
        </p:txBody>
      </p:sp>
      <p:sp>
        <p:nvSpPr>
          <p:cNvPr id="11" name="varlen-body"/>
          <p:cNvSpPr txBox="1"/>
          <p:nvPr/>
        </p:nvSpPr>
        <p:spPr>
          <a:xfrm>
            <a:off x="6350000" y="39878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Применяется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карта смещений (indirection)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: ключи заменяются ссылками на словарь внутри страницы или в отдельной структуре. PostgreSQL использует этот принцип для работы с кортежами.</a:t>
            </a:r>
            <a:endParaRPr lang="en-US" sz="1100" noProof="1"/>
          </a:p>
        </p:txBody>
      </p:sp>
      <p:sp>
        <p:nvSpPr>
          <p:cNvPr id="12" name="concl-panel"/>
          <p:cNvSpPr/>
          <p:nvPr/>
        </p:nvSpPr>
        <p:spPr>
          <a:xfrm>
            <a:off x="508000" y="5181600"/>
            <a:ext cx="11176000" cy="812800"/>
          </a:xfrm>
          <a:prstGeom prst="roundRect">
            <a:avLst>
              <a:gd name="adj" fmla="val 9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13" name="concl-text"/>
          <p:cNvSpPr txBox="1"/>
          <p:nvPr/>
        </p:nvSpPr>
        <p:spPr>
          <a:xfrm>
            <a:off x="736600" y="5308600"/>
            <a:ext cx="10718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Ключевая мысль: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B+-дерево — дисковая структура. Все проектные решения (размер узла, сортировка ключей, indirection) служат одной цели — превратить случайный ввод-вывод в последовательный и минимизировать число обращений к страницам.</a:t>
            </a:r>
            <a:endParaRPr lang="en-US" sz="1100" noProof="1"/>
          </a:p>
        </p:txBody>
      </p:sp>
      <p:sp>
        <p:nvSpPr>
          <p:cNvPr id="14" name="foot-line"/>
          <p:cNvSpPr/>
          <p:nvPr/>
        </p:nvSpPr>
        <p:spPr>
          <a:xfrm>
            <a:off x="508000" y="6527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15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11 / 22</a:t>
            </a:r>
            <a:endParaRPr lang="en-US" sz="8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04 · КЛАСТЕРИЗАЦИЯ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Кластеризованный индекс: строки таблицы живут в листьях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Различие определяет, что хранится в листьях и во что превращается диапазонный запрос</a:t>
            </a:r>
            <a:endParaRPr lang="en-US" sz="1100" noProof="1"/>
          </a:p>
        </p:txBody>
      </p:sp>
      <p:graphicFrame>
        <p:nvGraphicFramePr>
          <p:cNvPr id="5" name="cmp-table"/>
          <p:cNvGraphicFramePr>
            <a:graphicFrameLocks noGrp="1"/>
          </p:cNvGraphicFramePr>
          <p:nvPr/>
        </p:nvGraphicFramePr>
        <p:xfrm>
          <a:off x="508000" y="1549400"/>
          <a:ext cx="11176000" cy="1960880"/>
        </p:xfrm>
        <a:graphic>
          <a:graphicData uri="http://schemas.openxmlformats.org/drawingml/2006/table">
            <a:tbl>
              <a:tblPr/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501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Признак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Кластеризованный индекс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Некластеризованный индекс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2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Что в листьях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Сами строки таблицы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Только ссылки на строки (TID)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2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Физический порядок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Строки таблицы отсортированы по ключу индекса (обычно PRIMARY KEY)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Таблица — куча; порядок строк произвольный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2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Диапазонная выборка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Последовательное чтение страниц таблицы-листьев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Сбор TID → сортировка по страницам → последовательное чтение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h-dense"/>
          <p:cNvSpPr txBox="1"/>
          <p:nvPr/>
        </p:nvSpPr>
        <p:spPr>
          <a:xfrm>
            <a:off x="508000" y="4318000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Плотный vs разреженный</a:t>
            </a:r>
            <a:endParaRPr lang="en-US" sz="1250" noProof="1"/>
          </a:p>
        </p:txBody>
      </p:sp>
      <p:sp>
        <p:nvSpPr>
          <p:cNvPr id="7" name="dense-body"/>
          <p:cNvSpPr txBox="1"/>
          <p:nvPr/>
        </p:nvSpPr>
        <p:spPr>
          <a:xfrm>
            <a:off x="508000" y="4597400"/>
            <a:ext cx="5461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Плотный индекс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: каждый RID отношения присутствует в индексе; позволяет проверить существование записи без обращения к таблице.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Разреженный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: часть RID отсутствует; применим только как первичный или кластеризующий. Меньше места, лучше для вставок.</a:t>
            </a:r>
            <a:endParaRPr lang="en-US" sz="1100" noProof="1"/>
          </a:p>
        </p:txBody>
      </p:sp>
      <p:sp>
        <p:nvSpPr>
          <p:cNvPr id="8" name="sort-panel"/>
          <p:cNvSpPr/>
          <p:nvPr/>
        </p:nvSpPr>
        <p:spPr>
          <a:xfrm>
            <a:off x="6477000" y="4318000"/>
            <a:ext cx="5207000" cy="1549400"/>
          </a:xfrm>
          <a:prstGeom prst="roundRect">
            <a:avLst>
              <a:gd name="adj" fmla="val 8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9" name="sort-text"/>
          <p:cNvSpPr txBox="1"/>
          <p:nvPr/>
        </p:nvSpPr>
        <p:spPr>
          <a:xfrm>
            <a:off x="6680200" y="4445000"/>
            <a:ext cx="48006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b="1" noProof="1">
                <a:solidFill>
                  <a:srgbClr val="000533"/>
                </a:solidFill>
                <a:latin typeface="MiSans"/>
                <a:ea typeface="MiSans"/>
              </a:rPr>
              <a:t>Index Scan Page Sorting в PostgreSQL</a:t>
            </a: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 — связка Bitmap Index Scan + Bitmap Heap Scan: TID накапливаются в битовой карте страниц (при нехватке work_mem она становится lossy), затем куча читается в физическом порядке страниц — random I/O минимизируется.</a:t>
            </a:r>
            <a:endParaRPr lang="en-US" sz="1050" noProof="1"/>
          </a:p>
        </p:txBody>
      </p:sp>
      <p:sp>
        <p:nvSpPr>
          <p:cNvPr id="10" name="foot-line"/>
          <p:cNvSpPr/>
          <p:nvPr/>
        </p:nvSpPr>
        <p:spPr>
          <a:xfrm>
            <a:off x="508000" y="6527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11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2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12 / 22</a:t>
            </a:r>
            <a:endParaRPr lang="en-US" sz="8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04 · ОПТИМИЗАЦИИ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Шесть оптимизаций, которые делают B+-дерево практичным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Четыре из шести реализованы в PostgreSQL; prefix compression и pointer swizzling — исключения</a:t>
            </a:r>
            <a:endParaRPr lang="en-US" sz="1100" noProof="1"/>
          </a:p>
        </p:txBody>
      </p:sp>
      <p:sp>
        <p:nvSpPr>
          <p:cNvPr id="5" name="opt1-head"/>
          <p:cNvSpPr txBox="1"/>
          <p:nvPr/>
        </p:nvSpPr>
        <p:spPr>
          <a:xfrm>
            <a:off x="508000" y="1600200"/>
            <a:ext cx="5397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1 · Префиксное сжатие</a:t>
            </a:r>
            <a:endParaRPr lang="en-US" sz="1250" noProof="1"/>
          </a:p>
        </p:txBody>
      </p:sp>
      <p:sp>
        <p:nvSpPr>
          <p:cNvPr id="6" name="opt1-body"/>
          <p:cNvSpPr txBox="1"/>
          <p:nvPr/>
        </p:nvSpPr>
        <p:spPr>
          <a:xfrm>
            <a:off x="508000" y="1854200"/>
            <a:ext cx="5397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Общий префикс соседних ключей хранится один раз. Применяется во многих системах, но в nbtree PostgreSQL не реализовано.</a:t>
            </a:r>
            <a:endParaRPr lang="en-US" sz="950" noProof="1"/>
          </a:p>
        </p:txBody>
      </p:sp>
      <p:sp>
        <p:nvSpPr>
          <p:cNvPr id="7" name="opt2-head"/>
          <p:cNvSpPr txBox="1"/>
          <p:nvPr/>
        </p:nvSpPr>
        <p:spPr>
          <a:xfrm>
            <a:off x="6286500" y="1600200"/>
            <a:ext cx="5397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2 · Суффиксное усечение</a:t>
            </a:r>
            <a:endParaRPr lang="en-US" sz="1250" noProof="1"/>
          </a:p>
        </p:txBody>
      </p:sp>
      <p:sp>
        <p:nvSpPr>
          <p:cNvPr id="8" name="opt2-body"/>
          <p:cNvSpPr txBox="1"/>
          <p:nvPr/>
        </p:nvSpPr>
        <p:spPr>
          <a:xfrm>
            <a:off x="6286500" y="1854200"/>
            <a:ext cx="5397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Во внутренних узлах разделители усекаются до минимального различающего префикса. Реализовано в PostgreSQL с версии 12.</a:t>
            </a:r>
            <a:endParaRPr lang="en-US" sz="950" noProof="1"/>
          </a:p>
        </p:txBody>
      </p:sp>
      <p:sp>
        <p:nvSpPr>
          <p:cNvPr id="9" name="rule1"/>
          <p:cNvSpPr/>
          <p:nvPr/>
        </p:nvSpPr>
        <p:spPr>
          <a:xfrm>
            <a:off x="508000" y="2590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10" name="opt3-head"/>
          <p:cNvSpPr txBox="1"/>
          <p:nvPr/>
        </p:nvSpPr>
        <p:spPr>
          <a:xfrm>
            <a:off x="508000" y="2768600"/>
            <a:ext cx="5397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3 · Дедупликация (PostgreSQL 13+)</a:t>
            </a:r>
            <a:endParaRPr lang="en-US" sz="1250" noProof="1"/>
          </a:p>
        </p:txBody>
      </p:sp>
      <p:sp>
        <p:nvSpPr>
          <p:cNvPr id="11" name="opt3-body"/>
          <p:cNvSpPr txBox="1"/>
          <p:nvPr/>
        </p:nvSpPr>
        <p:spPr>
          <a:xfrm>
            <a:off x="508000" y="3022600"/>
            <a:ext cx="5397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Для неуникальных индексов ключ хранится один раз со списком TID — вместо повторения ключа для каждой строки.</a:t>
            </a:r>
            <a:endParaRPr lang="en-US" sz="950" noProof="1"/>
          </a:p>
        </p:txBody>
      </p:sp>
      <p:sp>
        <p:nvSpPr>
          <p:cNvPr id="12" name="opt4-head"/>
          <p:cNvSpPr txBox="1"/>
          <p:nvPr/>
        </p:nvSpPr>
        <p:spPr>
          <a:xfrm>
            <a:off x="6286500" y="2768600"/>
            <a:ext cx="5397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4 · Fill-фактор</a:t>
            </a:r>
            <a:endParaRPr lang="en-US" sz="1250" noProof="1"/>
          </a:p>
        </p:txBody>
      </p:sp>
      <p:sp>
        <p:nvSpPr>
          <p:cNvPr id="13" name="opt4-body"/>
          <p:cNvSpPr txBox="1"/>
          <p:nvPr/>
        </p:nvSpPr>
        <p:spPr>
          <a:xfrm>
            <a:off x="6286500" y="3022600"/>
            <a:ext cx="5397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Процент заполнения листовой страницы при построении индекса: по умолчанию 90 %; для активно пополняемых таблиц снижают до 70–80 %.</a:t>
            </a:r>
            <a:endParaRPr lang="en-US" sz="950" noProof="1"/>
          </a:p>
        </p:txBody>
      </p:sp>
      <p:sp>
        <p:nvSpPr>
          <p:cNvPr id="14" name="rule2"/>
          <p:cNvSpPr/>
          <p:nvPr/>
        </p:nvSpPr>
        <p:spPr>
          <a:xfrm>
            <a:off x="508000" y="37592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15" name="opt5-head"/>
          <p:cNvSpPr txBox="1"/>
          <p:nvPr/>
        </p:nvSpPr>
        <p:spPr>
          <a:xfrm>
            <a:off x="508000" y="3937000"/>
            <a:ext cx="5397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5 · Bulk Insert</a:t>
            </a:r>
            <a:endParaRPr lang="en-US" sz="1250" noProof="1"/>
          </a:p>
        </p:txBody>
      </p:sp>
      <p:sp>
        <p:nvSpPr>
          <p:cNvPr id="16" name="opt5-body"/>
          <p:cNvSpPr txBox="1"/>
          <p:nvPr/>
        </p:nvSpPr>
        <p:spPr>
          <a:xfrm>
            <a:off x="508000" y="4191000"/>
            <a:ext cx="5397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При создании индекса по заполненной таблице данные сначала сортируются, формируются листья, и дерево собирается снизу вверх.</a:t>
            </a:r>
            <a:endParaRPr lang="en-US" sz="950" noProof="1"/>
          </a:p>
        </p:txBody>
      </p:sp>
      <p:sp>
        <p:nvSpPr>
          <p:cNvPr id="17" name="opt6-head"/>
          <p:cNvSpPr txBox="1"/>
          <p:nvPr/>
        </p:nvSpPr>
        <p:spPr>
          <a:xfrm>
            <a:off x="6286500" y="3937000"/>
            <a:ext cx="5397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6 · Pointer Swizzling</a:t>
            </a:r>
            <a:endParaRPr lang="en-US" sz="1250" noProof="1"/>
          </a:p>
        </p:txBody>
      </p:sp>
      <p:sp>
        <p:nvSpPr>
          <p:cNvPr id="18" name="opt6-body"/>
          <p:cNvSpPr txBox="1"/>
          <p:nvPr/>
        </p:nvSpPr>
        <p:spPr>
          <a:xfrm>
            <a:off x="6286500" y="4191000"/>
            <a:ext cx="5397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Замена ID страницы прямым указателем после первого обращения — экономия на buffer manager. В PostgreSQL не реализован.</a:t>
            </a:r>
            <a:endParaRPr lang="en-US" sz="950" noProof="1"/>
          </a:p>
        </p:txBody>
      </p:sp>
      <p:sp>
        <p:nvSpPr>
          <p:cNvPr id="19" name="concl-panel"/>
          <p:cNvSpPr/>
          <p:nvPr/>
        </p:nvSpPr>
        <p:spPr>
          <a:xfrm>
            <a:off x="508000" y="5054600"/>
            <a:ext cx="11176000" cy="965200"/>
          </a:xfrm>
          <a:prstGeom prst="roundRect">
            <a:avLst>
              <a:gd name="adj" fmla="val 9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20" name="concl-text"/>
          <p:cNvSpPr txBox="1"/>
          <p:nvPr/>
        </p:nvSpPr>
        <p:spPr>
          <a:xfrm>
            <a:off x="736600" y="5181600"/>
            <a:ext cx="107188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Самый быстрый способ построить B+-дерево — отсортировать ключи и собрать индекс снизу вверх. Fillfactor задаёт заполнение при построении (по умолчанию 90 %); средняя заполненность при случайных вставках стремится к ln 2 ≈ 69 % независимо от него.</a:t>
            </a:r>
            <a:endParaRPr lang="en-US" sz="1100" noProof="1"/>
          </a:p>
        </p:txBody>
      </p:sp>
      <p:sp>
        <p:nvSpPr>
          <p:cNvPr id="21" name="foot-line"/>
          <p:cNvSpPr/>
          <p:nvPr/>
        </p:nvSpPr>
        <p:spPr>
          <a:xfrm>
            <a:off x="508000" y="6527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22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23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13 / 22</a:t>
            </a:r>
            <a:endParaRPr lang="en-US" sz="8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05 · ФИЗИЧЕСКАЯ УПАКОВКА СТРАНИЦЫ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Страница 8 КБ: порядок задаёт массив ItemId, а не физика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Каждый узел B+-дерева — страница, организованная как массив с косвенной адресацией: быстрый бинарный поиск при эффективных вставках</a:t>
            </a:r>
            <a:endParaRPr lang="en-US" sz="1100" noProof="1"/>
          </a:p>
        </p:txBody>
      </p:sp>
      <p:sp>
        <p:nvSpPr>
          <p:cNvPr id="5" name="h-diag"/>
          <p:cNvSpPr txBox="1"/>
          <p:nvPr/>
        </p:nvSpPr>
        <p:spPr>
          <a:xfrm>
            <a:off x="508000" y="15494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Схема страницы индекса PostgreSQL</a:t>
            </a:r>
            <a:endParaRPr lang="en-US" sz="1250" noProof="1"/>
          </a:p>
        </p:txBody>
      </p:sp>
      <p:sp>
        <p:nvSpPr>
          <p:cNvPr id="6" name="seg1"/>
          <p:cNvSpPr/>
          <p:nvPr/>
        </p:nvSpPr>
        <p:spPr>
          <a:xfrm>
            <a:off x="508000" y="1854200"/>
            <a:ext cx="1168400" cy="787400"/>
          </a:xfrm>
          <a:prstGeom prst="rect">
            <a:avLst/>
          </a:prstGeom>
          <a:solidFill>
            <a:srgbClr val="000533"/>
          </a:solidFill>
          <a:ln>
            <a:noFill/>
          </a:ln>
        </p:spPr>
      </p:sp>
      <p:sp>
        <p:nvSpPr>
          <p:cNvPr id="7" name="seg1-t"/>
          <p:cNvSpPr txBox="1"/>
          <p:nvPr/>
        </p:nvSpPr>
        <p:spPr>
          <a:xfrm>
            <a:off x="558800" y="1905000"/>
            <a:ext cx="1066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00" noProof="1">
                <a:solidFill>
                  <a:srgbClr val="FFFFFF"/>
                </a:solidFill>
                <a:latin typeface="MiSans"/>
                <a:ea typeface="MiSans"/>
              </a:rPr>
              <a:t>PageHeaderData · 24 Б</a:t>
            </a:r>
            <a:endParaRPr lang="en-US" sz="900" noProof="1"/>
          </a:p>
        </p:txBody>
      </p:sp>
      <p:sp>
        <p:nvSpPr>
          <p:cNvPr id="8" name="seg2"/>
          <p:cNvSpPr/>
          <p:nvPr/>
        </p:nvSpPr>
        <p:spPr>
          <a:xfrm>
            <a:off x="1676400" y="1854200"/>
            <a:ext cx="1549400" cy="787400"/>
          </a:xfrm>
          <a:prstGeom prst="rect">
            <a:avLst/>
          </a:prstGeom>
          <a:solidFill>
            <a:srgbClr val="A29AFF"/>
          </a:solidFill>
          <a:ln>
            <a:noFill/>
          </a:ln>
        </p:spPr>
      </p:sp>
      <p:sp>
        <p:nvSpPr>
          <p:cNvPr id="9" name="seg2-t"/>
          <p:cNvSpPr txBox="1"/>
          <p:nvPr/>
        </p:nvSpPr>
        <p:spPr>
          <a:xfrm>
            <a:off x="1727200" y="1905000"/>
            <a:ext cx="1447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00" noProof="1">
                <a:solidFill>
                  <a:srgbClr val="000533"/>
                </a:solidFill>
                <a:latin typeface="MiSans"/>
                <a:ea typeface="MiSans"/>
              </a:rPr>
              <a:t>ItemIdData · по 4 Б · растёт →</a:t>
            </a:r>
            <a:endParaRPr lang="en-US" sz="900" noProof="1"/>
          </a:p>
        </p:txBody>
      </p:sp>
      <p:sp>
        <p:nvSpPr>
          <p:cNvPr id="10" name="seg3"/>
          <p:cNvSpPr/>
          <p:nvPr/>
        </p:nvSpPr>
        <p:spPr>
          <a:xfrm>
            <a:off x="3225800" y="1854200"/>
            <a:ext cx="1651000" cy="7874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11" name="seg3-t"/>
          <p:cNvSpPr txBox="1"/>
          <p:nvPr/>
        </p:nvSpPr>
        <p:spPr>
          <a:xfrm>
            <a:off x="3276600" y="1905000"/>
            <a:ext cx="1549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00" noProof="1">
                <a:solidFill>
                  <a:srgbClr val="5B5F7A"/>
                </a:solidFill>
                <a:latin typeface="MiSans"/>
                <a:ea typeface="MiSans"/>
              </a:rPr>
              <a:t>свободное пространство</a:t>
            </a:r>
            <a:endParaRPr lang="en-US" sz="900" noProof="1"/>
          </a:p>
        </p:txBody>
      </p:sp>
      <p:sp>
        <p:nvSpPr>
          <p:cNvPr id="12" name="seg4"/>
          <p:cNvSpPr/>
          <p:nvPr/>
        </p:nvSpPr>
        <p:spPr>
          <a:xfrm>
            <a:off x="4876800" y="1854200"/>
            <a:ext cx="1600200" cy="787400"/>
          </a:xfrm>
          <a:prstGeom prst="rect">
            <a:avLst/>
          </a:prstGeom>
          <a:solidFill>
            <a:srgbClr val="D2FFE9"/>
          </a:solidFill>
          <a:ln>
            <a:noFill/>
          </a:ln>
        </p:spPr>
      </p:sp>
      <p:sp>
        <p:nvSpPr>
          <p:cNvPr id="13" name="seg4-t"/>
          <p:cNvSpPr txBox="1"/>
          <p:nvPr/>
        </p:nvSpPr>
        <p:spPr>
          <a:xfrm>
            <a:off x="4927600" y="1905000"/>
            <a:ext cx="1498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00" noProof="1">
                <a:solidFill>
                  <a:srgbClr val="000533"/>
                </a:solidFill>
                <a:latin typeface="MiSans"/>
                <a:ea typeface="MiSans"/>
              </a:rPr>
              <a:t>← IndexTuple · ключ + TID</a:t>
            </a:r>
            <a:endParaRPr lang="en-US" sz="900" noProof="1"/>
          </a:p>
        </p:txBody>
      </p:sp>
      <p:sp>
        <p:nvSpPr>
          <p:cNvPr id="14" name="seg5"/>
          <p:cNvSpPr/>
          <p:nvPr/>
        </p:nvSpPr>
        <p:spPr>
          <a:xfrm>
            <a:off x="6477000" y="1854200"/>
            <a:ext cx="1143000" cy="787400"/>
          </a:xfrm>
          <a:prstGeom prst="rect">
            <a:avLst/>
          </a:prstGeom>
          <a:solidFill>
            <a:srgbClr val="000533"/>
          </a:solidFill>
          <a:ln>
            <a:noFill/>
          </a:ln>
        </p:spPr>
      </p:sp>
      <p:sp>
        <p:nvSpPr>
          <p:cNvPr id="15" name="seg5-t"/>
          <p:cNvSpPr txBox="1"/>
          <p:nvPr/>
        </p:nvSpPr>
        <p:spPr>
          <a:xfrm>
            <a:off x="6527800" y="1905000"/>
            <a:ext cx="1041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00" noProof="1">
                <a:solidFill>
                  <a:srgbClr val="FFFFFF"/>
                </a:solidFill>
                <a:latin typeface="MiSans"/>
                <a:ea typeface="MiSans"/>
              </a:rPr>
              <a:t>BTPageOpaqueData · ~16 Б</a:t>
            </a:r>
            <a:endParaRPr lang="en-US" sz="900" noProof="1"/>
          </a:p>
        </p:txBody>
      </p:sp>
      <p:sp>
        <p:nvSpPr>
          <p:cNvPr id="16" name="diag-cap"/>
          <p:cNvSpPr txBox="1"/>
          <p:nvPr/>
        </p:nvSpPr>
        <p:spPr>
          <a:xfrm>
            <a:off x="508000" y="27432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Массив указателей ItemId растёт от начала страницы, область данных (кортежи) — от конца; свободное место между ними. Физический порядок кортежей произвольный.</a:t>
            </a:r>
            <a:endParaRPr lang="en-US" sz="850" noProof="1"/>
          </a:p>
        </p:txBody>
      </p:sp>
      <p:sp>
        <p:nvSpPr>
          <p:cNvPr id="17" name="h-insert"/>
          <p:cNvSpPr txBox="1"/>
          <p:nvPr/>
        </p:nvSpPr>
        <p:spPr>
          <a:xfrm>
            <a:off x="508000" y="32512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Что происходит при вставке</a:t>
            </a:r>
            <a:endParaRPr lang="en-US" sz="1250" noProof="1"/>
          </a:p>
        </p:txBody>
      </p:sp>
      <p:sp>
        <p:nvSpPr>
          <p:cNvPr id="18" name="insert-body"/>
          <p:cNvSpPr txBox="1"/>
          <p:nvPr/>
        </p:nvSpPr>
        <p:spPr>
          <a:xfrm>
            <a:off x="508000" y="3505200"/>
            <a:ext cx="711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Новый кортеж кладётся в свободное место в конце области данных, а массив ItemId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переупорядочивается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. Логический порядок ключей обеспечивается сортировкой ItemId — бинарный поиск выполняется по ключам, на которые указывают line pointers.</a:t>
            </a:r>
            <a:endParaRPr lang="en-US" sz="1100" noProof="1"/>
          </a:p>
        </p:txBody>
      </p:sp>
      <p:sp>
        <p:nvSpPr>
          <p:cNvPr id="19" name="h-highkey"/>
          <p:cNvSpPr txBox="1"/>
          <p:nvPr/>
        </p:nvSpPr>
        <p:spPr>
          <a:xfrm>
            <a:off x="508000" y="45720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High-key и rightlink</a:t>
            </a:r>
            <a:endParaRPr lang="en-US" sz="1250" noProof="1"/>
          </a:p>
        </p:txBody>
      </p:sp>
      <p:sp>
        <p:nvSpPr>
          <p:cNvPr id="20" name="highkey-body"/>
          <p:cNvSpPr txBox="1"/>
          <p:nvPr/>
        </p:nvSpPr>
        <p:spPr>
          <a:xfrm>
            <a:off x="508000" y="4826000"/>
            <a:ext cx="711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High key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первый элемент любой страницы с правым соседом: верхняя граница её ключей, равная минимальному ключу правого соседа. Если искомый ключ больше high key, произошёл конкурентный сплит — идём вправо по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rightlink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. У крайней правой страницы high key = +∞.</a:t>
            </a:r>
            <a:endParaRPr lang="en-US" sz="1100" noProof="1"/>
          </a:p>
        </p:txBody>
      </p:sp>
      <p:sp>
        <p:nvSpPr>
          <p:cNvPr id="21" name="h-parts"/>
          <p:cNvSpPr txBox="1"/>
          <p:nvPr/>
        </p:nvSpPr>
        <p:spPr>
          <a:xfrm>
            <a:off x="8128000" y="15494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Что где лежит</a:t>
            </a:r>
            <a:endParaRPr lang="en-US" sz="1250" noProof="1"/>
          </a:p>
        </p:txBody>
      </p:sp>
      <p:sp>
        <p:nvSpPr>
          <p:cNvPr id="22" name="parts-body"/>
          <p:cNvSpPr txBox="1"/>
          <p:nvPr/>
        </p:nvSpPr>
        <p:spPr>
          <a:xfrm>
            <a:off x="8128000" y="1854200"/>
            <a:ext cx="3556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b="1" noProof="1">
                <a:solidFill>
                  <a:srgbClr val="000533"/>
                </a:solidFill>
                <a:latin typeface="MiSans"/>
                <a:ea typeface="MiSans"/>
              </a:rPr>
              <a:t>PageHeaderData (24 Б)</a:t>
            </a: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 — LSN, checksum, флаги и границы областей; номера страницы и счётчика элементов здесь нет.</a:t>
            </a:r>
            <a:endParaRPr lang="en-US" sz="9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950" b="1" noProof="1">
                <a:solidFill>
                  <a:srgbClr val="000533"/>
                </a:solidFill>
                <a:latin typeface="MiSans"/>
                <a:ea typeface="MiSans"/>
              </a:rPr>
              <a:t>ItemIdData</a:t>
            </a: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 — массив line pointers по 4 Б; именно он отсортирован по ключу.</a:t>
            </a:r>
            <a:endParaRPr lang="en-US" sz="9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950" b="1" noProof="1">
                <a:solidFill>
                  <a:srgbClr val="000533"/>
                </a:solidFill>
                <a:latin typeface="MiSans"/>
                <a:ea typeface="MiSans"/>
              </a:rPr>
              <a:t>IndexTuple</a:t>
            </a: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 — ключ + TID (лист) или указатель на дочернюю страницу (внутренний узел).</a:t>
            </a:r>
            <a:endParaRPr lang="en-US" sz="9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950" b="1" noProof="1">
                <a:solidFill>
                  <a:srgbClr val="000533"/>
                </a:solidFill>
                <a:latin typeface="MiSans"/>
                <a:ea typeface="MiSans"/>
              </a:rPr>
              <a:t>BTPageOpaqueData</a:t>
            </a: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 — btpo_prev/btpo_next, btpo_level (0 — лист), btpo_flags и btpo_cycleid.</a:t>
            </a:r>
            <a:endParaRPr lang="en-US" sz="950" noProof="1"/>
          </a:p>
        </p:txBody>
      </p:sp>
      <p:sp>
        <p:nvSpPr>
          <p:cNvPr id="23" name="concl-panel"/>
          <p:cNvSpPr/>
          <p:nvPr/>
        </p:nvSpPr>
        <p:spPr>
          <a:xfrm>
            <a:off x="508000" y="5943600"/>
            <a:ext cx="11176000" cy="431800"/>
          </a:xfrm>
          <a:prstGeom prst="roundRect">
            <a:avLst>
              <a:gd name="adj" fmla="val 12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24" name="concl-text"/>
          <p:cNvSpPr txBox="1"/>
          <p:nvPr/>
        </p:nvSpPr>
        <p:spPr>
          <a:xfrm>
            <a:off x="736600" y="6019800"/>
            <a:ext cx="10718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Итог: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физически B+-дерево — набор страниц, каждая из которых внутри работает как отсортированный массив через line pointers.</a:t>
            </a:r>
            <a:endParaRPr lang="en-US" sz="1100" noProof="1"/>
          </a:p>
        </p:txBody>
      </p:sp>
      <p:sp>
        <p:nvSpPr>
          <p:cNvPr id="25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26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14 / 22</a:t>
            </a:r>
            <a:endParaRPr lang="en-US" sz="85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11200" y="762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1EFF8F"/>
                </a:solidFill>
                <a:latin typeface="MiSans"/>
                <a:ea typeface="MiSans"/>
              </a:rPr>
              <a:t>РАЗДЕЛ 02 · РОДСТВЕННЫЕ СТРУКТУРЫ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1270000"/>
            <a:ext cx="8128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0000"/>
              </a:lnSpc>
            </a:pPr>
            <a:r>
              <a:rPr lang="en-US" sz="4600" b="1" kern="0" spc="50" noProof="1">
                <a:solidFill>
                  <a:srgbClr val="FFFFFF"/>
                </a:solidFill>
                <a:latin typeface="Oswald"/>
                <a:ea typeface="Oswald"/>
              </a:rPr>
              <a:t>НЕ ВСЁ РЕШАЕТ</a:t>
            </a:r>
            <a:endParaRPr lang="en-US" sz="4600" noProof="1"/>
          </a:p>
          <a:p>
            <a:pPr>
              <a:lnSpc>
                <a:spcPct val="110000"/>
              </a:lnSpc>
            </a:pPr>
            <a:r>
              <a:rPr lang="en-US" sz="4600" b="1" kern="0" spc="50" noProof="1">
                <a:solidFill>
                  <a:srgbClr val="FFFFFF"/>
                </a:solidFill>
                <a:latin typeface="Oswald"/>
                <a:ea typeface="Oswald"/>
              </a:rPr>
              <a:t>B+ДЕРЕВО</a:t>
            </a:r>
            <a:endParaRPr lang="en-US" sz="4600" noProof="1"/>
          </a:p>
        </p:txBody>
      </p:sp>
      <p:sp>
        <p:nvSpPr>
          <p:cNvPr id="4" name="subtitle"/>
          <p:cNvSpPr txBox="1"/>
          <p:nvPr/>
        </p:nvSpPr>
        <p:spPr>
          <a:xfrm>
            <a:off x="711200" y="29464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DAD7FF"/>
                </a:solidFill>
                <a:latin typeface="MiSans"/>
                <a:ea typeface="MiSans"/>
              </a:rPr>
              <a:t>Вероятностные фильтры, списки, префиксные деревья и векторные индексы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DAD7FF"/>
                </a:solidFill>
                <a:latin typeface="MiSans"/>
                <a:ea typeface="MiSans"/>
              </a:rPr>
              <a:t>закрывают задачи, где B+-дерево неэффективно или неприменимо</a:t>
            </a:r>
            <a:endParaRPr lang="en-US" sz="1250" noProof="1"/>
          </a:p>
        </p:txBody>
      </p:sp>
      <p:graphicFrame>
        <p:nvGraphicFramePr>
          <p:cNvPr id="5" name="map-table"/>
          <p:cNvGraphicFramePr>
            <a:graphicFrameLocks noGrp="1"/>
          </p:cNvGraphicFramePr>
          <p:nvPr/>
        </p:nvGraphicFramePr>
        <p:xfrm>
          <a:off x="711200" y="3810000"/>
          <a:ext cx="7620000" cy="2448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712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1EFF8F"/>
                          </a:solidFill>
                          <a:latin typeface="Times New Roman"/>
                          <a:ea typeface="Times New Roman"/>
                        </a:rPr>
                        <a:t>Bloom filter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«Точно нет / возможно есть» — вероятностная принадлежность множеству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1EFF8F"/>
                          </a:solidFill>
                          <a:latin typeface="Times New Roman"/>
                          <a:ea typeface="Times New Roman"/>
                        </a:rPr>
                        <a:t>Skip-список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0000"/>
                        </a:srgbClr>
                      </a:solidFill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In-memory индекс без перебалансировки — memtable LSM-систем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0000"/>
                        </a:srgbClr>
                      </a:solidFill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1EFF8F"/>
                          </a:solidFill>
                          <a:latin typeface="Times New Roman"/>
                          <a:ea typeface="Times New Roman"/>
                        </a:rPr>
                        <a:t>Trie / Radix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0000"/>
                        </a:srgbClr>
                      </a:solidFill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Строковые ключи: сложность зависит от длины ключа, не от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0000"/>
                        </a:srgbClr>
                      </a:solidFill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1EFF8F"/>
                          </a:solidFill>
                          <a:latin typeface="Times New Roman"/>
                          <a:ea typeface="Times New Roman"/>
                        </a:rPr>
                        <a:t>Inverted 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0000"/>
                        </a:srgbClr>
                      </a:solidFill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Полнотекстовый поиск — «в каких документах встречается термин?»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0000"/>
                        </a:srgbClr>
                      </a:solidFill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1EFF8F"/>
                          </a:solidFill>
                          <a:latin typeface="Times New Roman"/>
                          <a:ea typeface="Times New Roman"/>
                        </a:rPr>
                        <a:t>IVFFlat / HNSW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0000"/>
                        </a:srgbClr>
                      </a:solidFill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Семантическая близость векторов — приближённый поиск соседей (ANN)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0000"/>
                        </a:srgbClr>
                      </a:solidFill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arrow-tile"/>
          <p:cNvSpPr/>
          <p:nvPr/>
        </p:nvSpPr>
        <p:spPr>
          <a:xfrm>
            <a:off x="9753600" y="762000"/>
            <a:ext cx="1727200" cy="1727200"/>
          </a:xfrm>
          <a:prstGeom prst="roundRect">
            <a:avLst>
              <a:gd name="adj" fmla="val 12000"/>
            </a:avLst>
          </a:prstGeom>
          <a:solidFill>
            <a:srgbClr val="1EFF8F"/>
          </a:solidFill>
          <a:ln>
            <a:noFill/>
          </a:ln>
        </p:spPr>
      </p:sp>
      <p:sp>
        <p:nvSpPr>
          <p:cNvPr id="7" name="arrow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10160000" y="1168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00533"/>
          </a:solidFill>
          <a:ln>
            <a:noFill/>
          </a:ln>
        </p:spPr>
      </p:sp>
      <p:sp>
        <p:nvSpPr>
          <p:cNvPr id="8" name="mos-1"/>
          <p:cNvSpPr/>
          <p:nvPr/>
        </p:nvSpPr>
        <p:spPr>
          <a:xfrm>
            <a:off x="9753600" y="27432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A29AFF"/>
          </a:solidFill>
          <a:ln>
            <a:noFill/>
          </a:ln>
        </p:spPr>
      </p:sp>
      <p:sp>
        <p:nvSpPr>
          <p:cNvPr id="9" name="mos-2"/>
          <p:cNvSpPr/>
          <p:nvPr/>
        </p:nvSpPr>
        <p:spPr>
          <a:xfrm>
            <a:off x="10668000" y="27432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1EFF8F">
              <a:alpha val="30196"/>
            </a:srgbClr>
          </a:solidFill>
          <a:ln>
            <a:noFill/>
          </a:ln>
        </p:spPr>
      </p:sp>
      <p:sp>
        <p:nvSpPr>
          <p:cNvPr id="10" name="mos-3"/>
          <p:cNvSpPr/>
          <p:nvPr/>
        </p:nvSpPr>
        <p:spPr>
          <a:xfrm>
            <a:off x="9753600" y="36576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A29AFF">
              <a:alpha val="40000"/>
            </a:srgbClr>
          </a:solidFill>
          <a:ln>
            <a:noFill/>
          </a:ln>
        </p:spPr>
      </p:sp>
      <p:sp>
        <p:nvSpPr>
          <p:cNvPr id="11" name="mos-4"/>
          <p:cNvSpPr/>
          <p:nvPr/>
        </p:nvSpPr>
        <p:spPr>
          <a:xfrm>
            <a:off x="10668000" y="36576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DAD7FF"/>
          </a:solidFill>
          <a:ln>
            <a:noFill/>
          </a:ln>
        </p:spPr>
      </p:sp>
      <p:sp>
        <p:nvSpPr>
          <p:cNvPr id="12" name="mos-5"/>
          <p:cNvSpPr/>
          <p:nvPr/>
        </p:nvSpPr>
        <p:spPr>
          <a:xfrm>
            <a:off x="9753600" y="45720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1EFF8F"/>
          </a:solidFill>
          <a:ln>
            <a:noFill/>
          </a:ln>
        </p:spPr>
      </p:sp>
      <p:sp>
        <p:nvSpPr>
          <p:cNvPr id="13" name="mos-6"/>
          <p:cNvSpPr/>
          <p:nvPr/>
        </p:nvSpPr>
        <p:spPr>
          <a:xfrm>
            <a:off x="10668000" y="4572000"/>
            <a:ext cx="812800" cy="812800"/>
          </a:xfrm>
          <a:prstGeom prst="roundRect">
            <a:avLst>
              <a:gd name="adj" fmla="val 14000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</p:sp>
      <p:sp>
        <p:nvSpPr>
          <p:cNvPr id="14" name="foot"/>
          <p:cNvSpPr txBox="1"/>
          <p:nvPr/>
        </p:nvSpPr>
        <p:spPr>
          <a:xfrm>
            <a:off x="711200" y="6350000"/>
            <a:ext cx="10769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СЛАЙДЫ 16–21 · УСТРОЙСТВО, СЛОЖНОСТЬ, ПРИМЕНЕНИЕ В СУБД И БИЗНЕС-ЗАДАЧАХ</a:t>
            </a:r>
            <a:endParaRPr lang="en-US" sz="850" noProof="1"/>
          </a:p>
        </p:txBody>
      </p:sp>
      <p:sp>
        <p:nvSpPr>
          <p:cNvPr id="15" name="page-num"/>
          <p:cNvSpPr txBox="1"/>
          <p:nvPr/>
        </p:nvSpPr>
        <p:spPr>
          <a:xfrm>
            <a:off x="10718800" y="6350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FFFFFF">
                    <a:alpha val="40000"/>
                  </a:srgbClr>
                </a:solidFill>
                <a:latin typeface="MiSans"/>
                <a:ea typeface="MiSans"/>
              </a:rPr>
              <a:t>15 / 22</a:t>
            </a:r>
            <a:endParaRPr lang="en-US" sz="85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06 · ФИЛЬТР БЛУМА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Фильтр Блума: «точно нет» или «возможно есть»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Вероятностная структура: ложноотрицательные ответы невозможны, ложноположительные — допустимы</a:t>
            </a:r>
            <a:endParaRPr lang="en-US" sz="1100" noProof="1"/>
          </a:p>
        </p:txBody>
      </p:sp>
      <p:sp>
        <p:nvSpPr>
          <p:cNvPr id="5" name="h-how"/>
          <p:cNvSpPr txBox="1"/>
          <p:nvPr/>
        </p:nvSpPr>
        <p:spPr>
          <a:xfrm>
            <a:off x="508000" y="1549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Устройство: m бит + k хеш-функций</a:t>
            </a:r>
            <a:endParaRPr lang="en-US" sz="1250" noProof="1"/>
          </a:p>
        </p:txBody>
      </p:sp>
      <p:sp>
        <p:nvSpPr>
          <p:cNvPr id="6" name="how-body"/>
          <p:cNvSpPr txBox="1"/>
          <p:nvPr/>
        </p:nvSpPr>
        <p:spPr>
          <a:xfrm>
            <a:off x="508000" y="18288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Insert(x):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каждая из k хеш-функций даёт позицию по модулю m — соответствующие биты устанавливаются в 1.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Lookup(x):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если хотя бы один из k битов равен 0 — ключа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точно нет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; если все равны 1 — ключ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возможно есть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Фильтр не сообщает, </a:t>
            </a:r>
            <a:r>
              <a:rPr lang="en-US" sz="1100" i="1" noProof="1">
                <a:solidFill>
                  <a:srgbClr val="000533"/>
                </a:solidFill>
                <a:latin typeface="MiSans"/>
                <a:ea typeface="MiSans"/>
              </a:rPr>
              <a:t>где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ключ, — только существует ли он.</a:t>
            </a:r>
            <a:endParaRPr lang="en-US" sz="1100" noProof="1"/>
          </a:p>
        </p:txBody>
      </p:sp>
      <p:sp>
        <p:nvSpPr>
          <p:cNvPr id="7" name="h-var"/>
          <p:cNvSpPr txBox="1"/>
          <p:nvPr/>
        </p:nvSpPr>
        <p:spPr>
          <a:xfrm>
            <a:off x="508000" y="3657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Варианты</a:t>
            </a:r>
            <a:endParaRPr lang="en-US" sz="1250" noProof="1"/>
          </a:p>
        </p:txBody>
      </p:sp>
      <p:sp>
        <p:nvSpPr>
          <p:cNvPr id="8" name="var-body"/>
          <p:cNvSpPr txBox="1"/>
          <p:nvPr/>
        </p:nvSpPr>
        <p:spPr>
          <a:xfrm>
            <a:off x="508000" y="3911600"/>
            <a:ext cx="5080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Counting Bloom filter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счётчики вместо битов, поддерживает удаление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Cuckoo filter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хранит «отпечатки» (fingerprints), тоже удаляет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—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Succinct range filter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неизменяемый фильтр для диапазонов</a:t>
            </a:r>
            <a:endParaRPr lang="en-US" sz="1100" noProof="1"/>
          </a:p>
        </p:txBody>
      </p:sp>
      <p:graphicFrame>
        <p:nvGraphicFramePr>
          <p:cNvPr id="9" name="cx-table"/>
          <p:cNvGraphicFramePr>
            <a:graphicFrameLocks noGrp="1"/>
          </p:cNvGraphicFramePr>
          <p:nvPr/>
        </p:nvGraphicFramePr>
        <p:xfrm>
          <a:off x="508000" y="5130800"/>
          <a:ext cx="5080000" cy="133223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5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40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Операция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40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Сложность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5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4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Вставка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4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05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4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Поиск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4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O(1) лучший; O(k) средний/худший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05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4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Память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4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O(m) бит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img"/>
          <p:cNvPicPr/>
          <p:nvPr/>
        </p:nvPicPr>
        <p:blipFill>
          <a:blip r:embed="rId2"/>
          <a:srcRect l="-6250" r="-6250"/>
          <a:stretch>
            <a:fillRect/>
          </a:stretch>
        </p:blipFill>
        <p:spPr>
          <a:xfrm>
            <a:off x="5994400" y="1295400"/>
            <a:ext cx="6096000" cy="4064000"/>
          </a:xfrm>
          <a:prstGeom prst="rect">
            <a:avLst/>
          </a:prstGeom>
          <a:ln>
            <a:noFill/>
          </a:ln>
        </p:spPr>
      </p:pic>
      <p:sp>
        <p:nvSpPr>
          <p:cNvPr id="11" name="img-cap"/>
          <p:cNvSpPr txBox="1"/>
          <p:nvPr/>
        </p:nvSpPr>
        <p:spPr>
          <a:xfrm>
            <a:off x="5994400" y="5588000"/>
            <a:ext cx="5689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Запрос к фильтру: k хешей ключа отображаются на битовый массив; бит 0 ⇒ ключ точно отсутствует.</a:t>
            </a:r>
            <a:endParaRPr lang="en-US" sz="850" noProof="1"/>
          </a:p>
        </p:txBody>
      </p:sp>
      <p:sp>
        <p:nvSpPr>
          <p:cNvPr id="12" name="use-panel"/>
          <p:cNvSpPr/>
          <p:nvPr/>
        </p:nvSpPr>
        <p:spPr>
          <a:xfrm>
            <a:off x="5994400" y="5816600"/>
            <a:ext cx="5689600" cy="558800"/>
          </a:xfrm>
          <a:prstGeom prst="roundRect">
            <a:avLst>
              <a:gd name="adj" fmla="val 11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13" name="use-text"/>
          <p:cNvSpPr txBox="1"/>
          <p:nvPr/>
        </p:nvSpPr>
        <p:spPr>
          <a:xfrm>
            <a:off x="6197600" y="5892800"/>
            <a:ext cx="5283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b="1" noProof="1">
                <a:solidFill>
                  <a:srgbClr val="000533"/>
                </a:solidFill>
                <a:latin typeface="MiSans"/>
                <a:ea typeface="MiSans"/>
              </a:rPr>
              <a:t>Применение:</a:t>
            </a:r>
            <a:r>
              <a:rPr lang="en-US" sz="1000" noProof="1">
                <a:solidFill>
                  <a:srgbClr val="000533"/>
                </a:solidFill>
                <a:latin typeface="MiSans"/>
                <a:ea typeface="MiSans"/>
              </a:rPr>
              <a:t> Cassandra/HBase — пропуск SSTable; PostgreSQL — расширение bloom; Chrome Safe Browsing — локальная проверка URL; Bitcoin SPV-клиенты.</a:t>
            </a:r>
            <a:endParaRPr lang="en-US" sz="1000" noProof="1"/>
          </a:p>
        </p:txBody>
      </p:sp>
      <p:sp>
        <p:nvSpPr>
          <p:cNvPr id="14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5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16 / 22</a:t>
            </a:r>
            <a:endParaRPr lang="en-US" sz="85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06 · SKIP-СПИСОК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Skip-список: логарифмический поиск без перебалансировки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Вероятностная многоуровневая структура: простота реализации и lock-free при средней сложности сбалансированного дерева</a:t>
            </a:r>
            <a:endParaRPr lang="en-US" sz="1100" noProof="1"/>
          </a:p>
        </p:txBody>
      </p:sp>
      <p:pic>
        <p:nvPicPr>
          <p:cNvPr id="5" name="img"/>
          <p:cNvPicPr/>
          <p:nvPr/>
        </p:nvPicPr>
        <p:blipFill>
          <a:blip r:embed="rId2"/>
          <a:srcRect l="-45201" r="-45201"/>
          <a:stretch>
            <a:fillRect/>
          </a:stretch>
        </p:blipFill>
        <p:spPr>
          <a:xfrm>
            <a:off x="508000" y="1473200"/>
            <a:ext cx="11176000" cy="2692400"/>
          </a:xfrm>
          <a:prstGeom prst="rect">
            <a:avLst/>
          </a:prstGeom>
          <a:ln>
            <a:noFill/>
          </a:ln>
        </p:spPr>
      </p:pic>
      <p:sp>
        <p:nvSpPr>
          <p:cNvPr id="6" name="img-cap"/>
          <p:cNvSpPr txBox="1"/>
          <p:nvPr/>
        </p:nvSpPr>
        <p:spPr>
          <a:xfrm>
            <a:off x="381000" y="42164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Уровни skip-списка: верхние «экспресс-полосы» позволяют перепрыгивать группы узлов. </a:t>
            </a:r>
            <a:endParaRPr lang="en-US" sz="850" noProof="1"/>
          </a:p>
        </p:txBody>
      </p:sp>
      <p:sp>
        <p:nvSpPr>
          <p:cNvPr id="7" name="h-how"/>
          <p:cNvSpPr txBox="1"/>
          <p:nvPr/>
        </p:nvSpPr>
        <p:spPr>
          <a:xfrm>
            <a:off x="508000" y="4495800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Как это работает</a:t>
            </a:r>
            <a:endParaRPr lang="en-US" sz="1250" noProof="1"/>
          </a:p>
        </p:txBody>
      </p:sp>
      <p:sp>
        <p:nvSpPr>
          <p:cNvPr id="8" name="how-body"/>
          <p:cNvSpPr txBox="1"/>
          <p:nvPr/>
        </p:nvSpPr>
        <p:spPr>
          <a:xfrm>
            <a:off x="508000" y="4749800"/>
            <a:ext cx="5461000" cy="172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— </a:t>
            </a:r>
            <a:r>
              <a:rPr lang="en-US" sz="950" b="1" noProof="1">
                <a:solidFill>
                  <a:srgbClr val="000533"/>
                </a:solidFill>
                <a:latin typeface="MiSans"/>
                <a:ea typeface="MiSans"/>
              </a:rPr>
              <a:t>Level 0</a:t>
            </a: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 — полный отсортированный список; каждый следующий уровень — случайное подмножество нижнего.</a:t>
            </a:r>
            <a:endParaRPr lang="en-US" sz="95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— Уровень узла решает «монетка»: с вероятностью 1/2 узел поднимается выше; в среднем ~2 указателя на элемент.</a:t>
            </a:r>
            <a:endParaRPr lang="en-US" sz="95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— </a:t>
            </a:r>
            <a:r>
              <a:rPr lang="en-US" sz="950" b="1" noProof="1">
                <a:solidFill>
                  <a:srgbClr val="000533"/>
                </a:solidFill>
                <a:latin typeface="MiSans"/>
                <a:ea typeface="MiSans"/>
              </a:rPr>
              <a:t>Поиск</a:t>
            </a: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: вперёд по верхнему уровню, затем спуск; вставка — снизу вверх, удаление часто ленивое.</a:t>
            </a:r>
            <a:endParaRPr lang="en-US" sz="95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950" b="1" noProof="1">
                <a:solidFill>
                  <a:srgbClr val="000533"/>
                </a:solidFill>
                <a:latin typeface="MiSans"/>
                <a:ea typeface="MiSans"/>
              </a:rPr>
              <a:t>Применение:</a:t>
            </a:r>
            <a:r>
              <a:rPr lang="en-US" sz="950" noProof="1">
                <a:solidFill>
                  <a:srgbClr val="000533"/>
                </a:solidFill>
                <a:latin typeface="MiSans"/>
                <a:ea typeface="MiSans"/>
              </a:rPr>
              <a:t> memtable в RocksDB, LevelDB, Cassandra; Redis Sorted Sets.</a:t>
            </a:r>
            <a:endParaRPr lang="en-US" sz="950" noProof="1"/>
          </a:p>
        </p:txBody>
      </p:sp>
      <p:graphicFrame>
        <p:nvGraphicFramePr>
          <p:cNvPr id="9" name="cx-table"/>
          <p:cNvGraphicFramePr>
            <a:graphicFrameLocks noGrp="1"/>
          </p:cNvGraphicFramePr>
          <p:nvPr/>
        </p:nvGraphicFramePr>
        <p:xfrm>
          <a:off x="6350000" y="4495800"/>
          <a:ext cx="5334000" cy="1775460"/>
        </p:xfrm>
        <a:graphic>
          <a:graphicData uri="http://schemas.openxmlformats.org/drawingml/2006/table">
            <a:tbl>
              <a:tblPr/>
              <a:tblGrid>
                <a:gridCol w="181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86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Операция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Средняя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Худшая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Поиск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Вставка / удаление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Память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O(n), ~2 указателя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O(n·Lmax)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1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17 / 22</a:t>
            </a:r>
            <a:endParaRPr lang="en-US" sz="85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06 · TRIE / RADIX TREE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Trie: сложность зависит от длины ключа, а не от числа элементов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Префиксное дерево хранит ключи посимвольно; путь от корня к листу — это сам ключ</a:t>
            </a:r>
            <a:endParaRPr lang="en-US" sz="1100" noProof="1"/>
          </a:p>
        </p:txBody>
      </p:sp>
      <p:sp>
        <p:nvSpPr>
          <p:cNvPr id="5" name="h-how"/>
          <p:cNvSpPr txBox="1"/>
          <p:nvPr/>
        </p:nvSpPr>
        <p:spPr>
          <a:xfrm>
            <a:off x="508000" y="15494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Устройство и версии</a:t>
            </a:r>
            <a:endParaRPr lang="en-US" sz="1250" noProof="1"/>
          </a:p>
        </p:txBody>
      </p:sp>
      <p:sp>
        <p:nvSpPr>
          <p:cNvPr id="6" name="how-body"/>
          <p:cNvSpPr txBox="1"/>
          <p:nvPr/>
        </p:nvSpPr>
        <p:spPr>
          <a:xfrm>
            <a:off x="508000" y="1828800"/>
            <a:ext cx="5334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Trie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: каждый узел соответствует символу (или биту) ключа; путь от корня к листу представляет полный ключ.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Radix tree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сжатая версия: узлы с одним потомком объединяются, высота уменьшается.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ART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адаптивно использует Node4 / Node16 / Node48 / Node256. Гарантированная верхняя граница — ≤ 52 байт на ключ; для плотных целочисленных ключей на практике ~8 байт.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Сложность поиска — </a:t>
            </a: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O(k)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, где k — длина ключа.</a:t>
            </a:r>
            <a:endParaRPr lang="en-US" sz="1100" noProof="1"/>
          </a:p>
        </p:txBody>
      </p:sp>
      <p:sp>
        <p:nvSpPr>
          <p:cNvPr id="7" name="use-panel"/>
          <p:cNvSpPr/>
          <p:nvPr/>
        </p:nvSpPr>
        <p:spPr>
          <a:xfrm>
            <a:off x="508000" y="4216400"/>
            <a:ext cx="5334000" cy="1651000"/>
          </a:xfrm>
          <a:prstGeom prst="roundRect">
            <a:avLst>
              <a:gd name="adj" fmla="val 8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8" name="use-text"/>
          <p:cNvSpPr txBox="1"/>
          <p:nvPr/>
        </p:nvSpPr>
        <p:spPr>
          <a:xfrm>
            <a:off x="711200" y="4343400"/>
            <a:ext cx="49276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b="1" noProof="1">
                <a:solidFill>
                  <a:srgbClr val="000533"/>
                </a:solidFill>
                <a:latin typeface="MiSans"/>
                <a:ea typeface="MiSans"/>
              </a:rPr>
              <a:t>Применение:</a:t>
            </a: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 Apache Cassandra 5.0 — TrieMemtable и trie-формат SSTable (BTI); DuckDB — ART для первичных и вторичных индексов; автодополнение в поиске и e-commerce; radix tree — longest prefix match в IP-маршрутизации.</a:t>
            </a:r>
            <a:endParaRPr lang="en-US" sz="1050" noProof="1"/>
          </a:p>
        </p:txBody>
      </p:sp>
      <p:sp>
        <p:nvSpPr>
          <p:cNvPr id="9" name="img-cap"/>
          <p:cNvSpPr txBox="1"/>
          <p:nvPr/>
        </p:nvSpPr>
        <p:spPr>
          <a:xfrm>
            <a:off x="6350000" y="5537200"/>
            <a:ext cx="533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Trie для ключей and, ant, dad, do: рёбра подписаны символами, путь от корня к листу — полный ключ</a:t>
            </a:r>
            <a:endParaRPr lang="en-US" sz="850" noProof="1"/>
          </a:p>
        </p:txBody>
      </p:sp>
      <p:sp>
        <p:nvSpPr>
          <p:cNvPr id="10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1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18 / 22</a:t>
            </a:r>
            <a:endParaRPr lang="en-US" sz="850" noProof="1"/>
          </a:p>
        </p:txBody>
      </p:sp>
      <p:pic>
        <p:nvPicPr>
          <p:cNvPr id="12" name="Рисунок 14"/>
          <p:cNvPicPr/>
          <p:nvPr/>
        </p:nvPicPr>
        <p:blipFill>
          <a:blip r:embed="rId2"/>
          <a:stretch>
            <a:fillRect/>
          </a:stretch>
        </p:blipFill>
        <p:spPr>
          <a:xfrm>
            <a:off x="6670040" y="1219200"/>
            <a:ext cx="4693920" cy="4260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06 · ИНВЕРТИРОВАННЫЙ ИНДЕКС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Инвертированный индекс отвечает: «в каких документах термин?»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Основа полнотекстового поиска: ускорение на порядки величины против полного сканирования документов</a:t>
            </a:r>
            <a:endParaRPr lang="en-US" sz="1100" noProof="1"/>
          </a:p>
        </p:txBody>
      </p:sp>
      <p:sp>
        <p:nvSpPr>
          <p:cNvPr id="5" name="h-parts"/>
          <p:cNvSpPr txBox="1"/>
          <p:nvPr/>
        </p:nvSpPr>
        <p:spPr>
          <a:xfrm>
            <a:off x="508000" y="1549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Две части структуры</a:t>
            </a:r>
            <a:endParaRPr lang="en-US" sz="1250" noProof="1"/>
          </a:p>
        </p:txBody>
      </p:sp>
      <p:sp>
        <p:nvSpPr>
          <p:cNvPr id="6" name="parts-body"/>
          <p:cNvSpPr txBox="1"/>
          <p:nvPr/>
        </p:nvSpPr>
        <p:spPr>
          <a:xfrm>
            <a:off x="508000" y="1828800"/>
            <a:ext cx="5080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1. Словарь (dictionary)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все уникальные термины; хранится в B-дереве или хеш-таблице.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7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2. Постинг-листы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— для каждого термина список ID документов, где он встречается, часто с частотой и позициями.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7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Поиск: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термин → словарь → постинг-лист; для составных запросов — пересечение или объединение списков.</a:t>
            </a:r>
            <a:endParaRPr lang="en-US" sz="1100" noProof="1"/>
          </a:p>
        </p:txBody>
      </p:sp>
      <p:graphicFrame>
        <p:nvGraphicFramePr>
          <p:cNvPr id="7" name="cx-table"/>
          <p:cNvGraphicFramePr>
            <a:graphicFrameLocks noGrp="1"/>
          </p:cNvGraphicFramePr>
          <p:nvPr/>
        </p:nvGraphicFramePr>
        <p:xfrm>
          <a:off x="508000" y="3403600"/>
          <a:ext cx="5080000" cy="1371600"/>
        </p:xfrm>
        <a:graphic>
          <a:graphicData uri="http://schemas.openxmlformats.org/drawingml/2006/table">
            <a:tbl>
              <a:tblPr/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Операция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Сложность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Термин в словаре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O(1) хеш / O(log T) B-tree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Извлечение постинг-листа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O(L) постингов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Пересечение списков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O(L₁ + L₂)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gin-panel"/>
          <p:cNvSpPr/>
          <p:nvPr/>
        </p:nvSpPr>
        <p:spPr>
          <a:xfrm>
            <a:off x="508000" y="4978400"/>
            <a:ext cx="5080000" cy="1346200"/>
          </a:xfrm>
          <a:prstGeom prst="roundRect">
            <a:avLst>
              <a:gd name="adj" fmla="val 8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9" name="gin-text"/>
          <p:cNvSpPr txBox="1"/>
          <p:nvPr/>
        </p:nvSpPr>
        <p:spPr>
          <a:xfrm>
            <a:off x="711200" y="5105400"/>
            <a:ext cx="46736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00" b="1" noProof="1">
                <a:solidFill>
                  <a:srgbClr val="000533"/>
                </a:solidFill>
                <a:latin typeface="MiSans"/>
                <a:ea typeface="MiSans"/>
              </a:rPr>
              <a:t>В PostgreSQL — GIN</a:t>
            </a:r>
            <a:r>
              <a:rPr lang="en-US" sz="1000" noProof="1">
                <a:solidFill>
                  <a:srgbClr val="000533"/>
                </a:solidFill>
                <a:latin typeface="MiSans"/>
                <a:ea typeface="MiSans"/>
              </a:rPr>
              <a:t> (Generalized Inverted Index) для tsvector/tsquery. Недостаток — медленное обновление; с версии 8.4 — отложенное обновление через очередь ожидающих записей. Расширение </a:t>
            </a:r>
            <a:r>
              <a:rPr lang="en-US" sz="1000" b="1" noProof="1">
                <a:solidFill>
                  <a:srgbClr val="000533"/>
                </a:solidFill>
                <a:latin typeface="MiSans"/>
                <a:ea typeface="MiSans"/>
              </a:rPr>
              <a:t>RUM</a:t>
            </a:r>
            <a:r>
              <a:rPr lang="en-US" sz="1000" noProof="1">
                <a:solidFill>
                  <a:srgbClr val="000533"/>
                </a:solidFill>
                <a:latin typeface="MiSans"/>
                <a:ea typeface="MiSans"/>
              </a:rPr>
              <a:t> хранит позиции для ранжирования. Elasticsearch/Lucene построены на инвертированных индексах.</a:t>
            </a:r>
            <a:endParaRPr lang="en-US" sz="1000" noProof="1"/>
          </a:p>
        </p:txBody>
      </p:sp>
      <p:pic>
        <p:nvPicPr>
          <p:cNvPr id="10" name="img"/>
          <p:cNvPicPr/>
          <p:nvPr/>
        </p:nvPicPr>
        <p:blipFill>
          <a:blip r:embed="rId2"/>
          <a:stretch>
            <a:fillRect/>
          </a:stretch>
        </p:blipFill>
        <p:spPr>
          <a:xfrm>
            <a:off x="5994400" y="1549400"/>
            <a:ext cx="5689600" cy="3200400"/>
          </a:xfrm>
          <a:prstGeom prst="rect">
            <a:avLst/>
          </a:prstGeom>
          <a:ln>
            <a:noFill/>
          </a:ln>
        </p:spPr>
      </p:pic>
      <p:sp>
        <p:nvSpPr>
          <p:cNvPr id="11" name="img-cap"/>
          <p:cNvSpPr txBox="1"/>
          <p:nvPr/>
        </p:nvSpPr>
        <p:spPr>
          <a:xfrm>
            <a:off x="5994400" y="4800600"/>
            <a:ext cx="5689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Прямой индекс (документ → термины) и инвертированный (термин → документы). Изображение: </a:t>
            </a:r>
            <a:r>
              <a:rPr lang="en-US" sz="850" u="sng" noProof="1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medium.com</a:t>
            </a:r>
            <a:endParaRPr lang="en-US" sz="850" noProof="1"/>
          </a:p>
        </p:txBody>
      </p:sp>
      <p:sp>
        <p:nvSpPr>
          <p:cNvPr id="12" name="h-compare"/>
          <p:cNvSpPr txBox="1"/>
          <p:nvPr/>
        </p:nvSpPr>
        <p:spPr>
          <a:xfrm>
            <a:off x="5994400" y="5257800"/>
            <a:ext cx="5689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Сравнение с B+-деревом</a:t>
            </a:r>
            <a:endParaRPr lang="en-US" sz="1250" noProof="1"/>
          </a:p>
        </p:txBody>
      </p:sp>
      <p:sp>
        <p:nvSpPr>
          <p:cNvPr id="13" name="compare-body"/>
          <p:cNvSpPr txBox="1"/>
          <p:nvPr/>
        </p:nvSpPr>
        <p:spPr>
          <a:xfrm>
            <a:off x="5994400" y="5511800"/>
            <a:ext cx="568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B+-дерево отвечает «где находится ключ?»; инвертированный индекс — «в каких документах встречается термин?». Полное сканирование — O(D·M), где D — число документов, M — средняя длина; индекс читает только релевантные постинг-листы.</a:t>
            </a:r>
            <a:endParaRPr lang="en-US" sz="1100" noProof="1"/>
          </a:p>
        </p:txBody>
      </p:sp>
      <p:sp>
        <p:nvSpPr>
          <p:cNvPr id="14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5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19 / 22</a:t>
            </a:r>
            <a:endParaRPr lang="en-US" sz="85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06 · ВЕКТОРНЫЕ ИНДЕКСЫ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Векторные индексы: приближённый поиск ближайших соседей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Поиск по семантической близости эмбеддингов; ANN-алгоритмы жертвуют точностью ради скорости</a:t>
            </a:r>
            <a:endParaRPr lang="en-US" sz="1100" noProof="1"/>
          </a:p>
        </p:txBody>
      </p:sp>
      <p:graphicFrame>
        <p:nvGraphicFramePr>
          <p:cNvPr id="5" name="cmp-table"/>
          <p:cNvGraphicFramePr>
            <a:graphicFrameLocks noGrp="1"/>
          </p:cNvGraphicFramePr>
          <p:nvPr/>
        </p:nvGraphicFramePr>
        <p:xfrm>
          <a:off x="508000" y="1549400"/>
          <a:ext cx="5588000" cy="3083560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027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Признак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IVFFlat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HNSW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1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Идея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Данные разбиты на кластеры (списки); проверяются только ближайшие — параметр probes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Многослойный граф: каждый слой — «маленький мир»; поиск спускается сверху вниз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0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Построение (среднее)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O(n·d·clusters) — быстрое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O(n·log n·d) — дольше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0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Поиск (средний)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O(probes·n/clusters·d)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O(log n·d)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0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Данные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Должны быть загружены до создания индекса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Можно строить инкрементально, даже на пустой таблице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0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Точность / память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Ниже recall; память O(n·d)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Выше recall; память O(n·(M+d))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use-panel"/>
          <p:cNvSpPr/>
          <p:nvPr/>
        </p:nvSpPr>
        <p:spPr>
          <a:xfrm>
            <a:off x="508000" y="4800600"/>
            <a:ext cx="5588000" cy="1524000"/>
          </a:xfrm>
          <a:prstGeom prst="roundRect">
            <a:avLst>
              <a:gd name="adj" fmla="val 8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7" name="use-text"/>
          <p:cNvSpPr txBox="1"/>
          <p:nvPr/>
        </p:nvSpPr>
        <p:spPr>
          <a:xfrm>
            <a:off x="711200" y="4927600"/>
            <a:ext cx="5181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b="1" noProof="1">
                <a:solidFill>
                  <a:srgbClr val="000533"/>
                </a:solidFill>
                <a:latin typeface="MiSans"/>
                <a:ea typeface="MiSans"/>
              </a:rPr>
              <a:t>pgvector</a:t>
            </a: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 (PostgreSQL) поддерживает IVFFlat и HNSW; HNSW рекомендуется для большинства production-нагрузок. Сценарии: RAG для LLM, «похожие товары» в e-commerce, семантический поиск изображений и видео. Специализированные векторные БД: Weaviate, Milvus, Pinecone.</a:t>
            </a:r>
            <a:endParaRPr lang="en-US" sz="1050" noProof="1"/>
          </a:p>
        </p:txBody>
      </p:sp>
      <p:pic>
        <p:nvPicPr>
          <p:cNvPr id="8" name="img1"/>
          <p:cNvPicPr/>
          <p:nvPr/>
        </p:nvPicPr>
        <p:blipFill>
          <a:blip r:embed="rId2"/>
          <a:srcRect t="-560" b="-560"/>
          <a:stretch>
            <a:fillRect/>
          </a:stretch>
        </p:blipFill>
        <p:spPr>
          <a:xfrm>
            <a:off x="6502400" y="1549400"/>
            <a:ext cx="5181600" cy="2133600"/>
          </a:xfrm>
          <a:prstGeom prst="rect">
            <a:avLst/>
          </a:prstGeom>
          <a:ln>
            <a:noFill/>
          </a:ln>
        </p:spPr>
      </p:pic>
      <p:sp>
        <p:nvSpPr>
          <p:cNvPr id="9" name="img1-cap"/>
          <p:cNvSpPr txBox="1"/>
          <p:nvPr/>
        </p:nvSpPr>
        <p:spPr>
          <a:xfrm>
            <a:off x="6502400" y="3708400"/>
            <a:ext cx="5181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IVFFlat: ячейки Вороного; проверяются ближайшие кластеры. Изображение: </a:t>
            </a:r>
            <a:r>
              <a:rPr lang="en-US" sz="850" u="sng" noProof="1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NVIDIA Technical Blog</a:t>
            </a:r>
            <a:endParaRPr lang="en-US" sz="850" noProof="1"/>
          </a:p>
        </p:txBody>
      </p:sp>
      <p:pic>
        <p:nvPicPr>
          <p:cNvPr id="10" name="img2"/>
          <p:cNvPicPr/>
          <p:nvPr/>
        </p:nvPicPr>
        <p:blipFill>
          <a:blip r:embed="rId4"/>
          <a:srcRect l="-97153" r="-97153"/>
          <a:stretch>
            <a:fillRect/>
          </a:stretch>
        </p:blipFill>
        <p:spPr>
          <a:xfrm>
            <a:off x="6502400" y="4013200"/>
            <a:ext cx="5181600" cy="1905000"/>
          </a:xfrm>
          <a:prstGeom prst="rect">
            <a:avLst/>
          </a:prstGeom>
          <a:ln>
            <a:noFill/>
          </a:ln>
        </p:spPr>
      </p:pic>
      <p:sp>
        <p:nvSpPr>
          <p:cNvPr id="11" name="img2-cap"/>
          <p:cNvSpPr txBox="1"/>
          <p:nvPr/>
        </p:nvSpPr>
        <p:spPr>
          <a:xfrm>
            <a:off x="6502400" y="5969000"/>
            <a:ext cx="5181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HNSW: слои графа с убывающим радиусом связей</a:t>
            </a:r>
            <a:endParaRPr lang="en-US" sz="850" noProof="1"/>
          </a:p>
        </p:txBody>
      </p:sp>
      <p:sp>
        <p:nvSpPr>
          <p:cNvPr id="12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3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20 / 22</a:t>
            </a:r>
            <a:endParaRPr lang="en-US" sz="85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06 · СВОДНАЯ ТАБЛИЦА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Семь структур — семь классов задач</a:t>
            </a:r>
            <a:endParaRPr lang="en-US" sz="2600" noProof="1"/>
          </a:p>
        </p:txBody>
      </p:sp>
      <p:sp>
        <p:nvSpPr>
          <p:cNvPr id="4" name="subtitle"/>
          <p:cNvSpPr txBox="1"/>
          <p:nvPr/>
        </p:nvSpPr>
        <p:spPr>
          <a:xfrm>
            <a:off x="508000" y="114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5F7A"/>
                </a:solidFill>
                <a:latin typeface="MiSans"/>
                <a:ea typeface="MiSans"/>
              </a:rPr>
              <a:t>Выбор структуры — проектное решение, определяющее производительность системы под конкретную нагрузку</a:t>
            </a:r>
            <a:endParaRPr lang="en-US" sz="1100" noProof="1"/>
          </a:p>
        </p:txBody>
      </p:sp>
      <p:graphicFrame>
        <p:nvGraphicFramePr>
          <p:cNvPr id="5" name="sum-table"/>
          <p:cNvGraphicFramePr>
            <a:graphicFrameLocks noGrp="1"/>
          </p:cNvGraphicFramePr>
          <p:nvPr/>
        </p:nvGraphicFramePr>
        <p:xfrm>
          <a:off x="508000" y="1549400"/>
          <a:ext cx="11176000" cy="408940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04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Структура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Тип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Основное применение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Поиск (лучший / средний / худший)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50" b="1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Память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053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B+-дерево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Точный индекс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Универсальный дисковый индекс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O(log_m N) во всех случаях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00533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Bloom filter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Вероятностный фильтр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Проверка отсутствия ключа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O(1) / O(k) / O(k)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O(m) бит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Skip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Вероятностный список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In-memory индекс (memtable)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O(1) / O(log n) / 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средняя 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Trie / Radix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Точный префиксный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Строковые ключи, автодополнение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O(k) во всех случаях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O(Σ|keyᵢ|); ART ≤ 52 Б/ключ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Inverted 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Инвертированный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Полнотекстовый поиск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O(log T) словарь + O(L) постинги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O(P) постингов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IVFFlat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Приближённый ANN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Векторный поиск — быстрое построение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— / O(probes·n/clusters·d) / O(n·d)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O(n·d)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HNSW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Приближённый ANN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Векторный поиск — высокая точность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O(d) / O(log n·d) / O(n·d)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880" noProof="1">
                          <a:solidFill>
                            <a:srgbClr val="000533"/>
                          </a:solidFill>
                          <a:latin typeface="Times New Roman"/>
                          <a:ea typeface="Times New Roman"/>
                        </a:rPr>
                        <a:t>O(n·(M+d))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C9CCDF"/>
                      </a:solidFill>
                    </a:lnT>
                    <a:lnB w="9525">
                      <a:solidFill>
                        <a:srgbClr val="C9CC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concl-panel"/>
          <p:cNvSpPr/>
          <p:nvPr/>
        </p:nvSpPr>
        <p:spPr>
          <a:xfrm>
            <a:off x="508000" y="5816600"/>
            <a:ext cx="11176000" cy="558800"/>
          </a:xfrm>
          <a:prstGeom prst="roundRect">
            <a:avLst>
              <a:gd name="adj" fmla="val 10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7" name="concl-text"/>
          <p:cNvSpPr txBox="1"/>
          <p:nvPr/>
        </p:nvSpPr>
        <p:spPr>
          <a:xfrm>
            <a:off x="736600" y="5892800"/>
            <a:ext cx="10718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000533"/>
                </a:solidFill>
                <a:latin typeface="MiSans"/>
                <a:ea typeface="MiSans"/>
              </a:rPr>
              <a:t>Каждая структура дополняет B+-дерево там, где оно неэффективно: вероятностная фильтрация, in-memory обработка, строковые ключи, полнотекстовый и семантический поиск. Их комбинация закрывает спектр от OLTP до аналитики и поиска по естественному языку.</a:t>
            </a:r>
            <a:endParaRPr lang="en-US" sz="1050" noProof="1"/>
          </a:p>
        </p:txBody>
      </p:sp>
      <p:sp>
        <p:nvSpPr>
          <p:cNvPr id="8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9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21 / 22</a:t>
            </a:r>
            <a:endParaRPr lang="en-US" sz="85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08000" y="3302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200" noProof="1">
                <a:solidFill>
                  <a:srgbClr val="000533"/>
                </a:solidFill>
                <a:latin typeface="MiSans"/>
                <a:ea typeface="MiSans"/>
              </a:rPr>
              <a:t>07 · ИТОГИ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508000" y="5842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50" noProof="1">
                <a:solidFill>
                  <a:srgbClr val="000533"/>
                </a:solidFill>
                <a:latin typeface="Oswald"/>
                <a:ea typeface="Oswald"/>
              </a:rPr>
              <a:t>B+-дерево остаётся главным индексом СУБД</a:t>
            </a:r>
            <a:endParaRPr lang="en-US" sz="2600" noProof="1"/>
          </a:p>
        </p:txBody>
      </p:sp>
      <p:sp>
        <p:nvSpPr>
          <p:cNvPr id="4" name="takeaways"/>
          <p:cNvSpPr txBox="1"/>
          <p:nvPr/>
        </p:nvSpPr>
        <p:spPr>
          <a:xfrm>
            <a:off x="508000" y="1574800"/>
            <a:ext cx="6858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1.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B+-дерево — основной индекс благодаря сбалансированности, высокому fanout и поддержке диапазонных запросов.</a:t>
            </a:r>
            <a:endParaRPr lang="en-US" sz="110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2.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Составные индексы и префиксный поиск дают гибкость, недоступную хеш-индексам; порядок столбцов критичен.</a:t>
            </a:r>
            <a:endParaRPr lang="en-US" sz="110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3.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Дубликаты разрешаются добавлением TID к ключу; NULL управляется NULLS FIRST / NULLS LAST.</a:t>
            </a:r>
            <a:endParaRPr lang="en-US" sz="110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4.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Логический порядок задаёт массив ItemId; пара high key + rightlink из Lehman–Yao обеспечивает конкурентное сканирование.</a:t>
            </a:r>
            <a:endParaRPr lang="en-US" sz="110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5.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PostgreSQL nbtree не сливает полупустые страницы; полностью пустые удаляет VACUUM (автоматически с PG 14).</a:t>
            </a:r>
            <a:endParaRPr lang="en-US" sz="110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100" b="1" noProof="1">
                <a:solidFill>
                  <a:srgbClr val="000533"/>
                </a:solidFill>
                <a:latin typeface="MiSans"/>
                <a:ea typeface="MiSans"/>
              </a:rPr>
              <a:t>6.</a:t>
            </a:r>
            <a:r>
              <a:rPr lang="en-US" sz="1100" noProof="1">
                <a:solidFill>
                  <a:srgbClr val="000533"/>
                </a:solidFill>
                <a:latin typeface="MiSans"/>
                <a:ea typeface="MiSans"/>
              </a:rPr>
              <a:t> Фильтры Блума, skip-списки, trie, инвертированные и векторные индексы дополняют B+-дерево в специализированных задачах.</a:t>
            </a:r>
            <a:endParaRPr lang="en-US" sz="1100" noProof="1"/>
          </a:p>
        </p:txBody>
      </p:sp>
      <p:sp>
        <p:nvSpPr>
          <p:cNvPr id="5" name="quote-panel"/>
          <p:cNvSpPr/>
          <p:nvPr/>
        </p:nvSpPr>
        <p:spPr>
          <a:xfrm>
            <a:off x="7874000" y="1574800"/>
            <a:ext cx="3810000" cy="1651000"/>
          </a:xfrm>
          <a:prstGeom prst="roundRect">
            <a:avLst>
              <a:gd name="adj" fmla="val 8000"/>
            </a:avLst>
          </a:prstGeom>
          <a:solidFill>
            <a:srgbClr val="DAD7FF"/>
          </a:solidFill>
          <a:ln>
            <a:noFill/>
          </a:ln>
        </p:spPr>
      </p:sp>
      <p:sp>
        <p:nvSpPr>
          <p:cNvPr id="6" name="quote-text"/>
          <p:cNvSpPr txBox="1"/>
          <p:nvPr/>
        </p:nvSpPr>
        <p:spPr>
          <a:xfrm>
            <a:off x="8102600" y="1727200"/>
            <a:ext cx="3352800" cy="1346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i="1" noProof="1">
                <a:solidFill>
                  <a:srgbClr val="000533"/>
                </a:solidFill>
                <a:latin typeface="MiSans"/>
                <a:ea typeface="MiSans"/>
              </a:rPr>
              <a:t>«Самая важная структура данных в мире баз данных»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000000"/>
                </a:solidFill>
                <a:latin typeface="MiSans"/>
                <a:ea typeface="MiSans"/>
              </a:rPr>
              <a:t>— Andy Pavlo о B+-дереве</a:t>
            </a:r>
            <a:endParaRPr lang="en-US" sz="1600" noProof="1"/>
          </a:p>
        </p:txBody>
      </p:sp>
      <p:sp>
        <p:nvSpPr>
          <p:cNvPr id="7" name="h-lit"/>
          <p:cNvSpPr txBox="1"/>
          <p:nvPr/>
        </p:nvSpPr>
        <p:spPr>
          <a:xfrm>
            <a:off x="7874000" y="3454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0533"/>
                </a:solidFill>
                <a:latin typeface="MiSans"/>
                <a:ea typeface="MiSans"/>
              </a:rPr>
              <a:t>Дополнительная литература</a:t>
            </a:r>
            <a:endParaRPr lang="en-US" sz="1250" noProof="1"/>
          </a:p>
        </p:txBody>
      </p:sp>
      <p:sp>
        <p:nvSpPr>
          <p:cNvPr id="8" name="lit-body"/>
          <p:cNvSpPr txBox="1"/>
          <p:nvPr/>
        </p:nvSpPr>
        <p:spPr>
          <a:xfrm>
            <a:off x="7874000" y="37084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— PostgreSQL Documentation, гл. 11 и 61</a:t>
            </a:r>
            <a:endParaRPr lang="en-US" sz="950" noProof="1"/>
          </a:p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— src/backend/access/nbtree/README</a:t>
            </a:r>
            <a:endParaRPr lang="en-US" sz="950" noProof="1"/>
          </a:p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— Bayer &amp; McCreight (1972); Comer (1979)</a:t>
            </a:r>
            <a:endParaRPr lang="en-US" sz="950" noProof="1"/>
          </a:p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— Lehman &amp; Yao (1981); Leis, Kemper, Neumann (2013)</a:t>
            </a:r>
            <a:endParaRPr lang="en-US" sz="950" noProof="1"/>
          </a:p>
          <a:p>
            <a:pPr>
              <a:lnSpc>
                <a:spcPct val="140000"/>
              </a:lnSpc>
            </a:pPr>
            <a:r>
              <a:rPr lang="en-US" sz="950" noProof="1">
                <a:solidFill>
                  <a:srgbClr val="5B5F7A"/>
                </a:solidFill>
                <a:latin typeface="MiSans"/>
                <a:ea typeface="MiSans"/>
              </a:rPr>
              <a:t>— CMU 15-445/645 и Stanford CS245/CS346</a:t>
            </a:r>
            <a:endParaRPr lang="en-US" sz="950" noProof="1"/>
          </a:p>
        </p:txBody>
      </p:sp>
      <p:sp>
        <p:nvSpPr>
          <p:cNvPr id="9" name="next-panel"/>
          <p:cNvSpPr/>
          <p:nvPr/>
        </p:nvSpPr>
        <p:spPr>
          <a:xfrm>
            <a:off x="508000" y="5740400"/>
            <a:ext cx="11176000" cy="609600"/>
          </a:xfrm>
          <a:prstGeom prst="roundRect">
            <a:avLst>
              <a:gd name="adj" fmla="val 10000"/>
            </a:avLst>
          </a:prstGeom>
          <a:solidFill>
            <a:srgbClr val="A5FFD2"/>
          </a:solidFill>
          <a:ln>
            <a:noFill/>
          </a:ln>
        </p:spPr>
      </p:sp>
      <p:sp>
        <p:nvSpPr>
          <p:cNvPr id="10" name="next-text"/>
          <p:cNvSpPr/>
          <p:nvPr/>
        </p:nvSpPr>
        <p:spPr>
          <a:xfrm>
            <a:off x="736600" y="5842000"/>
            <a:ext cx="10718800" cy="4064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foot-line"/>
          <p:cNvSpPr/>
          <p:nvPr/>
        </p:nvSpPr>
        <p:spPr>
          <a:xfrm>
            <a:off x="508000" y="6527800"/>
            <a:ext cx="11176000" cy="12700"/>
          </a:xfrm>
          <a:prstGeom prst="rect">
            <a:avLst/>
          </a:prstGeom>
          <a:solidFill>
            <a:srgbClr val="EEF0F7"/>
          </a:solidFill>
          <a:ln>
            <a:noFill/>
          </a:ln>
        </p:spPr>
      </p:sp>
      <p:sp>
        <p:nvSpPr>
          <p:cNvPr id="12" name="foot"/>
          <p:cNvSpPr txBox="1"/>
          <p:nvPr/>
        </p:nvSpPr>
        <p:spPr>
          <a:xfrm>
            <a:off x="3048000" y="6604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ЛЕКЦИЯ #05 · B+-ДЕРЕВЬЯ И ИНДЕКСЫ В БАЗАХ ДАННЫХ</a:t>
            </a:r>
            <a:endParaRPr lang="en-US" sz="850" noProof="1"/>
          </a:p>
        </p:txBody>
      </p:sp>
      <p:sp>
        <p:nvSpPr>
          <p:cNvPr id="13" name="page-num"/>
          <p:cNvSpPr txBox="1"/>
          <p:nvPr/>
        </p:nvSpPr>
        <p:spPr>
          <a:xfrm>
            <a:off x="10922000" y="66040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5B5F7A"/>
                </a:solidFill>
                <a:latin typeface="MiSans"/>
                <a:ea typeface="MiSans"/>
              </a:rPr>
              <a:t>22 / 22</a:t>
            </a:r>
            <a:endParaRPr lang="en-US" sz="8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4650</Words>
  <Application>Microsoft Office PowerPoint</Application>
  <PresentationFormat>Широкоэкранный</PresentationFormat>
  <Paragraphs>497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Times New Roman</vt:lpstr>
      <vt:lpstr>Oswald</vt:lpstr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#05: B+-деревья и индексы в базах данных</dc:title>
  <cp:lastModifiedBy>User</cp:lastModifiedBy>
  <cp:revision>1</cp:revision>
  <dcterms:modified xsi:type="dcterms:W3CDTF">2026-10-19T05:39:49Z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